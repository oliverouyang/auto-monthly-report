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.xml" ContentType="application/vnd.openxmlformats-officedocument.drawingml.chart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ppt/charts/chart36.xml" ContentType="application/vnd.openxmlformats-officedocument.drawingml.chart+xml"/>
  <Override PartName="/ppt/charts/chart37.xml" ContentType="application/vnd.openxmlformats-officedocument.drawingml.chart+xml"/>
  <Override PartName="/ppt/charts/chart38.xml" ContentType="application/vnd.openxmlformats-officedocument.drawingml.chart+xml"/>
  <Override PartName="/ppt/charts/chart39.xml" ContentType="application/vnd.openxmlformats-officedocument.drawingml.chart+xml"/>
  <Override PartName="/ppt/charts/chart4.xml" ContentType="application/vnd.openxmlformats-officedocument.drawingml.chart+xml"/>
  <Override PartName="/ppt/charts/chart40.xml" ContentType="application/vnd.openxmlformats-officedocument.drawingml.chart+xml"/>
  <Override PartName="/ppt/charts/chart41.xml" ContentType="application/vnd.openxmlformats-officedocument.drawingml.chart+xml"/>
  <Override PartName="/ppt/charts/chart42.xml" ContentType="application/vnd.openxmlformats-officedocument.drawingml.chart+xml"/>
  <Override PartName="/ppt/charts/chart43.xml" ContentType="application/vnd.openxmlformats-officedocument.drawingml.chart+xml"/>
  <Override PartName="/ppt/charts/chart44.xml" ContentType="application/vnd.openxmlformats-officedocument.drawingml.chart+xml"/>
  <Override PartName="/ppt/charts/chart45.xml" ContentType="application/vnd.openxmlformats-officedocument.drawingml.chart+xml"/>
  <Override PartName="/ppt/charts/chart46.xml" ContentType="application/vnd.openxmlformats-officedocument.drawingml.chart+xml"/>
  <Override PartName="/ppt/charts/chart47.xml" ContentType="application/vnd.openxmlformats-officedocument.drawingml.chart+xml"/>
  <Override PartName="/ppt/charts/chart48.xml" ContentType="application/vnd.openxmlformats-officedocument.drawingml.chart+xml"/>
  <Override PartName="/ppt/charts/chart49.xml" ContentType="application/vnd.openxmlformats-officedocument.drawingml.chart+xml"/>
  <Override PartName="/ppt/charts/chart5.xml" ContentType="application/vnd.openxmlformats-officedocument.drawingml.chart+xml"/>
  <Override PartName="/ppt/charts/chart50.xml" ContentType="application/vnd.openxmlformats-officedocument.drawingml.chart+xml"/>
  <Override PartName="/ppt/charts/chart51.xml" ContentType="application/vnd.openxmlformats-officedocument.drawingml.chart+xml"/>
  <Override PartName="/ppt/charts/chart52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colors10.xml" ContentType="application/vnd.ms-office.chartcolorstyle+xml"/>
  <Override PartName="/ppt/charts/colors11.xml" ContentType="application/vnd.ms-office.chartcolorstyle+xml"/>
  <Override PartName="/ppt/charts/colors12.xml" ContentType="application/vnd.ms-office.chartcolorstyle+xml"/>
  <Override PartName="/ppt/charts/colors13.xml" ContentType="application/vnd.ms-office.chartcolorstyle+xml"/>
  <Override PartName="/ppt/charts/colors14.xml" ContentType="application/vnd.ms-office.chartcolorstyle+xml"/>
  <Override PartName="/ppt/charts/colors15.xml" ContentType="application/vnd.ms-office.chartcolorstyle+xml"/>
  <Override PartName="/ppt/charts/colors16.xml" ContentType="application/vnd.ms-office.chartcolorstyle+xml"/>
  <Override PartName="/ppt/charts/colors17.xml" ContentType="application/vnd.ms-office.chartcolorstyle+xml"/>
  <Override PartName="/ppt/charts/colors18.xml" ContentType="application/vnd.ms-office.chartcolorstyle+xml"/>
  <Override PartName="/ppt/charts/colors19.xml" ContentType="application/vnd.ms-office.chartcolorstyle+xml"/>
  <Override PartName="/ppt/charts/colors2.xml" ContentType="application/vnd.ms-office.chartcolorstyle+xml"/>
  <Override PartName="/ppt/charts/colors20.xml" ContentType="application/vnd.ms-office.chartcolorstyle+xml"/>
  <Override PartName="/ppt/charts/colors21.xml" ContentType="application/vnd.ms-office.chartcolorstyle+xml"/>
  <Override PartName="/ppt/charts/colors22.xml" ContentType="application/vnd.ms-office.chartcolorstyle+xml"/>
  <Override PartName="/ppt/charts/colors23.xml" ContentType="application/vnd.ms-office.chartcolorstyle+xml"/>
  <Override PartName="/ppt/charts/colors24.xml" ContentType="application/vnd.ms-office.chartcolorstyle+xml"/>
  <Override PartName="/ppt/charts/colors25.xml" ContentType="application/vnd.ms-office.chartcolorstyle+xml"/>
  <Override PartName="/ppt/charts/colors26.xml" ContentType="application/vnd.ms-office.chartcolorstyle+xml"/>
  <Override PartName="/ppt/charts/colors27.xml" ContentType="application/vnd.ms-office.chartcolorstyle+xml"/>
  <Override PartName="/ppt/charts/colors28.xml" ContentType="application/vnd.ms-office.chartcolorstyle+xml"/>
  <Override PartName="/ppt/charts/colors29.xml" ContentType="application/vnd.ms-office.chartcolorstyle+xml"/>
  <Override PartName="/ppt/charts/colors3.xml" ContentType="application/vnd.ms-office.chartcolorstyle+xml"/>
  <Override PartName="/ppt/charts/colors30.xml" ContentType="application/vnd.ms-office.chartcolorstyle+xml"/>
  <Override PartName="/ppt/charts/colors31.xml" ContentType="application/vnd.ms-office.chartcolorstyle+xml"/>
  <Override PartName="/ppt/charts/colors32.xml" ContentType="application/vnd.ms-office.chartcolorstyle+xml"/>
  <Override PartName="/ppt/charts/colors33.xml" ContentType="application/vnd.ms-office.chartcolorstyle+xml"/>
  <Override PartName="/ppt/charts/colors34.xml" ContentType="application/vnd.ms-office.chartcolorstyle+xml"/>
  <Override PartName="/ppt/charts/colors35.xml" ContentType="application/vnd.ms-office.chartcolorstyle+xml"/>
  <Override PartName="/ppt/charts/colors36.xml" ContentType="application/vnd.ms-office.chartcolorstyle+xml"/>
  <Override PartName="/ppt/charts/colors37.xml" ContentType="application/vnd.ms-office.chartcolorstyle+xml"/>
  <Override PartName="/ppt/charts/colors38.xml" ContentType="application/vnd.ms-office.chartcolorstyle+xml"/>
  <Override PartName="/ppt/charts/colors39.xml" ContentType="application/vnd.ms-office.chartcolorstyle+xml"/>
  <Override PartName="/ppt/charts/colors4.xml" ContentType="application/vnd.ms-office.chartcolorstyle+xml"/>
  <Override PartName="/ppt/charts/colors40.xml" ContentType="application/vnd.ms-office.chartcolorstyle+xml"/>
  <Override PartName="/ppt/charts/colors41.xml" ContentType="application/vnd.ms-office.chartcolorstyle+xml"/>
  <Override PartName="/ppt/charts/colors42.xml" ContentType="application/vnd.ms-office.chartcolorstyle+xml"/>
  <Override PartName="/ppt/charts/colors43.xml" ContentType="application/vnd.ms-office.chartcolorstyle+xml"/>
  <Override PartName="/ppt/charts/colors44.xml" ContentType="application/vnd.ms-office.chartcolorstyle+xml"/>
  <Override PartName="/ppt/charts/colors45.xml" ContentType="application/vnd.ms-office.chartcolorstyle+xml"/>
  <Override PartName="/ppt/charts/colors46.xml" ContentType="application/vnd.ms-office.chartcolorstyle+xml"/>
  <Override PartName="/ppt/charts/colors47.xml" ContentType="application/vnd.ms-office.chartcolorstyle+xml"/>
  <Override PartName="/ppt/charts/colors48.xml" ContentType="application/vnd.ms-office.chartcolorstyle+xml"/>
  <Override PartName="/ppt/charts/colors49.xml" ContentType="application/vnd.ms-office.chartcolorstyle+xml"/>
  <Override PartName="/ppt/charts/colors5.xml" ContentType="application/vnd.ms-office.chartcolorstyle+xml"/>
  <Override PartName="/ppt/charts/colors50.xml" ContentType="application/vnd.ms-office.chartcolorstyle+xml"/>
  <Override PartName="/ppt/charts/colors51.xml" ContentType="application/vnd.ms-office.chartcolorstyle+xml"/>
  <Override PartName="/ppt/charts/colors52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10.xml" ContentType="application/vnd.ms-office.chartstyle+xml"/>
  <Override PartName="/ppt/charts/style11.xml" ContentType="application/vnd.ms-office.chartstyle+xml"/>
  <Override PartName="/ppt/charts/style12.xml" ContentType="application/vnd.ms-office.chartstyle+xml"/>
  <Override PartName="/ppt/charts/style13.xml" ContentType="application/vnd.ms-office.chartstyle+xml"/>
  <Override PartName="/ppt/charts/style14.xml" ContentType="application/vnd.ms-office.chartstyle+xml"/>
  <Override PartName="/ppt/charts/style15.xml" ContentType="application/vnd.ms-office.chartstyle+xml"/>
  <Override PartName="/ppt/charts/style16.xml" ContentType="application/vnd.ms-office.chartstyle+xml"/>
  <Override PartName="/ppt/charts/style17.xml" ContentType="application/vnd.ms-office.chartstyle+xml"/>
  <Override PartName="/ppt/charts/style18.xml" ContentType="application/vnd.ms-office.chartstyle+xml"/>
  <Override PartName="/ppt/charts/style19.xml" ContentType="application/vnd.ms-office.chartstyle+xml"/>
  <Override PartName="/ppt/charts/style2.xml" ContentType="application/vnd.ms-office.chartstyle+xml"/>
  <Override PartName="/ppt/charts/style20.xml" ContentType="application/vnd.ms-office.chartstyle+xml"/>
  <Override PartName="/ppt/charts/style21.xml" ContentType="application/vnd.ms-office.chartstyle+xml"/>
  <Override PartName="/ppt/charts/style22.xml" ContentType="application/vnd.ms-office.chartstyle+xml"/>
  <Override PartName="/ppt/charts/style23.xml" ContentType="application/vnd.ms-office.chartstyle+xml"/>
  <Override PartName="/ppt/charts/style24.xml" ContentType="application/vnd.ms-office.chartstyle+xml"/>
  <Override PartName="/ppt/charts/style25.xml" ContentType="application/vnd.ms-office.chartstyle+xml"/>
  <Override PartName="/ppt/charts/style26.xml" ContentType="application/vnd.ms-office.chartstyle+xml"/>
  <Override PartName="/ppt/charts/style27.xml" ContentType="application/vnd.ms-office.chartstyle+xml"/>
  <Override PartName="/ppt/charts/style28.xml" ContentType="application/vnd.ms-office.chartstyle+xml"/>
  <Override PartName="/ppt/charts/style29.xml" ContentType="application/vnd.ms-office.chartstyle+xml"/>
  <Override PartName="/ppt/charts/style3.xml" ContentType="application/vnd.ms-office.chartstyle+xml"/>
  <Override PartName="/ppt/charts/style30.xml" ContentType="application/vnd.ms-office.chartstyle+xml"/>
  <Override PartName="/ppt/charts/style31.xml" ContentType="application/vnd.ms-office.chartstyle+xml"/>
  <Override PartName="/ppt/charts/style32.xml" ContentType="application/vnd.ms-office.chartstyle+xml"/>
  <Override PartName="/ppt/charts/style33.xml" ContentType="application/vnd.ms-office.chartstyle+xml"/>
  <Override PartName="/ppt/charts/style34.xml" ContentType="application/vnd.ms-office.chartstyle+xml"/>
  <Override PartName="/ppt/charts/style35.xml" ContentType="application/vnd.ms-office.chartstyle+xml"/>
  <Override PartName="/ppt/charts/style36.xml" ContentType="application/vnd.ms-office.chartstyle+xml"/>
  <Override PartName="/ppt/charts/style37.xml" ContentType="application/vnd.ms-office.chartstyle+xml"/>
  <Override PartName="/ppt/charts/style38.xml" ContentType="application/vnd.ms-office.chartstyle+xml"/>
  <Override PartName="/ppt/charts/style39.xml" ContentType="application/vnd.ms-office.chartstyle+xml"/>
  <Override PartName="/ppt/charts/style4.xml" ContentType="application/vnd.ms-office.chartstyle+xml"/>
  <Override PartName="/ppt/charts/style40.xml" ContentType="application/vnd.ms-office.chartstyle+xml"/>
  <Override PartName="/ppt/charts/style41.xml" ContentType="application/vnd.ms-office.chartstyle+xml"/>
  <Override PartName="/ppt/charts/style42.xml" ContentType="application/vnd.ms-office.chartstyle+xml"/>
  <Override PartName="/ppt/charts/style43.xml" ContentType="application/vnd.ms-office.chartstyle+xml"/>
  <Override PartName="/ppt/charts/style44.xml" ContentType="application/vnd.ms-office.chartstyle+xml"/>
  <Override PartName="/ppt/charts/style45.xml" ContentType="application/vnd.ms-office.chartstyle+xml"/>
  <Override PartName="/ppt/charts/style46.xml" ContentType="application/vnd.ms-office.chartstyle+xml"/>
  <Override PartName="/ppt/charts/style47.xml" ContentType="application/vnd.ms-office.chartstyle+xml"/>
  <Override PartName="/ppt/charts/style48.xml" ContentType="application/vnd.ms-office.chartstyle+xml"/>
  <Override PartName="/ppt/charts/style49.xml" ContentType="application/vnd.ms-office.chartstyle+xml"/>
  <Override PartName="/ppt/charts/style5.xml" ContentType="application/vnd.ms-office.chartstyle+xml"/>
  <Override PartName="/ppt/charts/style50.xml" ContentType="application/vnd.ms-office.chartstyle+xml"/>
  <Override PartName="/ppt/charts/style51.xml" ContentType="application/vnd.ms-office.chartstyle+xml"/>
  <Override PartName="/ppt/charts/style52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7"/>
  </p:notesMasterIdLst>
  <p:handoutMasterIdLst>
    <p:handoutMasterId r:id="rId43"/>
  </p:handoutMasterIdLst>
  <p:sldIdLst>
    <p:sldId id="18846" r:id="rId3"/>
    <p:sldId id="18868" r:id="rId4"/>
    <p:sldId id="19085" r:id="rId5"/>
    <p:sldId id="19147" r:id="rId6"/>
    <p:sldId id="19148" r:id="rId8"/>
    <p:sldId id="19164" r:id="rId9"/>
    <p:sldId id="19154" r:id="rId10"/>
    <p:sldId id="19155" r:id="rId11"/>
    <p:sldId id="19163" r:id="rId12"/>
    <p:sldId id="19153" r:id="rId13"/>
    <p:sldId id="19120" r:id="rId14"/>
    <p:sldId id="19124" r:id="rId15"/>
    <p:sldId id="19126" r:id="rId16"/>
    <p:sldId id="19128" r:id="rId17"/>
    <p:sldId id="19119" r:id="rId18"/>
    <p:sldId id="19129" r:id="rId19"/>
    <p:sldId id="19143" r:id="rId20"/>
    <p:sldId id="19130" r:id="rId21"/>
    <p:sldId id="19122" r:id="rId22"/>
    <p:sldId id="19141" r:id="rId23"/>
    <p:sldId id="19142" r:id="rId24"/>
    <p:sldId id="18887" r:id="rId25"/>
    <p:sldId id="19069" r:id="rId26"/>
    <p:sldId id="19007" r:id="rId27"/>
    <p:sldId id="19162" r:id="rId28"/>
    <p:sldId id="19095" r:id="rId29"/>
    <p:sldId id="19114" r:id="rId30"/>
    <p:sldId id="19117" r:id="rId31"/>
    <p:sldId id="19121" r:id="rId32"/>
    <p:sldId id="19108" r:id="rId33"/>
    <p:sldId id="19133" r:id="rId34"/>
    <p:sldId id="19132" r:id="rId35"/>
    <p:sldId id="19159" r:id="rId36"/>
    <p:sldId id="19135" r:id="rId37"/>
    <p:sldId id="19158" r:id="rId38"/>
    <p:sldId id="19160" r:id="rId39"/>
    <p:sldId id="19161" r:id="rId40"/>
    <p:sldId id="19138" r:id="rId41"/>
    <p:sldId id="19139" r:id="rId42"/>
  </p:sldIdLst>
  <p:sldSz cx="12192000" cy="6858000"/>
  <p:notesSz cx="6858000" cy="9144000"/>
  <p:custDataLst>
    <p:tags r:id="rId4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77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PS" initials="W" lastIdx="1" clrIdx="0"/>
  <p:cmAuthor id="2" name="作者" initials="A" lastIdx="0" clrIdx="1"/>
  <p:cmAuthor id="3" name="wangfeifei" initials="w" lastIdx="1" clrIdx="2"/>
  <p:cmAuthor id="4" name="Mia Vida Villanueva" initials="MVV" lastIdx="0" clrIdx="3"/>
  <p:cmAuthor id="5" name="Claire Chen" initials="MOU" lastIdx="0" clrIdx="4"/>
  <p:cmAuthor id="6" name="胡敏" initials="Humin" lastIdx="0" clrIdx="5"/>
  <p:cmAuthor id="7" name="feng_" initials="f" lastIdx="0" clrIdx="6"/>
  <p:cmAuthor id="8" name="Administrator" initials="A" lastIdx="0" clrIdx="7"/>
  <p:cmAuthor id="9" name="宋洁然" initials="宋" lastIdx="0" clrIdx="8"/>
  <p:cmAuthor id="10" name="ming qiu" initials="m" lastIdx="0" clrIdx="9"/>
  <p:cmAuthor id="11" name="1206988966@qq.com" initials="1" lastIdx="0" clrIdx="10"/>
  <p:cmAuthor id="12" name="姜伟光" initials="姜" lastIdx="0" clrIdx="11"/>
  <p:cmAuthor id="13" name="xushunshun" initials="x" lastIdx="0" clrIdx="12"/>
  <p:cmAuthor id="14" name="高莹" initials="高" lastIdx="0" clrIdx="13"/>
  <p:cmAuthor id="15" name="Microsoft Office User" initials="MOU" lastIdx="0" clrIdx="14"/>
  <p:cmAuthor id="16" name="gaoying0007" initials="g" lastIdx="0" clrIdx="15"/>
  <p:cmAuthor id="17" name="admin" initials="a" lastIdx="0" clrIdx="16"/>
  <p:cmAuthor id="18" name="lucas" initials="l" lastIdx="0" clrIdx="17"/>
  <p:cmAuthor id="19" name="zhaozhiqiang" initials="z" lastIdx="0" clrIdx="18"/>
  <p:cmAuthor id="20" name="齐跃" initials="齐" lastIdx="0" clrIdx="19"/>
  <p:cmAuthor id="21" name="74798" initials="7" lastIdx="0" clrIdx="20"/>
  <p:cmAuthor id="22" name="50204" initials="5" lastIdx="0" clrIdx="21"/>
  <p:cmAuthor id="23" name="李娜" initials="李" lastIdx="0" clrIdx="22"/>
  <p:cmAuthor id="24" name="WPS_1679281038" initials="W" lastIdx="0" clrIdx="23"/>
  <p:cmAuthor id="25" name="wangchengze" initials="w" lastIdx="0" clrIdx="24"/>
  <p:cmAuthor id="26" name="kater" initials="k" lastIdx="0" clrIdx="25"/>
  <p:cmAuthor id="27" name="水灵" initials="水" lastIdx="0" clrIdx="26"/>
  <p:cmAuthor id="28" name="ymt" initials="" lastIdx="0" clrIdx="27"/>
  <p:cmAuthor id="29" name="User" initials="U" lastIdx="0" clrIdx="28"/>
  <p:cmAuthor id="30" name="86153" initials="8" lastIdx="0" clrIdx="29"/>
  <p:cmAuthor id="31" name="msi" initials="m" lastIdx="0" clrIdx="30"/>
  <p:cmAuthor id="32" name="FANGJ" initials="F" lastIdx="0" clrIdx="31"/>
  <p:cmAuthor id="33" name="李黑子" initials="李" lastIdx="0" clrIdx="32"/>
  <p:cmAuthor id="34" name="li'y'l186" initials="l" lastIdx="0" clrIdx="33"/>
  <p:cmAuthor id="35" name="毛拐涵" initials="毛" lastIdx="0" clrIdx="34"/>
  <p:cmAuthor id="36" name="朱欧巴的高颜值book" initials="" lastIdx="0" clrIdx="35"/>
  <p:cmAuthor id="37" name="liuxh38" initials="" lastIdx="0" clrIdx="36"/>
  <p:cmAuthor id="38" name="tiger father" initials="t" lastIdx="0" clrIdx="37"/>
  <p:cmAuthor id="39" name="86132" initials="8" lastIdx="0" clrIdx="38"/>
  <p:cmAuthor id="40" name="自如" initials="自" lastIdx="0" clrIdx="39"/>
  <p:cmAuthor id="41" name="85239" initials="" lastIdx="0" clrIdx="40"/>
  <p:cmAuthor id="42" name="apple" initials="a" lastIdx="0" clrIdx="41"/>
  <p:cmAuthor id="43" name="chenh" initials="c" lastIdx="0" clrIdx="42"/>
  <p:cmAuthor id="44" name="王程泽" initials="authorId_170978309" lastIdx="0" clrIdx="43"/>
  <p:cmAuthor id="45" name="27248" initials="2" lastIdx="0" clrIdx="44"/>
  <p:cmAuthor id="46" name="Tass_rYV36Rza" initials="authorId_31485631" lastIdx="0" clrIdx="45"/>
  <p:cmAuthor id="47" name="Tongy" initials="T" lastIdx="0" clrIdx="46"/>
  <p:cmAuthor id="48" name="威猛的小脑斧" initials="威" lastIdx="0" clrIdx="47"/>
  <p:cmAuthor id="49" name="42019" initials="4" lastIdx="0" clrIdx="48"/>
  <p:cmAuthor id="50" name="联想" initials="联" lastIdx="0" clrIdx="49"/>
  <p:cmAuthor id="51" name="pro6 128" initials="p" lastIdx="0" clrIdx="50"/>
  <p:cmAuthor id="52" name="李林林" initials="李" lastIdx="0" clrIdx="51"/>
  <p:cmAuthor id="53" name="未知用户7" initials="未" lastIdx="0" clrIdx="52"/>
  <p:cmAuthor id="54" name="lin li" initials="ll" lastIdx="0" clrIdx="53"/>
  <p:cmAuthor id="55" name="未知用户9" initials="未" lastIdx="0" clrIdx="54"/>
  <p:cmAuthor id="56" name="595434287@qq.com" initials="5" lastIdx="0" clrIdx="55"/>
  <p:cmAuthor id="57" name="daijing" initials="d" lastIdx="0" clrIdx="56"/>
  <p:cmAuthor id="58" name="345175348@qq.com" initials="3" lastIdx="0" clrIdx="57"/>
  <p:cmAuthor id="59" name="未知用户18" initials="未" lastIdx="0" clrIdx="58"/>
  <p:cmAuthor id="60" name="李 奕霖" initials="李" lastIdx="0" clrIdx="59"/>
  <p:cmAuthor id="61" name="未知用户20" initials="未" lastIdx="0" clrIdx="60"/>
  <p:cmAuthor id="62" name="敬泉 李" initials="敬泉" lastIdx="0" clrIdx="61"/>
  <p:cmAuthor id="63" name="未知用户19" initials="未" lastIdx="0" clrIdx="62"/>
  <p:cmAuthor id="64" name="王 翩翩" initials="王" lastIdx="0" clrIdx="63"/>
  <p:cmAuthor id="65" name="未知用户21" initials="未" lastIdx="0" clrIdx="64"/>
  <p:cmAuthor id="66" name="刘 少燕" initials="刘" lastIdx="0" clrIdx="65"/>
  <p:cmAuthor id="67" name="未知用户14" initials="未" lastIdx="0" clrIdx="66"/>
  <p:cmAuthor id="68" name="李 斯" initials="李" lastIdx="0" clrIdx="67"/>
  <p:cmAuthor id="69" name="未知用户15" initials="未" lastIdx="0" clrIdx="68"/>
  <p:cmAuthor id="70" name="未知用户16" initials="未" lastIdx="0" clrIdx="69"/>
  <p:cmAuthor id="71" name="郝崇" initials="郝" lastIdx="0" clrIdx="70"/>
  <p:cmAuthor id="72" name="吴杰" initials="吴" lastIdx="0" clrIdx="71"/>
  <p:cmAuthor id="73" name="刘丽仙" initials="刘" lastIdx="0" clrIdx="72"/>
  <p:cmAuthor id="74" name="马静" initials="马" lastIdx="0" clrIdx="73"/>
  <p:cmAuthor id="75" name="李百秋" initials="李" lastIdx="0" clrIdx="74"/>
  <p:cmAuthor id="76" name="范作霖" initials="范" lastIdx="0" clrIdx="75"/>
  <p:cmAuthor id="77" name="rq fan" initials="r" lastIdx="0" clrIdx="76"/>
  <p:cmAuthor id="78" name="李刚" initials="李" lastIdx="0" clrIdx="77"/>
  <p:cmAuthor id="79" name="dingbo" initials="d" lastIdx="0" clrIdx="78"/>
  <p:cmAuthor id="80" name="批注：" initials="批" lastIdx="0" clrIdx="79"/>
  <p:cmAuthor id="81" name="李永欣" initials="李" lastIdx="0" clrIdx="80"/>
  <p:cmAuthor id="82" name="仝德志" initials="仝" lastIdx="0" clrIdx="81"/>
  <p:cmAuthor id="83" name="丁芙蓉" initials="丁" lastIdx="0" clrIdx="82"/>
  <p:cmAuthor id="84" name="许弘扬" initials="许" lastIdx="0" clrIdx="83"/>
  <p:cmAuthor id="85" name="未知用户23" initials="未" lastIdx="0" clrIdx="84"/>
  <p:cmAuthor id="86" name="未知用户24" initials="未" lastIdx="0" clrIdx="85"/>
  <p:cmAuthor id="87" name="未知用户25" initials="未" lastIdx="0" clrIdx="86"/>
  <p:cmAuthor id="88" name="未知用户26" initials="未" lastIdx="0" clrIdx="87"/>
  <p:cmAuthor id="89" name="未知用户27" initials="未" lastIdx="0" clrIdx="88"/>
  <p:cmAuthor id="90" name="未知用户28" initials="未" lastIdx="0" clrIdx="89"/>
  <p:cmAuthor id="91" name="未知用户29" initials="未" lastIdx="0" clrIdx="90"/>
  <p:cmAuthor id="92" name="恽静" initials="恽静" lastIdx="0" clrIdx="91"/>
  <p:cmAuthor id="93" name="未知用户12" initials="未" lastIdx="0" clrIdx="92"/>
  <p:cmAuthor id="94" name="未知用户11" initials="未" lastIdx="0" clrIdx="93"/>
  <p:cmAuthor id="95" name="贡鑫" initials="贡" lastIdx="0" clrIdx="94"/>
  <p:cmAuthor id="96" name="administrator1" initials="a" lastIdx="0" clrIdx="95"/>
  <p:cmAuthor id="97" name="杜雪梅" initials="杜" lastIdx="0" clrIdx="96"/>
  <p:cmAuthor id="98" name="lijin" initials="l" lastIdx="0" clrIdx="97"/>
  <p:cmAuthor id="99" name="gtmc" initials="g" lastIdx="0" clrIdx="98"/>
  <p:cmAuthor id="100" name="chunsong_hu" initials="c" lastIdx="0" clrIdx="99"/>
  <p:cmAuthor id="101" name="张雁" initials="张" lastIdx="0" clrIdx="100"/>
  <p:cmAuthor id="102" name="贾清山" initials="贾" lastIdx="0" clrIdx="101"/>
  <p:cmAuthor id="103" name="陈桂枝" initials="陈" lastIdx="0" clrIdx="102"/>
  <p:cmAuthor id="104" name="王向羽" initials="王" lastIdx="0" clrIdx="103"/>
  <p:cmAuthor id="105" name="thinkpad" initials="t" lastIdx="0" clrIdx="104"/>
  <p:cmAuthor id="106" name="LEO L" initials="L" lastIdx="0" clrIdx="105"/>
  <p:cmAuthor id="107" name="马海燕" initials="马" lastIdx="0" clrIdx="106"/>
  <p:cmAuthor id="108" name="libin1204@163.com" initials="l" lastIdx="0" clrIdx="107"/>
  <p:cmAuthor id="109" name="Qingyunli" initials="Q" lastIdx="0" clrIdx="108"/>
  <p:cmAuthor id="110" name="吴军" initials="吴" lastIdx="0" clrIdx="109"/>
  <p:cmAuthor id="111" name="USER" initials="U" lastIdx="0" clrIdx="110"/>
  <p:cmAuthor id="112" name="陈尚文" initials="陈" lastIdx="0" clrIdx="111"/>
  <p:cmAuthor id="113" name="张宏伟" initials="张" lastIdx="0" clrIdx="112"/>
  <p:cmAuthor id="114" name="Pei" initials="P" lastIdx="0" clrIdx="113"/>
  <p:cmAuthor id="115" name="徐光宇" initials="徐" lastIdx="0" clrIdx="114"/>
  <p:cmAuthor id="116" name="mac" initials="m" lastIdx="0" clrIdx="115"/>
  <p:cmAuthor id="117" name="Liu, Leo (MBSHR cs)" initials="L" lastIdx="0" clrIdx="116"/>
  <p:cmAuthor id="118" name="刘豹" initials="刘" lastIdx="0" clrIdx="117"/>
  <p:cmAuthor id="119" name="张艳芳" initials="张" lastIdx="0" clrIdx="118"/>
  <p:cmAuthor id="120" name="刘广艳" initials="刘" lastIdx="0" clrIdx="119"/>
  <p:cmAuthor id="121" name="邹积逊" initials="邹" lastIdx="0" clrIdx="120"/>
  <p:cmAuthor id="122" name="yangyanxia" initials="y" lastIdx="0" clrIdx="121"/>
  <p:cmAuthor id="123" name="刘春辉" initials="刘" lastIdx="0" clrIdx="122"/>
  <p:cmAuthor id="124" name="Youwen Sun" initials="Y" lastIdx="0" clrIdx="123"/>
  <p:cmAuthor id="125" name="杜娇龙" initials="杜" lastIdx="0" clrIdx="124"/>
  <p:cmAuthor id="126" name="张钦" initials="张" lastIdx="0" clrIdx="125"/>
  <p:cmAuthor id="127" name="涛娜" initials="涛" lastIdx="0" clrIdx="126"/>
  <p:cmAuthor id="128" name="????" initials="?" lastIdx="0" clrIdx="127"/>
  <p:cmAuthor id="129" name="李丽华" initials="李" lastIdx="0" clrIdx="128"/>
  <p:cmAuthor id="130" name="王志虎" initials="王" lastIdx="0" clrIdx="129"/>
  <p:cmAuthor id="131" name="魏永生" initials="魏" lastIdx="0" clrIdx="130"/>
  <p:cmAuthor id="132" name="Zhou, Judy" initials="Z" lastIdx="0" clrIdx="131"/>
  <p:cmAuthor id="133" name=" " initials=" " lastIdx="0" clrIdx="132"/>
  <p:cmAuthor id="134" name="毛香勤" initials="毛" lastIdx="0" clrIdx="133"/>
  <p:cmAuthor id="135" name="朱彩霞" initials="朱" lastIdx="0" clrIdx="134"/>
  <p:cmAuthor id="136" name="侯 林" initials="侯" lastIdx="0" clrIdx="135"/>
  <p:cmAuthor id="137" name="孙大威" initials="孙" lastIdx="0" clrIdx="136"/>
  <p:cmAuthor id="138" name="姜亚荣" initials="姜" lastIdx="0" clrIdx="137"/>
  <p:cmAuthor id="139" name="李明" initials="李" lastIdx="0" clrIdx="138"/>
  <p:cmAuthor id="140" name="张利英" initials="张" lastIdx="0" clrIdx="139"/>
  <p:cmAuthor id="141" name="徐仕超" initials="徐" lastIdx="0" clrIdx="140"/>
  <p:cmAuthor id="142" name="刘靖" initials="刘" lastIdx="0" clrIdx="141"/>
  <p:cmAuthor id="143" name="未知用户1" initials="未知用户1" lastIdx="0" clrIdx="142"/>
  <p:cmAuthor id="144" name="任勇" initials="任" lastIdx="0" clrIdx="143"/>
  <p:cmAuthor id="145" name="宋明扬" initials="宋" lastIdx="0" clrIdx="144"/>
  <p:cmAuthor id="146" name="Lzy" initials="L" lastIdx="0" clrIdx="145"/>
  <p:cmAuthor id="147" name="王川雪" initials="王" lastIdx="0" clrIdx="146"/>
  <p:cmAuthor id="148" name="仵新荣" initials="仵" lastIdx="0" clrIdx="147"/>
  <p:cmAuthor id="149" name="樊革霞" initials="樊" lastIdx="0" clrIdx="148"/>
  <p:cmAuthor id="150" name="席美娟" initials="席" lastIdx="0" clrIdx="149"/>
  <p:cmAuthor id="151" name="郭金玲" initials="郭" lastIdx="0" clrIdx="150"/>
  <p:cmAuthor id="152" name="王景红" initials="王" lastIdx="0" clrIdx="151"/>
  <p:cmAuthor id="153" name="席金煜" initials="席" lastIdx="0" clrIdx="152"/>
  <p:cmAuthor id="154" name="樊佳佳" initials="樊" lastIdx="0" clrIdx="153"/>
  <p:cmAuthor id="155" name="fgx" initials="f" lastIdx="0" clrIdx="154"/>
  <p:cmAuthor id="156" name="郑汝鸿" initials="郑" lastIdx="0" clrIdx="155"/>
  <p:cmAuthor id="157" name="宋少霞" initials="宋" lastIdx="0" clrIdx="156"/>
  <p:cmAuthor id="158" name="郑鑫" initials="郑" lastIdx="0" clrIdx="157"/>
  <p:cmAuthor id="159" name="惠莲" initials="惠" lastIdx="0" clrIdx="158"/>
  <p:cmAuthor id="160" name="邢辰凤" initials="邢" lastIdx="0" clrIdx="159"/>
  <p:cmAuthor id="161" name="liang ma" initials="l" lastIdx="0" clrIdx="160"/>
  <p:cmAuthor id="162" name="Azfar Mir" initials="A" lastIdx="0" clrIdx="161"/>
  <p:cmAuthor id="163" name="wangmingwei" initials="w" lastIdx="0" clrIdx="162"/>
  <p:cmAuthor id="164" name="AllforU" initials="A" lastIdx="0" clrIdx="163"/>
  <p:cmAuthor id="165" name="逸亦紫嫣" initials="逸" lastIdx="0" clrIdx="164"/>
  <p:cmAuthor id="166" name="桃子" initials="桃" lastIdx="0" clrIdx="165"/>
  <p:cmAuthor id="167" name="latte" initials="l" lastIdx="0" clrIdx="166"/>
  <p:cmAuthor id="168" name="chenyujie@lattebank.com" initials="c" lastIdx="0" clrIdx="167"/>
  <p:cmAuthor id="169" name="卢枞" initials="MO用" lastIdx="0" clrIdx="168"/>
  <p:cmAuthor id="170" name="陈宇杰Iris Chen_UZ7vny22" initials="authorId_1763699952" lastIdx="0" clrIdx="169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E54A1"/>
    <a:srgbClr val="004FF0"/>
    <a:srgbClr val="E1732C"/>
    <a:srgbClr val="CCD1D4"/>
    <a:srgbClr val="5151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FAEF03-E732-468A-B26A-F518825F0431}" styleName="表样式 1 14">
    <a:wholeTbl>
      <a:tcTxStyle>
        <a:fontRef idx="none">
          <a:srgbClr val="000000"/>
        </a:fontRef>
      </a:tcTxStyle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chemeClr val="accent1">
              <a:lumMod val="10000"/>
              <a:lumOff val="90000"/>
            </a:schemeClr>
          </a:solidFill>
        </a:fill>
      </a:tcStyle>
    </a:band2H>
    <a:band1V>
      <a:tcStyle>
        <a:tcBdr/>
        <a:fill>
          <a:solidFill>
            <a:schemeClr val="accent1">
              <a:lumMod val="10000"/>
              <a:lumOff val="90000"/>
            </a:schemeClr>
          </a:solidFill>
        </a:fill>
      </a:tcStyle>
    </a:band1V>
    <a:la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lastRow>
    <a:seCell>
      <a:tcStyle>
        <a:tcBdr>
          <a:left>
            <a:ln>
              <a:noFill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eCell>
    <a:swCell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wCell>
    <a:firstRow>
      <a:tcTxStyle b="on">
        <a:fontRef idx="none">
          <a:schemeClr val="accent1"/>
        </a:fontRef>
      </a:tcTxStyle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389"/>
    <p:restoredTop sz="94609"/>
  </p:normalViewPr>
  <p:slideViewPr>
    <p:cSldViewPr snapToGrid="0" snapToObjects="1" showGuides="1">
      <p:cViewPr varScale="1">
        <p:scale>
          <a:sx n="151" d="100"/>
          <a:sy n="151" d="100"/>
        </p:scale>
        <p:origin x="1560" y="200"/>
      </p:cViewPr>
      <p:guideLst>
        <p:guide orient="horz" pos="2160"/>
        <p:guide pos="377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8" Type="http://schemas.openxmlformats.org/officeDocument/2006/relationships/tags" Target="tags/tag105.xml"/><Relationship Id="rId47" Type="http://schemas.openxmlformats.org/officeDocument/2006/relationships/commentAuthors" Target="commentAuthors.xml"/><Relationship Id="rId46" Type="http://schemas.openxmlformats.org/officeDocument/2006/relationships/tableStyles" Target="tableStyles.xml"/><Relationship Id="rId45" Type="http://schemas.openxmlformats.org/officeDocument/2006/relationships/viewProps" Target="viewProps.xml"/><Relationship Id="rId44" Type="http://schemas.openxmlformats.org/officeDocument/2006/relationships/presProps" Target="presProps.xml"/><Relationship Id="rId43" Type="http://schemas.openxmlformats.org/officeDocument/2006/relationships/handoutMaster" Target="handoutMasters/handoutMaster1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file:///C:\Users\wangmingwei\Documents\1.DONE\&#19994;&#21153;&#31649;&#29702;\&#22823;&#30424;&#26376;&#25253;&#21608;&#25253;\26.1&#26376;&#25253;\1&#26376;&#26376;&#25253;&#25968;&#25454;-0129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oleObject" Target="file:///C:\Users\wangmingwei\Documents\1.DONE\&#19994;&#21153;&#31649;&#29702;\&#22823;&#30424;&#26376;&#25253;&#21608;&#25253;\26.1&#26376;&#25253;\1&#26376;&#26376;&#25253;&#25968;&#25454;-0129.xlsx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oleObject" Target="file:///C:\Users\wangmingwei\Documents\1.DONE\&#19994;&#21153;&#31649;&#29702;\&#22823;&#30424;&#26376;&#25253;&#21608;&#25253;\26.1&#26376;&#25253;\1&#26376;&#26376;&#25253;&#25968;&#25454;-0129.xlsx" TargetMode="External"/></Relationships>
</file>

<file path=ppt/charts/_rels/chart4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microsoft.com/office/2011/relationships/chartStyle" Target="style4.xml"/><Relationship Id="rId1" Type="http://schemas.openxmlformats.org/officeDocument/2006/relationships/oleObject" Target="file:///C:\Users\wangmingwei\Documents\1.DONE\&#19994;&#21153;&#31649;&#29702;\&#22823;&#30424;&#26376;&#25253;&#21608;&#25253;\26.1&#26376;&#25253;\1&#26376;&#26376;&#25253;&#25968;&#25454;-0129.xlsx" TargetMode="External"/></Relationships>
</file>

<file path=ppt/charts/_rels/chart5.xml.rels><?xml version="1.0" encoding="UTF-8" standalone="yes"?>
<Relationships xmlns="http://schemas.openxmlformats.org/package/2006/relationships"><Relationship Id="rId3" Type="http://schemas.microsoft.com/office/2011/relationships/chartColorStyle" Target="colors5.xml"/><Relationship Id="rId2" Type="http://schemas.microsoft.com/office/2011/relationships/chartStyle" Target="style5.xml"/><Relationship Id="rId1" Type="http://schemas.openxmlformats.org/officeDocument/2006/relationships/oleObject" Target="file:///C:\Users\wangmingwei\Documents\1.DONE\&#19994;&#21153;&#31649;&#29702;\&#22823;&#30424;&#26376;&#25253;&#21608;&#25253;\26.1&#26376;&#25253;\1&#26376;&#26376;&#25253;&#25968;&#25454;-0129.xlsx" TargetMode="External"/></Relationships>
</file>

<file path=ppt/charts/_rels/chart6.xml.rels><?xml version="1.0" encoding="UTF-8" standalone="yes"?>
<Relationships xmlns="http://schemas.openxmlformats.org/package/2006/relationships"><Relationship Id="rId3" Type="http://schemas.microsoft.com/office/2011/relationships/chartColorStyle" Target="colors6.xml"/><Relationship Id="rId2" Type="http://schemas.microsoft.com/office/2011/relationships/chartStyle" Target="style6.xml"/><Relationship Id="rId1" Type="http://schemas.openxmlformats.org/officeDocument/2006/relationships/oleObject" Target="file:///C:\Users\wangmingwei\Documents\1.DONE\&#19994;&#21153;&#31649;&#29702;\&#22823;&#30424;&#26376;&#25253;&#21608;&#25253;\26.1&#26376;&#25253;\1&#26376;&#26376;&#25253;&#25968;&#25454;-0129.xlsx" TargetMode="External"/></Relationships>
</file>

<file path=ppt/charts/_rels/chart7.xml.rels><?xml version="1.0" encoding="UTF-8" standalone="yes"?>
<Relationships xmlns="http://schemas.openxmlformats.org/package/2006/relationships"><Relationship Id="rId3" Type="http://schemas.microsoft.com/office/2011/relationships/chartColorStyle" Target="colors7.xml"/><Relationship Id="rId2" Type="http://schemas.microsoft.com/office/2011/relationships/chartStyle" Target="style7.xml"/><Relationship Id="rId1" Type="http://schemas.openxmlformats.org/officeDocument/2006/relationships/oleObject" Target="/Users/admin/Desktop/&#20250;&#35758;&#26448;&#26009;/&#24635;&#21150;&#26376;&#25253;/26&#24180;&#33719;&#23458;&#26376;&#25253;/2601&#26376;&#25253;&#25968;&#25454;V2.xlsx" TargetMode="External"/></Relationships>
</file>

<file path=ppt/charts/_rels/chart8.xml.rels><?xml version="1.0" encoding="UTF-8" standalone="yes"?>
<Relationships xmlns="http://schemas.openxmlformats.org/package/2006/relationships"><Relationship Id="rId3" Type="http://schemas.microsoft.com/office/2011/relationships/chartColorStyle" Target="colors8.xml"/><Relationship Id="rId2" Type="http://schemas.microsoft.com/office/2011/relationships/chartStyle" Target="style8.xml"/><Relationship Id="rId1" Type="http://schemas.openxmlformats.org/officeDocument/2006/relationships/oleObject" Target="/Users/admin/Desktop/&#20250;&#35758;&#26448;&#26009;/&#24635;&#21150;&#26376;&#25253;/26&#24180;&#33719;&#23458;&#26376;&#25253;/2601&#26376;&#25253;&#25968;&#25454;.xlsx" TargetMode="External"/></Relationships>
</file>

<file path=ppt/charts/_rels/chart9.xml.rels><?xml version="1.0" encoding="UTF-8" standalone="yes"?>
<Relationships xmlns="http://schemas.openxmlformats.org/package/2006/relationships"><Relationship Id="rId3" Type="http://schemas.microsoft.com/office/2011/relationships/chartColorStyle" Target="colors9.xml"/><Relationship Id="rId2" Type="http://schemas.microsoft.com/office/2011/relationships/chartStyle" Target="style9.xml"/><Relationship Id="rId1" Type="http://schemas.openxmlformats.org/officeDocument/2006/relationships/oleObject" Target="/Users/admin/Desktop/&#20250;&#35758;&#26448;&#26009;/&#24635;&#21150;&#26376;&#25253;/26&#24180;&#33719;&#23458;&#26376;&#25253;/2601&#26376;&#25253;&#25968;&#25454;V1.xlsx" TargetMode="External"/></Relationships>
</file>

<file path=ppt/charts/_rels/chart10.xml.rels><?xml version="1.0" encoding="UTF-8" standalone="yes"?>
<Relationships xmlns="http://schemas.openxmlformats.org/package/2006/relationships"><Relationship Id="rId3" Type="http://schemas.microsoft.com/office/2011/relationships/chartColorStyle" Target="colors10.xml"/><Relationship Id="rId2" Type="http://schemas.microsoft.com/office/2011/relationships/chartStyle" Target="style10.xml"/><Relationship Id="rId1" Type="http://schemas.openxmlformats.org/officeDocument/2006/relationships/oleObject" Target="/Users/admin/Desktop/&#20250;&#35758;&#26448;&#26009;/&#24635;&#21150;&#26376;&#25253;/26&#24180;&#33719;&#23458;&#26376;&#25253;/2601&#26376;&#25253;&#25968;&#25454;V2.xlsx" TargetMode="External"/></Relationships>
</file>

<file path=ppt/charts/_rels/chart11.xml.rels><?xml version="1.0" encoding="UTF-8" standalone="yes"?>
<Relationships xmlns="http://schemas.openxmlformats.org/package/2006/relationships"><Relationship Id="rId3" Type="http://schemas.microsoft.com/office/2011/relationships/chartColorStyle" Target="colors11.xml"/><Relationship Id="rId2" Type="http://schemas.microsoft.com/office/2011/relationships/chartStyle" Target="style11.xml"/><Relationship Id="rId1" Type="http://schemas.openxmlformats.org/officeDocument/2006/relationships/oleObject" Target="/Users/admin/Desktop/&#20250;&#35758;&#26448;&#26009;/&#24635;&#21150;&#26376;&#25253;/26&#24180;&#33719;&#23458;&#26376;&#25253;/2601&#26376;&#25253;&#25968;&#25454;V2.xlsx" TargetMode="External"/></Relationships>
</file>

<file path=ppt/charts/_rels/chart12.xml.rels><?xml version="1.0" encoding="UTF-8" standalone="yes"?>
<Relationships xmlns="http://schemas.openxmlformats.org/package/2006/relationships"><Relationship Id="rId3" Type="http://schemas.microsoft.com/office/2011/relationships/chartColorStyle" Target="colors12.xml"/><Relationship Id="rId2" Type="http://schemas.microsoft.com/office/2011/relationships/chartStyle" Target="style12.xml"/><Relationship Id="rId1" Type="http://schemas.openxmlformats.org/officeDocument/2006/relationships/oleObject" Target="/Users/admin/Desktop/&#20250;&#35758;&#26448;&#26009;/&#24635;&#21150;&#26376;&#25253;/26&#24180;&#33719;&#23458;&#26376;&#25253;/2601&#26376;&#25253;&#25968;&#25454;V2.xlsx" TargetMode="External"/></Relationships>
</file>

<file path=ppt/charts/_rels/chart13.xml.rels><?xml version="1.0" encoding="UTF-8" standalone="yes"?>
<Relationships xmlns="http://schemas.openxmlformats.org/package/2006/relationships"><Relationship Id="rId3" Type="http://schemas.microsoft.com/office/2011/relationships/chartColorStyle" Target="colors13.xml"/><Relationship Id="rId2" Type="http://schemas.microsoft.com/office/2011/relationships/chartStyle" Target="style13.xml"/><Relationship Id="rId1" Type="http://schemas.openxmlformats.org/officeDocument/2006/relationships/oleObject" Target="/Users/admin/Desktop/&#20250;&#35758;&#26448;&#26009;/&#24635;&#21150;&#26376;&#25253;/26&#24180;&#33719;&#23458;&#26376;&#25253;/2601&#26376;&#25253;&#25968;&#25454;V2.xlsx" TargetMode="External"/></Relationships>
</file>

<file path=ppt/charts/_rels/chart14.xml.rels><?xml version="1.0" encoding="UTF-8" standalone="yes"?>
<Relationships xmlns="http://schemas.openxmlformats.org/package/2006/relationships"><Relationship Id="rId3" Type="http://schemas.microsoft.com/office/2011/relationships/chartColorStyle" Target="colors14.xml"/><Relationship Id="rId2" Type="http://schemas.microsoft.com/office/2011/relationships/chartStyle" Target="style14.xml"/><Relationship Id="rId1" Type="http://schemas.openxmlformats.org/officeDocument/2006/relationships/oleObject" Target="/Users/admin/Desktop/&#20250;&#35758;&#26448;&#26009;/&#24635;&#21150;&#26376;&#25253;/26&#24180;&#33719;&#23458;&#26376;&#25253;/2601&#26376;&#25253;&#25968;&#25454;.xlsx" TargetMode="External"/></Relationships>
</file>

<file path=ppt/charts/_rels/chart15.xml.rels><?xml version="1.0" encoding="UTF-8" standalone="yes"?>
<Relationships xmlns="http://schemas.openxmlformats.org/package/2006/relationships"><Relationship Id="rId3" Type="http://schemas.microsoft.com/office/2011/relationships/chartColorStyle" Target="colors15.xml"/><Relationship Id="rId2" Type="http://schemas.microsoft.com/office/2011/relationships/chartStyle" Target="style15.xml"/><Relationship Id="rId1" Type="http://schemas.openxmlformats.org/officeDocument/2006/relationships/oleObject" Target="/Users/admin/Desktop/&#20250;&#35758;&#26448;&#26009;/&#24635;&#21150;&#26376;&#25253;/26&#24180;&#33719;&#23458;&#26376;&#25253;/2601&#26376;&#25253;&#25968;&#25454;V2.xlsx" TargetMode="External"/></Relationships>
</file>

<file path=ppt/charts/_rels/chart16.xml.rels><?xml version="1.0" encoding="UTF-8" standalone="yes"?>
<Relationships xmlns="http://schemas.openxmlformats.org/package/2006/relationships"><Relationship Id="rId3" Type="http://schemas.microsoft.com/office/2011/relationships/chartColorStyle" Target="colors16.xml"/><Relationship Id="rId2" Type="http://schemas.microsoft.com/office/2011/relationships/chartStyle" Target="style16.xml"/><Relationship Id="rId1" Type="http://schemas.openxmlformats.org/officeDocument/2006/relationships/oleObject" Target="/Users/admin/Desktop/&#20250;&#35758;&#26448;&#26009;/&#24635;&#21150;&#26376;&#25253;/26&#24180;&#33719;&#23458;&#26376;&#25253;/2601&#26376;&#25253;&#25968;&#25454;V2.xlsx" TargetMode="External"/></Relationships>
</file>

<file path=ppt/charts/_rels/chart17.xml.rels><?xml version="1.0" encoding="UTF-8" standalone="yes"?>
<Relationships xmlns="http://schemas.openxmlformats.org/package/2006/relationships"><Relationship Id="rId3" Type="http://schemas.microsoft.com/office/2011/relationships/chartColorStyle" Target="colors17.xml"/><Relationship Id="rId2" Type="http://schemas.microsoft.com/office/2011/relationships/chartStyle" Target="style17.xml"/><Relationship Id="rId1" Type="http://schemas.openxmlformats.org/officeDocument/2006/relationships/oleObject" Target="/Users/admin/Desktop/&#20250;&#35758;&#26448;&#26009;/&#24635;&#21150;&#26376;&#25253;/26&#24180;&#33719;&#23458;&#26376;&#25253;/2601&#26376;&#25253;&#25968;&#25454;V2.xlsx" TargetMode="External"/></Relationships>
</file>

<file path=ppt/charts/_rels/chart18.xml.rels><?xml version="1.0" encoding="UTF-8" standalone="yes"?>
<Relationships xmlns="http://schemas.openxmlformats.org/package/2006/relationships"><Relationship Id="rId3" Type="http://schemas.microsoft.com/office/2011/relationships/chartColorStyle" Target="colors18.xml"/><Relationship Id="rId2" Type="http://schemas.microsoft.com/office/2011/relationships/chartStyle" Target="style18.xml"/><Relationship Id="rId1" Type="http://schemas.openxmlformats.org/officeDocument/2006/relationships/oleObject" Target="/Users/admin/Desktop/&#20250;&#35758;&#26448;&#26009;/&#24635;&#21150;&#26376;&#25253;/26&#24180;&#33719;&#23458;&#26376;&#25253;/2601&#26376;&#25253;&#25968;&#25454;V5(1).xlsx" TargetMode="External"/></Relationships>
</file>

<file path=ppt/charts/_rels/chart19.xml.rels><?xml version="1.0" encoding="UTF-8" standalone="yes"?>
<Relationships xmlns="http://schemas.openxmlformats.org/package/2006/relationships"><Relationship Id="rId3" Type="http://schemas.microsoft.com/office/2011/relationships/chartColorStyle" Target="colors19.xml"/><Relationship Id="rId2" Type="http://schemas.microsoft.com/office/2011/relationships/chartStyle" Target="style19.xml"/><Relationship Id="rId1" Type="http://schemas.openxmlformats.org/officeDocument/2006/relationships/oleObject" Target="/Users/admin/Desktop/&#20250;&#35758;&#26448;&#26009;/&#24635;&#21150;&#26376;&#25253;/26&#24180;&#33719;&#23458;&#26376;&#25253;/2601&#26376;&#25253;&#25968;&#25454;V2.xlsx" TargetMode="External"/></Relationships>
</file>

<file path=ppt/charts/_rels/chart20.xml.rels><?xml version="1.0" encoding="UTF-8" standalone="yes"?>
<Relationships xmlns="http://schemas.openxmlformats.org/package/2006/relationships"><Relationship Id="rId3" Type="http://schemas.microsoft.com/office/2011/relationships/chartColorStyle" Target="colors20.xml"/><Relationship Id="rId2" Type="http://schemas.microsoft.com/office/2011/relationships/chartStyle" Target="style20.xml"/><Relationship Id="rId1" Type="http://schemas.openxmlformats.org/officeDocument/2006/relationships/oleObject" Target="/Users/admin/Desktop/&#20250;&#35758;&#26448;&#26009;/&#24635;&#21150;&#26376;&#25253;/26&#24180;&#33719;&#23458;&#26376;&#25253;/2601&#26376;&#25253;&#25968;&#25454;V2.xlsx" TargetMode="External"/></Relationships>
</file>

<file path=ppt/charts/_rels/chart21.xml.rels><?xml version="1.0" encoding="UTF-8" standalone="yes"?>
<Relationships xmlns="http://schemas.openxmlformats.org/package/2006/relationships"><Relationship Id="rId3" Type="http://schemas.microsoft.com/office/2011/relationships/chartColorStyle" Target="colors21.xml"/><Relationship Id="rId2" Type="http://schemas.microsoft.com/office/2011/relationships/chartStyle" Target="style21.xml"/><Relationship Id="rId1" Type="http://schemas.openxmlformats.org/officeDocument/2006/relationships/oleObject" Target="/Users/admin/Desktop/&#20250;&#35758;&#26448;&#26009;/&#24635;&#21150;&#26376;&#25253;/26&#24180;&#33719;&#23458;&#26376;&#25253;/2601&#26376;&#25253;&#25968;&#25454;V1.xlsx" TargetMode="External"/></Relationships>
</file>

<file path=ppt/charts/_rels/chart22.xml.rels><?xml version="1.0" encoding="UTF-8" standalone="yes"?>
<Relationships xmlns="http://schemas.openxmlformats.org/package/2006/relationships"><Relationship Id="rId3" Type="http://schemas.microsoft.com/office/2011/relationships/chartColorStyle" Target="colors22.xml"/><Relationship Id="rId2" Type="http://schemas.microsoft.com/office/2011/relationships/chartStyle" Target="style22.xml"/><Relationship Id="rId1" Type="http://schemas.openxmlformats.org/officeDocument/2006/relationships/oleObject" Target="/Users/admin/Desktop/&#20250;&#35758;&#26448;&#26009;/&#24635;&#21150;&#26376;&#25253;/26&#24180;&#33719;&#23458;&#26376;&#25253;/2601&#26376;&#25253;&#25968;&#25454;V4.xlsx" TargetMode="External"/></Relationships>
</file>

<file path=ppt/charts/_rels/chart23.xml.rels><?xml version="1.0" encoding="UTF-8" standalone="yes"?>
<Relationships xmlns="http://schemas.openxmlformats.org/package/2006/relationships"><Relationship Id="rId3" Type="http://schemas.microsoft.com/office/2011/relationships/chartColorStyle" Target="colors23.xml"/><Relationship Id="rId2" Type="http://schemas.microsoft.com/office/2011/relationships/chartStyle" Target="style23.xml"/><Relationship Id="rId1" Type="http://schemas.openxmlformats.org/officeDocument/2006/relationships/oleObject" Target="/Users/admin/Desktop/&#20250;&#35758;&#26448;&#26009;/&#24635;&#21150;&#26376;&#25253;/26&#24180;&#33719;&#23458;&#26376;&#25253;/2601&#26376;&#25253;&#25968;&#25454;V2.xlsx" TargetMode="External"/></Relationships>
</file>

<file path=ppt/charts/_rels/chart24.xml.rels><?xml version="1.0" encoding="UTF-8" standalone="yes"?>
<Relationships xmlns="http://schemas.openxmlformats.org/package/2006/relationships"><Relationship Id="rId3" Type="http://schemas.microsoft.com/office/2011/relationships/chartColorStyle" Target="colors24.xml"/><Relationship Id="rId2" Type="http://schemas.microsoft.com/office/2011/relationships/chartStyle" Target="style24.xml"/><Relationship Id="rId1" Type="http://schemas.openxmlformats.org/officeDocument/2006/relationships/oleObject" Target="/Users/admin/Desktop/&#20250;&#35758;&#26448;&#26009;/&#24635;&#21150;&#26376;&#25253;/26&#24180;&#33719;&#23458;&#26376;&#25253;/2601&#26376;&#25253;&#25968;&#25454;V5.xlsx" TargetMode="External"/></Relationships>
</file>

<file path=ppt/charts/_rels/chart25.xml.rels><?xml version="1.0" encoding="UTF-8" standalone="yes"?>
<Relationships xmlns="http://schemas.openxmlformats.org/package/2006/relationships"><Relationship Id="rId3" Type="http://schemas.microsoft.com/office/2011/relationships/chartColorStyle" Target="colors25.xml"/><Relationship Id="rId2" Type="http://schemas.microsoft.com/office/2011/relationships/chartStyle" Target="style25.xml"/><Relationship Id="rId1" Type="http://schemas.openxmlformats.org/officeDocument/2006/relationships/oleObject" Target="/Users/admin/Desktop/&#20250;&#35758;&#26448;&#26009;/&#24635;&#21150;&#26376;&#25253;/26&#24180;&#33719;&#23458;&#26376;&#25253;/2601&#26376;&#25253;&#25968;&#25454;V5.xlsx" TargetMode="External"/></Relationships>
</file>

<file path=ppt/charts/_rels/chart26.xml.rels><?xml version="1.0" encoding="UTF-8" standalone="yes"?>
<Relationships xmlns="http://schemas.openxmlformats.org/package/2006/relationships"><Relationship Id="rId3" Type="http://schemas.microsoft.com/office/2011/relationships/chartColorStyle" Target="colors26.xml"/><Relationship Id="rId2" Type="http://schemas.microsoft.com/office/2011/relationships/chartStyle" Target="style26.xml"/><Relationship Id="rId1" Type="http://schemas.openxmlformats.org/officeDocument/2006/relationships/oleObject" Target="/Users/admin/Desktop/&#20250;&#35758;&#26448;&#26009;/&#24635;&#21150;&#26376;&#25253;/26&#24180;&#33719;&#23458;&#26376;&#25253;/2601&#26376;&#25253;&#25968;&#25454;&#20934;&#22791;(2).xlsx" TargetMode="External"/></Relationships>
</file>

<file path=ppt/charts/_rels/chart27.xml.rels><?xml version="1.0" encoding="UTF-8" standalone="yes"?>
<Relationships xmlns="http://schemas.openxmlformats.org/package/2006/relationships"><Relationship Id="rId3" Type="http://schemas.microsoft.com/office/2011/relationships/chartColorStyle" Target="colors27.xml"/><Relationship Id="rId2" Type="http://schemas.microsoft.com/office/2011/relationships/chartStyle" Target="style27.xml"/><Relationship Id="rId1" Type="http://schemas.openxmlformats.org/officeDocument/2006/relationships/oleObject" Target="/Users/admin/Desktop/&#20250;&#35758;&#26448;&#26009;/&#24635;&#21150;&#26376;&#25253;/26&#24180;&#33719;&#23458;&#26376;&#25253;/2601&#26376;&#25253;&#25968;&#25454;&#20934;&#22791;(2).xlsx" TargetMode="External"/></Relationships>
</file>

<file path=ppt/charts/_rels/chart28.xml.rels><?xml version="1.0" encoding="UTF-8" standalone="yes"?>
<Relationships xmlns="http://schemas.openxmlformats.org/package/2006/relationships"><Relationship Id="rId3" Type="http://schemas.microsoft.com/office/2011/relationships/chartColorStyle" Target="colors28.xml"/><Relationship Id="rId2" Type="http://schemas.microsoft.com/office/2011/relationships/chartStyle" Target="style28.xml"/><Relationship Id="rId1" Type="http://schemas.openxmlformats.org/officeDocument/2006/relationships/oleObject" Target="/Users/admin/Desktop/&#20250;&#35758;&#26448;&#26009;/&#24635;&#21150;&#26376;&#25253;/26&#24180;&#33719;&#23458;&#26376;&#25253;/2601&#26376;&#25253;&#25968;&#25454;&#20934;&#22791;(2).xlsx" TargetMode="External"/></Relationships>
</file>

<file path=ppt/charts/_rels/chart29.xml.rels><?xml version="1.0" encoding="UTF-8" standalone="yes"?>
<Relationships xmlns="http://schemas.openxmlformats.org/package/2006/relationships"><Relationship Id="rId3" Type="http://schemas.microsoft.com/office/2011/relationships/chartColorStyle" Target="colors29.xml"/><Relationship Id="rId2" Type="http://schemas.microsoft.com/office/2011/relationships/chartStyle" Target="style29.xml"/><Relationship Id="rId1" Type="http://schemas.openxmlformats.org/officeDocument/2006/relationships/oleObject" Target="/Users/admin/Desktop/&#20250;&#35758;&#26448;&#26009;/&#24635;&#21150;&#26376;&#25253;/26&#24180;&#33719;&#23458;&#26376;&#25253;/2601&#26376;&#25253;&#25968;&#25454;&#20934;&#22791;(2).xlsx" TargetMode="External"/></Relationships>
</file>

<file path=ppt/charts/_rels/chart30.xml.rels><?xml version="1.0" encoding="UTF-8" standalone="yes"?>
<Relationships xmlns="http://schemas.openxmlformats.org/package/2006/relationships"><Relationship Id="rId3" Type="http://schemas.microsoft.com/office/2011/relationships/chartColorStyle" Target="colors30.xml"/><Relationship Id="rId2" Type="http://schemas.microsoft.com/office/2011/relationships/chartStyle" Target="style30.xml"/><Relationship Id="rId1" Type="http://schemas.openxmlformats.org/officeDocument/2006/relationships/oleObject" Target="/Users/admin/Desktop/&#20250;&#35758;&#26448;&#26009;/&#24635;&#21150;&#26376;&#25253;/26&#24180;&#33719;&#23458;&#26376;&#25253;/2601&#26376;&#25253;&#25968;&#25454;&#20934;&#22791;(2).xlsx" TargetMode="External"/></Relationships>
</file>

<file path=ppt/charts/_rels/chart31.xml.rels><?xml version="1.0" encoding="UTF-8" standalone="yes"?>
<Relationships xmlns="http://schemas.openxmlformats.org/package/2006/relationships"><Relationship Id="rId3" Type="http://schemas.microsoft.com/office/2011/relationships/chartColorStyle" Target="colors31.xml"/><Relationship Id="rId2" Type="http://schemas.microsoft.com/office/2011/relationships/chartStyle" Target="style31.xml"/><Relationship Id="rId1" Type="http://schemas.openxmlformats.org/officeDocument/2006/relationships/oleObject" Target="/Users/admin/Desktop/&#20250;&#35758;&#26448;&#26009;/&#24635;&#21150;&#26376;&#25253;/26&#24180;&#33719;&#23458;&#26376;&#25253;/2601&#26376;&#25253;&#25968;&#25454;&#20934;&#22791;(2).xlsx" TargetMode="External"/></Relationships>
</file>

<file path=ppt/charts/_rels/chart32.xml.rels><?xml version="1.0" encoding="UTF-8" standalone="yes"?>
<Relationships xmlns="http://schemas.openxmlformats.org/package/2006/relationships"><Relationship Id="rId3" Type="http://schemas.microsoft.com/office/2011/relationships/chartColorStyle" Target="colors32.xml"/><Relationship Id="rId2" Type="http://schemas.microsoft.com/office/2011/relationships/chartStyle" Target="style32.xml"/><Relationship Id="rId1" Type="http://schemas.openxmlformats.org/officeDocument/2006/relationships/oleObject" Target="/Users/admin/Desktop/&#20250;&#35758;&#26448;&#26009;/&#24635;&#21150;&#26376;&#25253;/26&#24180;&#33719;&#23458;&#26376;&#25253;/2025Q4&#31454;&#24471;&#29575;&#24773;&#20917;.xlsx" TargetMode="External"/></Relationships>
</file>

<file path=ppt/charts/_rels/chart33.xml.rels><?xml version="1.0" encoding="UTF-8" standalone="yes"?>
<Relationships xmlns="http://schemas.openxmlformats.org/package/2006/relationships"><Relationship Id="rId3" Type="http://schemas.microsoft.com/office/2011/relationships/chartColorStyle" Target="colors33.xml"/><Relationship Id="rId2" Type="http://schemas.microsoft.com/office/2011/relationships/chartStyle" Target="style33.xml"/><Relationship Id="rId1" Type="http://schemas.openxmlformats.org/officeDocument/2006/relationships/oleObject" Target="/Users/admin/Desktop/&#20250;&#35758;&#26448;&#26009;/&#24635;&#21150;&#26376;&#25253;/26&#24180;&#33719;&#23458;&#26376;&#25253;/2025Q4&#31454;&#24471;&#29575;&#24773;&#20917;.xlsx" TargetMode="External"/></Relationships>
</file>

<file path=ppt/charts/_rels/chart34.xml.rels><?xml version="1.0" encoding="UTF-8" standalone="yes"?>
<Relationships xmlns="http://schemas.openxmlformats.org/package/2006/relationships"><Relationship Id="rId3" Type="http://schemas.microsoft.com/office/2011/relationships/chartColorStyle" Target="colors34.xml"/><Relationship Id="rId2" Type="http://schemas.microsoft.com/office/2011/relationships/chartStyle" Target="style34.xml"/><Relationship Id="rId1" Type="http://schemas.openxmlformats.org/officeDocument/2006/relationships/oleObject" Target="/Users/admin/Desktop/&#20250;&#35758;&#26448;&#26009;/&#24635;&#21150;&#26376;&#25253;/26&#24180;&#33719;&#23458;&#26376;&#25253;/2601&#26376;&#25253;&#25968;&#25454;&#20934;&#22791;(3).xlsx" TargetMode="External"/></Relationships>
</file>

<file path=ppt/charts/_rels/chart35.xml.rels><?xml version="1.0" encoding="UTF-8" standalone="yes"?>
<Relationships xmlns="http://schemas.openxmlformats.org/package/2006/relationships"><Relationship Id="rId3" Type="http://schemas.microsoft.com/office/2011/relationships/chartColorStyle" Target="colors35.xml"/><Relationship Id="rId2" Type="http://schemas.microsoft.com/office/2011/relationships/chartStyle" Target="style35.xml"/><Relationship Id="rId1" Type="http://schemas.openxmlformats.org/officeDocument/2006/relationships/oleObject" Target="/Users/admin/Desktop/&#20250;&#35758;&#26448;&#26009;/&#24635;&#21150;&#26376;&#25253;/26&#24180;&#33719;&#23458;&#26376;&#25253;/2601&#26376;&#25253;&#25968;&#25454;&#20934;&#22791;(3).xlsx" TargetMode="External"/></Relationships>
</file>

<file path=ppt/charts/_rels/chart36.xml.rels><?xml version="1.0" encoding="UTF-8" standalone="yes"?>
<Relationships xmlns="http://schemas.openxmlformats.org/package/2006/relationships"><Relationship Id="rId3" Type="http://schemas.microsoft.com/office/2011/relationships/chartColorStyle" Target="colors36.xml"/><Relationship Id="rId2" Type="http://schemas.microsoft.com/office/2011/relationships/chartStyle" Target="style36.xml"/><Relationship Id="rId1" Type="http://schemas.openxmlformats.org/officeDocument/2006/relationships/oleObject" Target="/Users/admin/Desktop/&#20250;&#35758;&#26448;&#26009;/&#24635;&#21150;&#26376;&#25253;/26&#24180;&#33719;&#23458;&#26376;&#25253;/2601&#26376;&#25253;&#25968;&#25454;&#20934;&#22791;(3).xlsx" TargetMode="External"/></Relationships>
</file>

<file path=ppt/charts/_rels/chart37.xml.rels><?xml version="1.0" encoding="UTF-8" standalone="yes"?>
<Relationships xmlns="http://schemas.openxmlformats.org/package/2006/relationships"><Relationship Id="rId3" Type="http://schemas.microsoft.com/office/2011/relationships/chartColorStyle" Target="colors37.xml"/><Relationship Id="rId2" Type="http://schemas.microsoft.com/office/2011/relationships/chartStyle" Target="style37.xml"/><Relationship Id="rId1" Type="http://schemas.openxmlformats.org/officeDocument/2006/relationships/oleObject" Target="/Users/admin/Desktop/&#20250;&#35758;&#26448;&#26009;/&#24635;&#21150;&#26376;&#25253;/26&#24180;&#33719;&#23458;&#26376;&#25253;/&#31454;&#24471;&#29575;&#20108;&#32500;vs&#21333;&#32500;.xlsx" TargetMode="External"/></Relationships>
</file>

<file path=ppt/charts/_rels/chart38.xml.rels><?xml version="1.0" encoding="UTF-8" standalone="yes"?>
<Relationships xmlns="http://schemas.openxmlformats.org/package/2006/relationships"><Relationship Id="rId3" Type="http://schemas.microsoft.com/office/2011/relationships/chartColorStyle" Target="colors38.xml"/><Relationship Id="rId2" Type="http://schemas.microsoft.com/office/2011/relationships/chartStyle" Target="style38.xml"/><Relationship Id="rId1" Type="http://schemas.openxmlformats.org/officeDocument/2006/relationships/oleObject" Target="/Users/admin/Desktop/&#20250;&#35758;&#26448;&#26009;/&#24635;&#21150;&#26376;&#25253;/26&#24180;&#33719;&#23458;&#26376;&#25253;/2601&#26376;&#25253;&#25968;&#25454;&#20934;&#22791;(3).xlsx" TargetMode="External"/></Relationships>
</file>

<file path=ppt/charts/_rels/chart39.xml.rels><?xml version="1.0" encoding="UTF-8" standalone="yes"?>
<Relationships xmlns="http://schemas.openxmlformats.org/package/2006/relationships"><Relationship Id="rId3" Type="http://schemas.microsoft.com/office/2011/relationships/chartColorStyle" Target="colors39.xml"/><Relationship Id="rId2" Type="http://schemas.microsoft.com/office/2011/relationships/chartStyle" Target="style39.xml"/><Relationship Id="rId1" Type="http://schemas.openxmlformats.org/officeDocument/2006/relationships/oleObject" Target="/Users/admin/Desktop/&#20250;&#35758;&#26448;&#26009;/&#24635;&#21150;&#26376;&#25253;/26&#24180;&#33719;&#23458;&#26376;&#25253;/2601&#26376;&#25253;&#25968;&#25454;&#20934;&#22791;(3).xlsx" TargetMode="External"/></Relationships>
</file>

<file path=ppt/charts/_rels/chart40.xml.rels><?xml version="1.0" encoding="UTF-8" standalone="yes"?>
<Relationships xmlns="http://schemas.openxmlformats.org/package/2006/relationships"><Relationship Id="rId3" Type="http://schemas.microsoft.com/office/2011/relationships/chartColorStyle" Target="colors40.xml"/><Relationship Id="rId2" Type="http://schemas.microsoft.com/office/2011/relationships/chartStyle" Target="style40.xml"/><Relationship Id="rId1" Type="http://schemas.openxmlformats.org/officeDocument/2006/relationships/oleObject" Target="/Users/admin/Desktop/&#20250;&#35758;&#26448;&#26009;/&#24635;&#21150;&#26376;&#25253;/26&#24180;&#33719;&#23458;&#26376;&#25253;/20260116_&#33150;&#35759;RTAV9&#31574;&#30053;&#24320;&#21457;_&#26519;&#31119;&#27665;.xlsx" TargetMode="External"/></Relationships>
</file>

<file path=ppt/charts/_rels/chart41.xml.rels><?xml version="1.0" encoding="UTF-8" standalone="yes"?>
<Relationships xmlns="http://schemas.openxmlformats.org/package/2006/relationships"><Relationship Id="rId3" Type="http://schemas.microsoft.com/office/2011/relationships/chartColorStyle" Target="colors41.xml"/><Relationship Id="rId2" Type="http://schemas.microsoft.com/office/2011/relationships/chartStyle" Target="style41.xml"/><Relationship Id="rId1" Type="http://schemas.openxmlformats.org/officeDocument/2006/relationships/oleObject" Target="/Users/admin/Desktop/&#20250;&#35758;&#26448;&#26009;/&#23450;&#26399;&#25253;&#21578;/2025&#24180;&#36848;&#32844;&#25253;&#21578;/&#24037;&#20316;&#36848;&#32844;/&#37096;&#38376;&#36127;&#36131;&#20154;&#36716;&#27491;&#36848;&#32844;/20260116_&#33150;&#35759;RTAV9&#31574;&#30053;&#24320;&#21457;_&#26519;&#31119;&#27665;.xlsx" TargetMode="External"/></Relationships>
</file>

<file path=ppt/charts/_rels/chart42.xml.rels><?xml version="1.0" encoding="UTF-8" standalone="yes"?>
<Relationships xmlns="http://schemas.openxmlformats.org/package/2006/relationships"><Relationship Id="rId3" Type="http://schemas.microsoft.com/office/2011/relationships/chartColorStyle" Target="colors42.xml"/><Relationship Id="rId2" Type="http://schemas.microsoft.com/office/2011/relationships/chartStyle" Target="style42.xml"/><Relationship Id="rId1" Type="http://schemas.openxmlformats.org/officeDocument/2006/relationships/oleObject" Target="/Users/admin/Desktop/&#20250;&#35758;&#26448;&#26009;/&#23450;&#26399;&#25253;&#21578;/2025&#24180;&#36848;&#32844;&#25253;&#21578;/&#24037;&#20316;&#36848;&#32844;/&#37096;&#38376;&#36127;&#36131;&#20154;&#36716;&#27491;&#36848;&#32844;/20260116_&#33150;&#35759;RTAV9&#31574;&#30053;&#24320;&#21457;_&#26519;&#31119;&#27665;.xlsx" TargetMode="External"/></Relationships>
</file>

<file path=ppt/charts/_rels/chart43.xml.rels><?xml version="1.0" encoding="UTF-8" standalone="yes"?>
<Relationships xmlns="http://schemas.openxmlformats.org/package/2006/relationships"><Relationship Id="rId3" Type="http://schemas.microsoft.com/office/2011/relationships/chartColorStyle" Target="colors43.xml"/><Relationship Id="rId2" Type="http://schemas.microsoft.com/office/2011/relationships/chartStyle" Target="style43.xml"/><Relationship Id="rId1" Type="http://schemas.openxmlformats.org/officeDocument/2006/relationships/oleObject" Target="/Users/admin/Desktop/&#20250;&#35758;&#26448;&#26009;/&#23450;&#26399;&#25253;&#21578;/2025&#24180;&#36848;&#32844;&#25253;&#21578;/&#24037;&#20316;&#36848;&#32844;/&#37096;&#38376;&#36127;&#36131;&#20154;&#36716;&#27491;&#36848;&#32844;/20260116_&#33150;&#35759;RTAV9&#31574;&#30053;&#24320;&#21457;_&#26519;&#31119;&#27665;.xlsx" TargetMode="External"/></Relationships>
</file>

<file path=ppt/charts/_rels/chart44.xml.rels><?xml version="1.0" encoding="UTF-8" standalone="yes"?>
<Relationships xmlns="http://schemas.openxmlformats.org/package/2006/relationships"><Relationship Id="rId3" Type="http://schemas.microsoft.com/office/2011/relationships/chartColorStyle" Target="colors44.xml"/><Relationship Id="rId2" Type="http://schemas.microsoft.com/office/2011/relationships/chartStyle" Target="style44.xml"/><Relationship Id="rId1" Type="http://schemas.openxmlformats.org/officeDocument/2006/relationships/oleObject" Target="&#24037;&#20316;&#31807;1" TargetMode="External"/></Relationships>
</file>

<file path=ppt/charts/_rels/chart45.xml.rels><?xml version="1.0" encoding="UTF-8" standalone="yes"?>
<Relationships xmlns="http://schemas.openxmlformats.org/package/2006/relationships"><Relationship Id="rId3" Type="http://schemas.microsoft.com/office/2011/relationships/chartColorStyle" Target="colors45.xml"/><Relationship Id="rId2" Type="http://schemas.microsoft.com/office/2011/relationships/chartStyle" Target="style45.xml"/><Relationship Id="rId1" Type="http://schemas.openxmlformats.org/officeDocument/2006/relationships/oleObject" Target="&#24037;&#20316;&#31807;1" TargetMode="External"/></Relationships>
</file>

<file path=ppt/charts/_rels/chart46.xml.rels><?xml version="1.0" encoding="UTF-8" standalone="yes"?>
<Relationships xmlns="http://schemas.openxmlformats.org/package/2006/relationships"><Relationship Id="rId3" Type="http://schemas.microsoft.com/office/2011/relationships/chartColorStyle" Target="colors46.xml"/><Relationship Id="rId2" Type="http://schemas.microsoft.com/office/2011/relationships/chartStyle" Target="style46.xml"/><Relationship Id="rId1" Type="http://schemas.openxmlformats.org/officeDocument/2006/relationships/oleObject" Target="&#24037;&#20316;&#31807;1" TargetMode="External"/></Relationships>
</file>

<file path=ppt/charts/_rels/chart47.xml.rels><?xml version="1.0" encoding="UTF-8" standalone="yes"?>
<Relationships xmlns="http://schemas.openxmlformats.org/package/2006/relationships"><Relationship Id="rId3" Type="http://schemas.microsoft.com/office/2011/relationships/chartColorStyle" Target="colors47.xml"/><Relationship Id="rId2" Type="http://schemas.microsoft.com/office/2011/relationships/chartStyle" Target="style47.xml"/><Relationship Id="rId1" Type="http://schemas.openxmlformats.org/officeDocument/2006/relationships/oleObject" Target="&#24037;&#20316;&#31807;1" TargetMode="External"/></Relationships>
</file>

<file path=ppt/charts/_rels/chart48.xml.rels><?xml version="1.0" encoding="UTF-8" standalone="yes"?>
<Relationships xmlns="http://schemas.openxmlformats.org/package/2006/relationships"><Relationship Id="rId3" Type="http://schemas.microsoft.com/office/2011/relationships/chartColorStyle" Target="colors48.xml"/><Relationship Id="rId2" Type="http://schemas.microsoft.com/office/2011/relationships/chartStyle" Target="style48.xml"/><Relationship Id="rId1" Type="http://schemas.openxmlformats.org/officeDocument/2006/relationships/oleObject" Target="&#24037;&#20316;&#31807;1" TargetMode="External"/></Relationships>
</file>

<file path=ppt/charts/_rels/chart49.xml.rels><?xml version="1.0" encoding="UTF-8" standalone="yes"?>
<Relationships xmlns="http://schemas.openxmlformats.org/package/2006/relationships"><Relationship Id="rId3" Type="http://schemas.microsoft.com/office/2011/relationships/chartColorStyle" Target="colors49.xml"/><Relationship Id="rId2" Type="http://schemas.microsoft.com/office/2011/relationships/chartStyle" Target="style49.xml"/><Relationship Id="rId1" Type="http://schemas.openxmlformats.org/officeDocument/2006/relationships/oleObject" Target="/Users/admin/Desktop/&#20250;&#35758;&#26448;&#26009;/&#24635;&#21150;&#26376;&#25253;/26&#24180;&#33719;&#23458;&#26376;&#25253;/&#25238;&#38899;_RTA_v9&#31574;&#30053;&#24320;&#21457;_&#36158;&#23439;&#25996;_20260106.xlsx" TargetMode="External"/></Relationships>
</file>

<file path=ppt/charts/_rels/chart50.xml.rels><?xml version="1.0" encoding="UTF-8" standalone="yes"?>
<Relationships xmlns="http://schemas.openxmlformats.org/package/2006/relationships"><Relationship Id="rId3" Type="http://schemas.microsoft.com/office/2011/relationships/chartColorStyle" Target="colors50.xml"/><Relationship Id="rId2" Type="http://schemas.microsoft.com/office/2011/relationships/chartStyle" Target="style50.xml"/><Relationship Id="rId1" Type="http://schemas.openxmlformats.org/officeDocument/2006/relationships/oleObject" Target="/Users/admin/Desktop/&#20250;&#35758;&#26448;&#26009;/&#24635;&#21150;&#26376;&#25253;/26&#24180;&#33719;&#23458;&#26376;&#25253;/&#25238;&#38899;_RTA_v9&#31574;&#30053;&#24320;&#21457;_&#36158;&#23439;&#25996;_20260106.xlsx" TargetMode="External"/></Relationships>
</file>

<file path=ppt/charts/_rels/chart51.xml.rels><?xml version="1.0" encoding="UTF-8" standalone="yes"?>
<Relationships xmlns="http://schemas.openxmlformats.org/package/2006/relationships"><Relationship Id="rId3" Type="http://schemas.microsoft.com/office/2011/relationships/chartColorStyle" Target="colors51.xml"/><Relationship Id="rId2" Type="http://schemas.microsoft.com/office/2011/relationships/chartStyle" Target="style51.xml"/><Relationship Id="rId1" Type="http://schemas.openxmlformats.org/officeDocument/2006/relationships/oleObject" Target="&#24037;&#20316;&#31807;1" TargetMode="External"/></Relationships>
</file>

<file path=ppt/charts/_rels/chart52.xml.rels><?xml version="1.0" encoding="UTF-8" standalone="yes"?>
<Relationships xmlns="http://schemas.openxmlformats.org/package/2006/relationships"><Relationship Id="rId3" Type="http://schemas.microsoft.com/office/2011/relationships/chartColorStyle" Target="colors52.xml"/><Relationship Id="rId2" Type="http://schemas.microsoft.com/office/2011/relationships/chartStyle" Target="style52.xml"/><Relationship Id="rId1" Type="http://schemas.openxmlformats.org/officeDocument/2006/relationships/oleObject" Target="/Users/admin/Desktop/&#20250;&#35758;&#26448;&#26009;/&#24635;&#21150;&#26376;&#25253;/26&#24180;&#33719;&#23458;&#26376;&#25253;/&#25238;&#38899;_RTA_v9&#31574;&#30053;&#24320;&#21457;_&#36158;&#23439;&#25996;_20260106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304587155963303"/>
          <c:y val="0.0465116279069767"/>
          <c:w val="0.945273749630068"/>
          <c:h val="0.75589852008456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'[1月月报数据-0129.xlsx]1.达成'!$C$39</c:f>
              <c:strCache>
                <c:ptCount val="1"/>
                <c:pt idx="0">
                  <c:v>月目标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  <a:sym typeface="华文楷体" panose="02010600040101010101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'[1月月报数据-0129.xlsx]1.达成'!$B$40:$B$45</c:f>
              <c:strCache>
                <c:ptCount val="6"/>
                <c:pt idx="0">
                  <c:v>抖音</c:v>
                </c:pt>
                <c:pt idx="1">
                  <c:v>腾讯</c:v>
                </c:pt>
                <c:pt idx="2">
                  <c:v>精准营销</c:v>
                </c:pt>
                <c:pt idx="3">
                  <c:v>付费商店</c:v>
                </c:pt>
                <c:pt idx="4">
                  <c:v>免费</c:v>
                </c:pt>
                <c:pt idx="5">
                  <c:v>全渠道</c:v>
                </c:pt>
              </c:strCache>
            </c:strRef>
          </c:cat>
          <c:val>
            <c:numRef>
              <c:f>'[1月月报数据-0129.xlsx]1.达成'!$C$40:$C$45</c:f>
              <c:numCache>
                <c:formatCode>0.0%</c:formatCode>
                <c:ptCount val="6"/>
                <c:pt idx="0">
                  <c:v>0.2</c:v>
                </c:pt>
                <c:pt idx="1">
                  <c:v>0.2</c:v>
                </c:pt>
                <c:pt idx="2">
                  <c:v>0.15</c:v>
                </c:pt>
                <c:pt idx="3">
                  <c:v>0.065</c:v>
                </c:pt>
                <c:pt idx="4">
                  <c:v>0.0248</c:v>
                </c:pt>
                <c:pt idx="5">
                  <c:v>0.0918500186410039</c:v>
                </c:pt>
              </c:numCache>
            </c:numRef>
          </c:val>
        </c:ser>
        <c:ser>
          <c:idx val="1"/>
          <c:order val="1"/>
          <c:tx>
            <c:strRef>
              <c:f>'[1月月报数据-0129.xlsx]1.达成'!$D$39</c:f>
              <c:strCache>
                <c:ptCount val="1"/>
                <c:pt idx="0">
                  <c:v>达成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  <a:sym typeface="华文楷体" panose="02010600040101010101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'[1月月报数据-0129.xlsx]1.达成'!$B$40:$B$45</c:f>
              <c:strCache>
                <c:ptCount val="6"/>
                <c:pt idx="0">
                  <c:v>抖音</c:v>
                </c:pt>
                <c:pt idx="1">
                  <c:v>腾讯</c:v>
                </c:pt>
                <c:pt idx="2">
                  <c:v>精准营销</c:v>
                </c:pt>
                <c:pt idx="3">
                  <c:v>付费商店</c:v>
                </c:pt>
                <c:pt idx="4">
                  <c:v>免费</c:v>
                </c:pt>
                <c:pt idx="5">
                  <c:v>全渠道</c:v>
                </c:pt>
              </c:strCache>
            </c:strRef>
          </c:cat>
          <c:val>
            <c:numRef>
              <c:f>'[1月月报数据-0129.xlsx]1.达成'!$D$40:$D$45</c:f>
              <c:numCache>
                <c:formatCode>0.0%</c:formatCode>
                <c:ptCount val="6"/>
                <c:pt idx="0">
                  <c:v>0.187</c:v>
                </c:pt>
                <c:pt idx="1">
                  <c:v>0.2045</c:v>
                </c:pt>
                <c:pt idx="2">
                  <c:v>0.1587</c:v>
                </c:pt>
                <c:pt idx="3">
                  <c:v>0.0702</c:v>
                </c:pt>
                <c:pt idx="4">
                  <c:v>0.0216</c:v>
                </c:pt>
                <c:pt idx="5">
                  <c:v>0.079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46"/>
        <c:overlap val="-28"/>
        <c:axId val="961636264"/>
        <c:axId val="448627476"/>
      </c:barChart>
      <c:lineChart>
        <c:grouping val="standard"/>
        <c:varyColors val="0"/>
        <c:ser>
          <c:idx val="2"/>
          <c:order val="2"/>
          <c:tx>
            <c:strRef>
              <c:f>'[1月月报数据-0129.xlsx]1.达成'!$E$39</c:f>
              <c:strCache>
                <c:ptCount val="1"/>
                <c:pt idx="0">
                  <c:v>相对变动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  <a:sym typeface="华文楷体" panose="02010600040101010101" charset="-122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'[1月月报数据-0129.xlsx]1.达成'!$B$40:$B$45</c:f>
              <c:strCache>
                <c:ptCount val="6"/>
                <c:pt idx="0">
                  <c:v>抖音</c:v>
                </c:pt>
                <c:pt idx="1">
                  <c:v>腾讯</c:v>
                </c:pt>
                <c:pt idx="2">
                  <c:v>精准营销</c:v>
                </c:pt>
                <c:pt idx="3">
                  <c:v>付费商店</c:v>
                </c:pt>
                <c:pt idx="4">
                  <c:v>免费</c:v>
                </c:pt>
                <c:pt idx="5">
                  <c:v>全渠道</c:v>
                </c:pt>
              </c:strCache>
            </c:strRef>
          </c:cat>
          <c:val>
            <c:numRef>
              <c:f>'[1月月报数据-0129.xlsx]1.达成'!$E$40:$E$45</c:f>
              <c:numCache>
                <c:formatCode>0.0%</c:formatCode>
                <c:ptCount val="6"/>
                <c:pt idx="0">
                  <c:v>-0.0650000000000001</c:v>
                </c:pt>
                <c:pt idx="1">
                  <c:v>0.0225</c:v>
                </c:pt>
                <c:pt idx="2">
                  <c:v>0.0579999999999998</c:v>
                </c:pt>
                <c:pt idx="3">
                  <c:v>0.0799999999999998</c:v>
                </c:pt>
                <c:pt idx="4">
                  <c:v>-0.129032258064516</c:v>
                </c:pt>
                <c:pt idx="5">
                  <c:v>-0.139902188710796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0"/>
        <c:smooth val="0"/>
        <c:axId val="239690987"/>
        <c:axId val="928195085"/>
      </c:lineChart>
      <c:catAx>
        <c:axId val="96163626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448627476"/>
        <c:crosses val="autoZero"/>
        <c:auto val="1"/>
        <c:lblAlgn val="ctr"/>
        <c:lblOffset val="100"/>
        <c:noMultiLvlLbl val="0"/>
      </c:catAx>
      <c:valAx>
        <c:axId val="448627476"/>
        <c:scaling>
          <c:orientation val="minMax"/>
        </c:scaling>
        <c:delete val="0"/>
        <c:axPos val="l"/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961636264"/>
        <c:crosses val="autoZero"/>
        <c:crossBetween val="between"/>
      </c:valAx>
      <c:catAx>
        <c:axId val="239690987"/>
        <c:scaling>
          <c:orientation val="minMax"/>
        </c:scaling>
        <c:delete val="1"/>
        <c:axPos val="b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928195085"/>
        <c:crossesAt val="0"/>
        <c:auto val="1"/>
        <c:lblAlgn val="ctr"/>
        <c:lblOffset val="100"/>
        <c:noMultiLvlLbl val="0"/>
      </c:catAx>
      <c:valAx>
        <c:axId val="928195085"/>
        <c:scaling>
          <c:orientation val="minMax"/>
          <c:max val="0.5"/>
          <c:min val="-0.5"/>
        </c:scaling>
        <c:delete val="0"/>
        <c:axPos val="r"/>
        <c:numFmt formatCode="0.0%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239690987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华文楷体" panose="02010600040101010101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9119986e-6114-41b7-8ee0-1e6f407c2a3e}"/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lang="zh-CN">
          <a:latin typeface="华文楷体" panose="02010600040101010101" charset="-122"/>
          <a:ea typeface="华文楷体" panose="02010600040101010101" charset="-122"/>
          <a:cs typeface="华文楷体" panose="02010600040101010101" charset="-122"/>
          <a:sym typeface="华文楷体" panose="02010600040101010101" charset="-122"/>
        </a:defRPr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'[1月月报数据-0129.xlsx]1.达成'!$I$39</c:f>
              <c:strCache>
                <c:ptCount val="1"/>
                <c:pt idx="0">
                  <c:v>1月达成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  <a:sym typeface="华文楷体" panose="02010600040101010101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'[1月月报数据-0129.xlsx]1.达成'!$H$40:$H$45</c:f>
              <c:strCache>
                <c:ptCount val="6"/>
                <c:pt idx="0">
                  <c:v>抖音</c:v>
                </c:pt>
                <c:pt idx="1">
                  <c:v>腾讯</c:v>
                </c:pt>
                <c:pt idx="2">
                  <c:v>精准营销</c:v>
                </c:pt>
                <c:pt idx="3">
                  <c:v>付费商店</c:v>
                </c:pt>
                <c:pt idx="4">
                  <c:v>免费</c:v>
                </c:pt>
                <c:pt idx="5">
                  <c:v>全渠道</c:v>
                </c:pt>
              </c:strCache>
            </c:strRef>
          </c:cat>
          <c:val>
            <c:numRef>
              <c:f>'[1月月报数据-0129.xlsx]1.达成'!$I$40:$I$45</c:f>
              <c:numCache>
                <c:formatCode>0.0%</c:formatCode>
                <c:ptCount val="6"/>
                <c:pt idx="0">
                  <c:v>0.187</c:v>
                </c:pt>
                <c:pt idx="1">
                  <c:v>0.2045</c:v>
                </c:pt>
                <c:pt idx="2">
                  <c:v>0.1587</c:v>
                </c:pt>
                <c:pt idx="3">
                  <c:v>0.0702</c:v>
                </c:pt>
                <c:pt idx="4">
                  <c:v>0.0216</c:v>
                </c:pt>
                <c:pt idx="5">
                  <c:v>0.079</c:v>
                </c:pt>
              </c:numCache>
            </c:numRef>
          </c:val>
        </c:ser>
        <c:ser>
          <c:idx val="1"/>
          <c:order val="1"/>
          <c:tx>
            <c:strRef>
              <c:f>'[1月月报数据-0129.xlsx]1.达成'!$J$39</c:f>
              <c:strCache>
                <c:ptCount val="1"/>
                <c:pt idx="0">
                  <c:v>2月目标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  <a:sym typeface="华文楷体" panose="02010600040101010101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'[1月月报数据-0129.xlsx]1.达成'!$H$40:$H$45</c:f>
              <c:strCache>
                <c:ptCount val="6"/>
                <c:pt idx="0">
                  <c:v>抖音</c:v>
                </c:pt>
                <c:pt idx="1">
                  <c:v>腾讯</c:v>
                </c:pt>
                <c:pt idx="2">
                  <c:v>精准营销</c:v>
                </c:pt>
                <c:pt idx="3">
                  <c:v>付费商店</c:v>
                </c:pt>
                <c:pt idx="4">
                  <c:v>免费</c:v>
                </c:pt>
                <c:pt idx="5">
                  <c:v>全渠道</c:v>
                </c:pt>
              </c:strCache>
            </c:strRef>
          </c:cat>
          <c:val>
            <c:numRef>
              <c:f>'[1月月报数据-0129.xlsx]1.达成'!$J$40:$J$45</c:f>
              <c:numCache>
                <c:formatCode>0.0%</c:formatCode>
                <c:ptCount val="6"/>
                <c:pt idx="0">
                  <c:v>0.2</c:v>
                </c:pt>
                <c:pt idx="1">
                  <c:v>0.24</c:v>
                </c:pt>
                <c:pt idx="2">
                  <c:v>0.17</c:v>
                </c:pt>
                <c:pt idx="3">
                  <c:v>0.0702</c:v>
                </c:pt>
                <c:pt idx="4">
                  <c:v>0.02</c:v>
                </c:pt>
                <c:pt idx="5">
                  <c:v>0.09268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46"/>
        <c:overlap val="-28"/>
        <c:axId val="961636264"/>
        <c:axId val="448627476"/>
      </c:barChart>
      <c:lineChart>
        <c:grouping val="standard"/>
        <c:varyColors val="0"/>
        <c:ser>
          <c:idx val="2"/>
          <c:order val="2"/>
          <c:tx>
            <c:strRef>
              <c:f>'[1月月报数据-0129.xlsx]1.达成'!$K$39</c:f>
              <c:strCache>
                <c:ptCount val="1"/>
                <c:pt idx="0">
                  <c:v>相对变动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  <a:sym typeface="华文楷体" panose="02010600040101010101" charset="-122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'[1月月报数据-0129.xlsx]1.达成'!$H$40:$H$45</c:f>
              <c:strCache>
                <c:ptCount val="6"/>
                <c:pt idx="0">
                  <c:v>抖音</c:v>
                </c:pt>
                <c:pt idx="1">
                  <c:v>腾讯</c:v>
                </c:pt>
                <c:pt idx="2">
                  <c:v>精准营销</c:v>
                </c:pt>
                <c:pt idx="3">
                  <c:v>付费商店</c:v>
                </c:pt>
                <c:pt idx="4">
                  <c:v>免费</c:v>
                </c:pt>
                <c:pt idx="5">
                  <c:v>全渠道</c:v>
                </c:pt>
              </c:strCache>
            </c:strRef>
          </c:cat>
          <c:val>
            <c:numRef>
              <c:f>'[1月月报数据-0129.xlsx]1.达成'!$K$40:$K$45</c:f>
              <c:numCache>
                <c:formatCode>0.0%</c:formatCode>
                <c:ptCount val="6"/>
                <c:pt idx="0">
                  <c:v>0.0695187165775402</c:v>
                </c:pt>
                <c:pt idx="1">
                  <c:v>0.17359413202934</c:v>
                </c:pt>
                <c:pt idx="2">
                  <c:v>0.0712035286704473</c:v>
                </c:pt>
                <c:pt idx="3">
                  <c:v>0</c:v>
                </c:pt>
                <c:pt idx="4">
                  <c:v>-0.0740740740740741</c:v>
                </c:pt>
                <c:pt idx="5">
                  <c:v>0.173164556962025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0"/>
        <c:smooth val="0"/>
        <c:axId val="239690987"/>
        <c:axId val="928195085"/>
      </c:lineChart>
      <c:catAx>
        <c:axId val="96163626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448627476"/>
        <c:crosses val="autoZero"/>
        <c:auto val="1"/>
        <c:lblAlgn val="ctr"/>
        <c:lblOffset val="100"/>
        <c:noMultiLvlLbl val="0"/>
      </c:catAx>
      <c:valAx>
        <c:axId val="448627476"/>
        <c:scaling>
          <c:orientation val="minMax"/>
        </c:scaling>
        <c:delete val="0"/>
        <c:axPos val="l"/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961636264"/>
        <c:crosses val="autoZero"/>
        <c:crossBetween val="between"/>
      </c:valAx>
      <c:catAx>
        <c:axId val="239690987"/>
        <c:scaling>
          <c:orientation val="minMax"/>
        </c:scaling>
        <c:delete val="1"/>
        <c:axPos val="b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928195085"/>
        <c:crosses val="autoZero"/>
        <c:auto val="1"/>
        <c:lblAlgn val="ctr"/>
        <c:lblOffset val="100"/>
        <c:noMultiLvlLbl val="0"/>
      </c:catAx>
      <c:valAx>
        <c:axId val="928195085"/>
        <c:scaling>
          <c:orientation val="minMax"/>
          <c:max val="0.5"/>
          <c:min val="-0.5"/>
        </c:scaling>
        <c:delete val="0"/>
        <c:axPos val="r"/>
        <c:numFmt formatCode="0.0%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239690987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华文楷体" panose="02010600040101010101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f20d457e-1ee9-4262-b38f-a28c26fd4632}"/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lang="zh-CN">
          <a:latin typeface="华文楷体" panose="02010600040101010101" charset="-122"/>
          <a:ea typeface="华文楷体" panose="02010600040101010101" charset="-122"/>
          <a:cs typeface="华文楷体" panose="02010600040101010101" charset="-122"/>
          <a:sym typeface="华文楷体" panose="02010600040101010101" charset="-122"/>
        </a:defRPr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  <a:r>
              <a:rPr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rPr>
              <a:t>首借交易额</a:t>
            </a:r>
            <a:r>
              <a:rPr lang="en-US" altLang="zh-CN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rPr>
              <a:t>-24H</a:t>
            </a:r>
            <a:endParaRPr lang="en-US" altLang="zh-CN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华文楷体" panose="02010600040101010101" charset="-122"/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0190355329949239"/>
          <c:y val="0.0508870856828497"/>
          <c:w val="0.972196585140748"/>
          <c:h val="0.82758905239994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'[1月月报数据-0129.xlsx]2.大盘数据'!$B$15</c:f>
              <c:strCache>
                <c:ptCount val="1"/>
                <c:pt idx="0">
                  <c:v>当月首登M0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  <a:sym typeface="华文楷体" panose="02010600040101010101" charset="-122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extLst>
                <c:ext xmlns:c15="http://schemas.microsoft.com/office/drawing/2012/chart" uri="{02D57815-91ED-43cb-92C2-25804820EDAC}">
                  <c15:fullRef>
                    <c15:sqref>'[1月月报数据-0129.xlsx]2.大盘数据'!$C$14:$X$14</c15:sqref>
                  </c15:fullRef>
                </c:ext>
              </c:extLst>
              <c:f>'[1月月报数据-0129.xlsx]2.大盘数据'!$L$14:$X$14</c:f>
              <c:numCache>
                <c:formatCode>mmm\-yy</c:formatCode>
                <c:ptCount val="13"/>
                <c:pt idx="0" c:formatCode="mmm\-yy">
                  <c:v>45658</c:v>
                </c:pt>
                <c:pt idx="1" c:formatCode="mmm\-yy">
                  <c:v>45689</c:v>
                </c:pt>
                <c:pt idx="2" c:formatCode="mmm\-yy">
                  <c:v>45717</c:v>
                </c:pt>
                <c:pt idx="3" c:formatCode="mmm\-yy">
                  <c:v>45748</c:v>
                </c:pt>
                <c:pt idx="4" c:formatCode="mmm\-yy">
                  <c:v>45778</c:v>
                </c:pt>
                <c:pt idx="5" c:formatCode="mmm\-yy">
                  <c:v>45809</c:v>
                </c:pt>
                <c:pt idx="6" c:formatCode="mmm\-yy">
                  <c:v>45839</c:v>
                </c:pt>
                <c:pt idx="7" c:formatCode="mmm\-yy">
                  <c:v>45870</c:v>
                </c:pt>
                <c:pt idx="8" c:formatCode="mmm\-yy">
                  <c:v>45901</c:v>
                </c:pt>
                <c:pt idx="9" c:formatCode="mmm\-yy">
                  <c:v>45931</c:v>
                </c:pt>
                <c:pt idx="10" c:formatCode="mmm\-yy">
                  <c:v>45962</c:v>
                </c:pt>
                <c:pt idx="11" c:formatCode="mmm\-yy">
                  <c:v>45992</c:v>
                </c:pt>
                <c:pt idx="12" c:formatCode="mmm\-yy">
                  <c:v>46023</c:v>
                </c:pt>
              </c:numCache>
            </c:numRef>
          </c:cat>
          <c:val>
            <c:numRef>
              <c:extLst>
                <c:ext xmlns:c15="http://schemas.microsoft.com/office/drawing/2012/chart" uri="{02D57815-91ED-43cb-92C2-25804820EDAC}">
                  <c15:fullRef>
                    <c15:sqref>'2.大盘数据'!$C$15:$X$15</c15:sqref>
                  </c15:fullRef>
                </c:ext>
              </c:extLst>
              <c:f>'[1月月报数据-0129.xlsx]2.大盘数据'!$L$15:$X$15</c:f>
              <c:numCache>
                <c:formatCode>0"."00,,"亿"</c:formatCode>
                <c:ptCount val="13"/>
                <c:pt idx="0">
                  <c:v>900139442.28</c:v>
                </c:pt>
                <c:pt idx="1">
                  <c:v>534939954.59</c:v>
                </c:pt>
                <c:pt idx="2">
                  <c:v>544347059.65</c:v>
                </c:pt>
                <c:pt idx="3">
                  <c:v>588595897.68</c:v>
                </c:pt>
                <c:pt idx="4">
                  <c:v>721455224.3</c:v>
                </c:pt>
                <c:pt idx="5">
                  <c:v>777848415</c:v>
                </c:pt>
                <c:pt idx="6">
                  <c:v>679955345</c:v>
                </c:pt>
                <c:pt idx="7">
                  <c:v>816690295</c:v>
                </c:pt>
                <c:pt idx="8">
                  <c:v>823642200</c:v>
                </c:pt>
                <c:pt idx="9">
                  <c:v>627222400</c:v>
                </c:pt>
                <c:pt idx="10">
                  <c:v>497369200</c:v>
                </c:pt>
                <c:pt idx="11">
                  <c:v>409540900</c:v>
                </c:pt>
                <c:pt idx="12">
                  <c:v>381784300</c:v>
                </c:pt>
              </c:numCache>
            </c:numRef>
          </c:val>
        </c:ser>
        <c:ser>
          <c:idx val="1"/>
          <c:order val="1"/>
          <c:tx>
            <c:strRef>
              <c:f>'[1月月报数据-0129.xlsx]2.大盘数据'!$B$16</c:f>
              <c:strCache>
                <c:ptCount val="1"/>
                <c:pt idx="0">
                  <c:v>存量首登M0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  <a:sym typeface="华文楷体" panose="02010600040101010101" charset="-122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extLst>
                <c:ext xmlns:c15="http://schemas.microsoft.com/office/drawing/2012/chart" uri="{02D57815-91ED-43cb-92C2-25804820EDAC}">
                  <c15:fullRef>
                    <c15:sqref>'[1月月报数据-0129.xlsx]2.大盘数据'!$C$14:$X$14</c15:sqref>
                  </c15:fullRef>
                </c:ext>
              </c:extLst>
              <c:f>'[1月月报数据-0129.xlsx]2.大盘数据'!$L$14:$X$14</c:f>
              <c:numCache>
                <c:formatCode>mmm\-yy</c:formatCode>
                <c:ptCount val="13"/>
                <c:pt idx="0" c:formatCode="mmm\-yy">
                  <c:v>45658</c:v>
                </c:pt>
                <c:pt idx="1" c:formatCode="mmm\-yy">
                  <c:v>45689</c:v>
                </c:pt>
                <c:pt idx="2" c:formatCode="mmm\-yy">
                  <c:v>45717</c:v>
                </c:pt>
                <c:pt idx="3" c:formatCode="mmm\-yy">
                  <c:v>45748</c:v>
                </c:pt>
                <c:pt idx="4" c:formatCode="mmm\-yy">
                  <c:v>45778</c:v>
                </c:pt>
                <c:pt idx="5" c:formatCode="mmm\-yy">
                  <c:v>45809</c:v>
                </c:pt>
                <c:pt idx="6" c:formatCode="mmm\-yy">
                  <c:v>45839</c:v>
                </c:pt>
                <c:pt idx="7" c:formatCode="mmm\-yy">
                  <c:v>45870</c:v>
                </c:pt>
                <c:pt idx="8" c:formatCode="mmm\-yy">
                  <c:v>45901</c:v>
                </c:pt>
                <c:pt idx="9" c:formatCode="mmm\-yy">
                  <c:v>45931</c:v>
                </c:pt>
                <c:pt idx="10" c:formatCode="mmm\-yy">
                  <c:v>45962</c:v>
                </c:pt>
                <c:pt idx="11" c:formatCode="mmm\-yy">
                  <c:v>45992</c:v>
                </c:pt>
                <c:pt idx="12" c:formatCode="mmm\-yy">
                  <c:v>46023</c:v>
                </c:pt>
              </c:numCache>
            </c:numRef>
          </c:cat>
          <c:val>
            <c:numRef>
              <c:extLst>
                <c:ext xmlns:c15="http://schemas.microsoft.com/office/drawing/2012/chart" uri="{02D57815-91ED-43cb-92C2-25804820EDAC}">
                  <c15:fullRef>
                    <c15:sqref>'2.大盘数据'!$C$16:$X$16</c15:sqref>
                  </c15:fullRef>
                </c:ext>
              </c:extLst>
              <c:f>'[1月月报数据-0129.xlsx]2.大盘数据'!$L$16:$X$16</c:f>
              <c:numCache>
                <c:formatCode>0"."00,,"亿"</c:formatCode>
                <c:ptCount val="13"/>
                <c:pt idx="0">
                  <c:v>250285010.59</c:v>
                </c:pt>
                <c:pt idx="1">
                  <c:v>158969517.89</c:v>
                </c:pt>
                <c:pt idx="2">
                  <c:v>163741791.17</c:v>
                </c:pt>
                <c:pt idx="3">
                  <c:v>164417147.43</c:v>
                </c:pt>
                <c:pt idx="4">
                  <c:v>196812901.6</c:v>
                </c:pt>
                <c:pt idx="5">
                  <c:v>213125261.06</c:v>
                </c:pt>
                <c:pt idx="6">
                  <c:v>185716349.99</c:v>
                </c:pt>
                <c:pt idx="7">
                  <c:v>212741129.76</c:v>
                </c:pt>
                <c:pt idx="8">
                  <c:v>232657939.71</c:v>
                </c:pt>
                <c:pt idx="9">
                  <c:v>181593300</c:v>
                </c:pt>
                <c:pt idx="10">
                  <c:v>143930800</c:v>
                </c:pt>
                <c:pt idx="11">
                  <c:v>120550700</c:v>
                </c:pt>
                <c:pt idx="12">
                  <c:v>105323400</c:v>
                </c:pt>
              </c:numCache>
            </c:numRef>
          </c:val>
        </c:ser>
        <c:ser>
          <c:idx val="2"/>
          <c:order val="2"/>
          <c:tx>
            <c:strRef>
              <c:f>'[1月月报数据-0129.xlsx]2.大盘数据'!$B$17</c:f>
              <c:strCache>
                <c:ptCount val="1"/>
                <c:pt idx="0">
                  <c:v>初审M1+</c:v>
                </c:pt>
              </c:strCache>
            </c:strRef>
          </c:tx>
          <c:spPr>
            <a:solidFill>
              <a:schemeClr val="accent3"/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  <a:sym typeface="华文楷体" panose="02010600040101010101" charset="-122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extLst>
                <c:ext xmlns:c15="http://schemas.microsoft.com/office/drawing/2012/chart" uri="{02D57815-91ED-43cb-92C2-25804820EDAC}">
                  <c15:fullRef>
                    <c15:sqref>'[1月月报数据-0129.xlsx]2.大盘数据'!$C$14:$X$14</c15:sqref>
                  </c15:fullRef>
                </c:ext>
              </c:extLst>
              <c:f>'[1月月报数据-0129.xlsx]2.大盘数据'!$L$14:$X$14</c:f>
              <c:numCache>
                <c:formatCode>mmm\-yy</c:formatCode>
                <c:ptCount val="13"/>
                <c:pt idx="0" c:formatCode="mmm\-yy">
                  <c:v>45658</c:v>
                </c:pt>
                <c:pt idx="1" c:formatCode="mmm\-yy">
                  <c:v>45689</c:v>
                </c:pt>
                <c:pt idx="2" c:formatCode="mmm\-yy">
                  <c:v>45717</c:v>
                </c:pt>
                <c:pt idx="3" c:formatCode="mmm\-yy">
                  <c:v>45748</c:v>
                </c:pt>
                <c:pt idx="4" c:formatCode="mmm\-yy">
                  <c:v>45778</c:v>
                </c:pt>
                <c:pt idx="5" c:formatCode="mmm\-yy">
                  <c:v>45809</c:v>
                </c:pt>
                <c:pt idx="6" c:formatCode="mmm\-yy">
                  <c:v>45839</c:v>
                </c:pt>
                <c:pt idx="7" c:formatCode="mmm\-yy">
                  <c:v>45870</c:v>
                </c:pt>
                <c:pt idx="8" c:formatCode="mmm\-yy">
                  <c:v>45901</c:v>
                </c:pt>
                <c:pt idx="9" c:formatCode="mmm\-yy">
                  <c:v>45931</c:v>
                </c:pt>
                <c:pt idx="10" c:formatCode="mmm\-yy">
                  <c:v>45962</c:v>
                </c:pt>
                <c:pt idx="11" c:formatCode="mmm\-yy">
                  <c:v>45992</c:v>
                </c:pt>
                <c:pt idx="12" c:formatCode="mmm\-yy">
                  <c:v>46023</c:v>
                </c:pt>
              </c:numCache>
            </c:numRef>
          </c:cat>
          <c:val>
            <c:numRef>
              <c:extLst>
                <c:ext xmlns:c15="http://schemas.microsoft.com/office/drawing/2012/chart" uri="{02D57815-91ED-43cb-92C2-25804820EDAC}">
                  <c15:fullRef>
                    <c15:sqref>'2.大盘数据'!$C$17:$X$17</c15:sqref>
                  </c15:fullRef>
                </c:ext>
              </c:extLst>
              <c:f>'[1月月报数据-0129.xlsx]2.大盘数据'!$L$17:$X$17</c:f>
              <c:numCache>
                <c:formatCode>0"."00,,"亿"</c:formatCode>
                <c:ptCount val="13"/>
                <c:pt idx="0">
                  <c:v>185056096.06</c:v>
                </c:pt>
                <c:pt idx="1">
                  <c:v>126574976.52</c:v>
                </c:pt>
                <c:pt idx="2">
                  <c:v>130670629.44</c:v>
                </c:pt>
                <c:pt idx="3">
                  <c:v>141460791.5</c:v>
                </c:pt>
                <c:pt idx="4">
                  <c:v>143749489.61</c:v>
                </c:pt>
                <c:pt idx="5">
                  <c:v>147762352.22</c:v>
                </c:pt>
                <c:pt idx="6">
                  <c:v>142597686.01</c:v>
                </c:pt>
                <c:pt idx="7">
                  <c:v>157507962.68</c:v>
                </c:pt>
                <c:pt idx="8">
                  <c:v>169398117.6</c:v>
                </c:pt>
                <c:pt idx="9">
                  <c:v>160428878.46</c:v>
                </c:pt>
                <c:pt idx="10">
                  <c:v>140473400</c:v>
                </c:pt>
                <c:pt idx="11">
                  <c:v>114509300</c:v>
                </c:pt>
                <c:pt idx="12">
                  <c:v>106317200</c:v>
                </c:pt>
              </c:numCache>
            </c:numRef>
          </c:val>
        </c:ser>
        <c:ser>
          <c:idx val="3"/>
          <c:order val="3"/>
          <c:tx>
            <c:strRef>
              <c:f>'[1月月报数据-0129.xlsx]2.大盘数据'!$B$18</c:f>
              <c:strCache>
                <c:ptCount val="1"/>
                <c:pt idx="0">
                  <c:v>非初审</c:v>
                </c:pt>
              </c:strCache>
            </c:strRef>
          </c:tx>
          <c:spPr>
            <a:solidFill>
              <a:schemeClr val="accent4"/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  <a:sym typeface="华文楷体" panose="02010600040101010101" charset="-122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extLst>
                <c:ext xmlns:c15="http://schemas.microsoft.com/office/drawing/2012/chart" uri="{02D57815-91ED-43cb-92C2-25804820EDAC}">
                  <c15:fullRef>
                    <c15:sqref>'[1月月报数据-0129.xlsx]2.大盘数据'!$C$14:$X$14</c15:sqref>
                  </c15:fullRef>
                </c:ext>
              </c:extLst>
              <c:f>'[1月月报数据-0129.xlsx]2.大盘数据'!$L$14:$X$14</c:f>
              <c:numCache>
                <c:formatCode>mmm\-yy</c:formatCode>
                <c:ptCount val="13"/>
                <c:pt idx="0" c:formatCode="mmm\-yy">
                  <c:v>45658</c:v>
                </c:pt>
                <c:pt idx="1" c:formatCode="mmm\-yy">
                  <c:v>45689</c:v>
                </c:pt>
                <c:pt idx="2" c:formatCode="mmm\-yy">
                  <c:v>45717</c:v>
                </c:pt>
                <c:pt idx="3" c:formatCode="mmm\-yy">
                  <c:v>45748</c:v>
                </c:pt>
                <c:pt idx="4" c:formatCode="mmm\-yy">
                  <c:v>45778</c:v>
                </c:pt>
                <c:pt idx="5" c:formatCode="mmm\-yy">
                  <c:v>45809</c:v>
                </c:pt>
                <c:pt idx="6" c:formatCode="mmm\-yy">
                  <c:v>45839</c:v>
                </c:pt>
                <c:pt idx="7" c:formatCode="mmm\-yy">
                  <c:v>45870</c:v>
                </c:pt>
                <c:pt idx="8" c:formatCode="mmm\-yy">
                  <c:v>45901</c:v>
                </c:pt>
                <c:pt idx="9" c:formatCode="mmm\-yy">
                  <c:v>45931</c:v>
                </c:pt>
                <c:pt idx="10" c:formatCode="mmm\-yy">
                  <c:v>45962</c:v>
                </c:pt>
                <c:pt idx="11" c:formatCode="mmm\-yy">
                  <c:v>45992</c:v>
                </c:pt>
                <c:pt idx="12" c:formatCode="mmm\-yy">
                  <c:v>46023</c:v>
                </c:pt>
              </c:numCache>
            </c:numRef>
          </c:cat>
          <c:val>
            <c:numRef>
              <c:extLst>
                <c:ext xmlns:c15="http://schemas.microsoft.com/office/drawing/2012/chart" uri="{02D57815-91ED-43cb-92C2-25804820EDAC}">
                  <c15:fullRef>
                    <c15:sqref>'2.大盘数据'!$C$18:$X$18</c15:sqref>
                  </c15:fullRef>
                </c:ext>
              </c:extLst>
              <c:f>'[1月月报数据-0129.xlsx]2.大盘数据'!$L$18:$X$18</c:f>
              <c:numCache>
                <c:formatCode>0"."00,,"亿"</c:formatCode>
                <c:ptCount val="13"/>
                <c:pt idx="0">
                  <c:v>121544073.3</c:v>
                </c:pt>
                <c:pt idx="1">
                  <c:v>121376441.86</c:v>
                </c:pt>
                <c:pt idx="2">
                  <c:v>194806955.81</c:v>
                </c:pt>
                <c:pt idx="3">
                  <c:v>187565417.53</c:v>
                </c:pt>
                <c:pt idx="4">
                  <c:v>144761249.42</c:v>
                </c:pt>
                <c:pt idx="5">
                  <c:v>132897697.35</c:v>
                </c:pt>
                <c:pt idx="6">
                  <c:v>86837418.78</c:v>
                </c:pt>
                <c:pt idx="7">
                  <c:v>90061126.54</c:v>
                </c:pt>
                <c:pt idx="8">
                  <c:v>77120048.68</c:v>
                </c:pt>
                <c:pt idx="9">
                  <c:v>103636400</c:v>
                </c:pt>
                <c:pt idx="10">
                  <c:v>137177400</c:v>
                </c:pt>
                <c:pt idx="11">
                  <c:v>70282500</c:v>
                </c:pt>
                <c:pt idx="12">
                  <c:v>43321100</c:v>
                </c:pt>
              </c:numCache>
            </c:numRef>
          </c:val>
        </c:ser>
        <c:ser>
          <c:idx val="4"/>
          <c:order val="4"/>
          <c:tx>
            <c:strRef>
              <c:f>'[1月月报数据-0129.xlsx]2.大盘数据'!$B$19</c:f>
              <c:strCache>
                <c:ptCount val="1"/>
                <c:pt idx="0">
                  <c:v>API回流</c:v>
                </c:pt>
              </c:strCache>
            </c:strRef>
          </c:tx>
          <c:spPr>
            <a:solidFill>
              <a:schemeClr val="accent5"/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delete val="1"/>
          </c:dLbls>
          <c:cat>
            <c:numRef>
              <c:extLst>
                <c:ext xmlns:c15="http://schemas.microsoft.com/office/drawing/2012/chart" uri="{02D57815-91ED-43cb-92C2-25804820EDAC}">
                  <c15:fullRef>
                    <c15:sqref>'[1月月报数据-0129.xlsx]2.大盘数据'!$C$14:$X$14</c15:sqref>
                  </c15:fullRef>
                </c:ext>
              </c:extLst>
              <c:f>'[1月月报数据-0129.xlsx]2.大盘数据'!$L$14:$X$14</c:f>
              <c:numCache>
                <c:formatCode>mmm\-yy</c:formatCode>
                <c:ptCount val="13"/>
                <c:pt idx="0" c:formatCode="mmm\-yy">
                  <c:v>45658</c:v>
                </c:pt>
                <c:pt idx="1" c:formatCode="mmm\-yy">
                  <c:v>45689</c:v>
                </c:pt>
                <c:pt idx="2" c:formatCode="mmm\-yy">
                  <c:v>45717</c:v>
                </c:pt>
                <c:pt idx="3" c:formatCode="mmm\-yy">
                  <c:v>45748</c:v>
                </c:pt>
                <c:pt idx="4" c:formatCode="mmm\-yy">
                  <c:v>45778</c:v>
                </c:pt>
                <c:pt idx="5" c:formatCode="mmm\-yy">
                  <c:v>45809</c:v>
                </c:pt>
                <c:pt idx="6" c:formatCode="mmm\-yy">
                  <c:v>45839</c:v>
                </c:pt>
                <c:pt idx="7" c:formatCode="mmm\-yy">
                  <c:v>45870</c:v>
                </c:pt>
                <c:pt idx="8" c:formatCode="mmm\-yy">
                  <c:v>45901</c:v>
                </c:pt>
                <c:pt idx="9" c:formatCode="mmm\-yy">
                  <c:v>45931</c:v>
                </c:pt>
                <c:pt idx="10" c:formatCode="mmm\-yy">
                  <c:v>45962</c:v>
                </c:pt>
                <c:pt idx="11" c:formatCode="mmm\-yy">
                  <c:v>45992</c:v>
                </c:pt>
                <c:pt idx="12" c:formatCode="mmm\-yy">
                  <c:v>46023</c:v>
                </c:pt>
              </c:numCache>
            </c:numRef>
          </c:cat>
          <c:val>
            <c:numRef>
              <c:extLst>
                <c:ext xmlns:c15="http://schemas.microsoft.com/office/drawing/2012/chart" uri="{02D57815-91ED-43cb-92C2-25804820EDAC}">
                  <c15:fullRef>
                    <c15:sqref>'2.大盘数据'!$C$19:$X$19</c15:sqref>
                  </c15:fullRef>
                </c:ext>
              </c:extLst>
              <c:f>'[1月月报数据-0129.xlsx]2.大盘数据'!$L$19:$X$19</c:f>
              <c:numCache>
                <c:formatCode>0"."00,,"亿"</c:formatCode>
                <c:ptCount val="13"/>
                <c:pt idx="0">
                  <c:v>38847991.69</c:v>
                </c:pt>
                <c:pt idx="1">
                  <c:v>27224935.59</c:v>
                </c:pt>
                <c:pt idx="2">
                  <c:v>31104786.87</c:v>
                </c:pt>
                <c:pt idx="3">
                  <c:v>29124759.51</c:v>
                </c:pt>
                <c:pt idx="4">
                  <c:v>35700879.17</c:v>
                </c:pt>
                <c:pt idx="5">
                  <c:v>33108592.24</c:v>
                </c:pt>
                <c:pt idx="6">
                  <c:v>27588704</c:v>
                </c:pt>
                <c:pt idx="7">
                  <c:v>29044244.37</c:v>
                </c:pt>
                <c:pt idx="8">
                  <c:v>23403064.99</c:v>
                </c:pt>
                <c:pt idx="9">
                  <c:v>20097368.8</c:v>
                </c:pt>
                <c:pt idx="10">
                  <c:v>13855800</c:v>
                </c:pt>
                <c:pt idx="11">
                  <c:v>7033000</c:v>
                </c:pt>
                <c:pt idx="12">
                  <c:v>4179600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46"/>
        <c:overlap val="100"/>
        <c:axId val="567874906"/>
        <c:axId val="996767428"/>
      </c:barChart>
      <c:lineChart>
        <c:grouping val="standard"/>
        <c:varyColors val="0"/>
        <c:ser>
          <c:idx val="5"/>
          <c:order val="5"/>
          <c:tx>
            <c:strRef>
              <c:f>'[1月月报数据-0129.xlsx]2.大盘数据'!$B$20</c:f>
              <c:strCache>
                <c:ptCount val="1"/>
                <c:pt idx="0">
                  <c:v>总计</c:v>
                </c:pt>
              </c:strCache>
            </c:strRef>
          </c:tx>
          <c:spPr>
            <a:ln w="28575" cap="rnd" cmpd="sng">
              <a:solidFill>
                <a:srgbClr val="FF0000"/>
              </a:solidFill>
              <a:prstDash val="solid"/>
              <a:round/>
              <a:headEnd type="none"/>
              <a:tailEnd type="none"/>
            </a:ln>
            <a:effectLst/>
            <a:sp3d contourW="28575"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  <a:sym typeface="华文楷体" panose="02010600040101010101" charset="-122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extLst>
                <c:ext xmlns:c15="http://schemas.microsoft.com/office/drawing/2012/chart" uri="{02D57815-91ED-43cb-92C2-25804820EDAC}">
                  <c15:fullRef>
                    <c15:sqref>'[1月月报数据-0129.xlsx]2.大盘数据'!$C$14:$X$14</c15:sqref>
                  </c15:fullRef>
                </c:ext>
              </c:extLst>
              <c:f>'[1月月报数据-0129.xlsx]2.大盘数据'!$L$14:$X$14</c:f>
              <c:numCache>
                <c:formatCode>mmm\-yy</c:formatCode>
                <c:ptCount val="13"/>
                <c:pt idx="0" c:formatCode="mmm\-yy">
                  <c:v>45658</c:v>
                </c:pt>
                <c:pt idx="1" c:formatCode="mmm\-yy">
                  <c:v>45689</c:v>
                </c:pt>
                <c:pt idx="2" c:formatCode="mmm\-yy">
                  <c:v>45717</c:v>
                </c:pt>
                <c:pt idx="3" c:formatCode="mmm\-yy">
                  <c:v>45748</c:v>
                </c:pt>
                <c:pt idx="4" c:formatCode="mmm\-yy">
                  <c:v>45778</c:v>
                </c:pt>
                <c:pt idx="5" c:formatCode="mmm\-yy">
                  <c:v>45809</c:v>
                </c:pt>
                <c:pt idx="6" c:formatCode="mmm\-yy">
                  <c:v>45839</c:v>
                </c:pt>
                <c:pt idx="7" c:formatCode="mmm\-yy">
                  <c:v>45870</c:v>
                </c:pt>
                <c:pt idx="8" c:formatCode="mmm\-yy">
                  <c:v>45901</c:v>
                </c:pt>
                <c:pt idx="9" c:formatCode="mmm\-yy">
                  <c:v>45931</c:v>
                </c:pt>
                <c:pt idx="10" c:formatCode="mmm\-yy">
                  <c:v>45962</c:v>
                </c:pt>
                <c:pt idx="11" c:formatCode="mmm\-yy">
                  <c:v>45992</c:v>
                </c:pt>
                <c:pt idx="12" c:formatCode="mmm\-yy">
                  <c:v>46023</c:v>
                </c:pt>
              </c:numCache>
            </c:numRef>
          </c:cat>
          <c:val>
            <c:numRef>
              <c:extLst>
                <c:ext xmlns:c15="http://schemas.microsoft.com/office/drawing/2012/chart" uri="{02D57815-91ED-43cb-92C2-25804820EDAC}">
                  <c15:fullRef>
                    <c15:sqref>'2.大盘数据'!$C$20:$X$20</c15:sqref>
                  </c15:fullRef>
                </c:ext>
              </c:extLst>
              <c:f>'[1月月报数据-0129.xlsx]2.大盘数据'!$L$20:$X$20</c:f>
              <c:numCache>
                <c:formatCode>0"."00,,"亿"</c:formatCode>
                <c:ptCount val="13"/>
                <c:pt idx="0">
                  <c:v>1496548294.72</c:v>
                </c:pt>
                <c:pt idx="1">
                  <c:v>969510268.71</c:v>
                </c:pt>
                <c:pt idx="2">
                  <c:v>1064933386.68</c:v>
                </c:pt>
                <c:pt idx="3">
                  <c:v>1111827188.65</c:v>
                </c:pt>
                <c:pt idx="4">
                  <c:v>1243186113.72</c:v>
                </c:pt>
                <c:pt idx="5">
                  <c:v>1305331007.87</c:v>
                </c:pt>
                <c:pt idx="6">
                  <c:v>1123295833.78</c:v>
                </c:pt>
                <c:pt idx="7">
                  <c:v>1306459092.79</c:v>
                </c:pt>
                <c:pt idx="8">
                  <c:v>1326671462.68</c:v>
                </c:pt>
                <c:pt idx="9">
                  <c:v>1093165247.26</c:v>
                </c:pt>
                <c:pt idx="10">
                  <c:v>933091700</c:v>
                </c:pt>
                <c:pt idx="11">
                  <c:v>722111200</c:v>
                </c:pt>
                <c:pt idx="12">
                  <c:v>641052500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0"/>
        <c:smooth val="0"/>
        <c:axId val="669062544"/>
        <c:axId val="712325732"/>
      </c:lineChart>
      <c:dateAx>
        <c:axId val="56787490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996767428"/>
        <c:crosses val="autoZero"/>
        <c:auto val="1"/>
        <c:lblOffset val="100"/>
        <c:baseTimeUnit val="months"/>
      </c:dateAx>
      <c:valAx>
        <c:axId val="996767428"/>
        <c:scaling>
          <c:orientation val="minMax"/>
        </c:scaling>
        <c:delete val="0"/>
        <c:axPos val="l"/>
        <c:numFmt formatCode="0&quot;.&quot;00,,&quot;亿&quot;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567874906"/>
        <c:crosses val="autoZero"/>
        <c:crossBetween val="between"/>
      </c:valAx>
      <c:dateAx>
        <c:axId val="669062544"/>
        <c:scaling>
          <c:orientation val="minMax"/>
        </c:scaling>
        <c:delete val="1"/>
        <c:axPos val="b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712325732"/>
        <c:crosses val="autoZero"/>
        <c:auto val="1"/>
        <c:lblOffset val="100"/>
        <c:baseTimeUnit val="months"/>
      </c:dateAx>
      <c:valAx>
        <c:axId val="712325732"/>
        <c:scaling>
          <c:orientation val="minMax"/>
        </c:scaling>
        <c:delete val="0"/>
        <c:axPos val="r"/>
        <c:numFmt formatCode="0&quot;.&quot;00,,&quot;亿&quot;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669062544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</c:legendEntry>
      <c:legendEntry>
        <c:idx val="4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华文楷体" panose="02010600040101010101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3e32d237-0b86-4792-a154-11539b897da5}"/>
      </c:ext>
    </c:extLst>
  </c:chart>
  <c:spPr>
    <a:solidFill>
      <a:schemeClr val="bg1"/>
    </a:solidFill>
    <a:ln w="9525" cap="flat" cmpd="sng" algn="ctr">
      <a:noFill/>
      <a:prstDash val="solid"/>
      <a:round/>
    </a:ln>
    <a:effectLst/>
  </c:spPr>
  <c:txPr>
    <a:bodyPr/>
    <a:lstStyle/>
    <a:p>
      <a:pPr>
        <a:defRPr lang="zh-CN">
          <a:latin typeface="华文楷体" panose="02010600040101010101" charset="-122"/>
          <a:ea typeface="华文楷体" panose="02010600040101010101" charset="-122"/>
          <a:cs typeface="华文楷体" panose="02010600040101010101" charset="-122"/>
          <a:sym typeface="华文楷体" panose="02010600040101010101" charset="-122"/>
        </a:defRPr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  <a:r>
              <a:rPr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rPr>
              <a:t>业务口径花费</a:t>
            </a:r>
            <a:r>
              <a:rPr lang="en-US" altLang="zh-CN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rPr>
              <a:t>-by</a:t>
            </a:r>
            <a:r>
              <a:rPr altLang="en-US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rPr>
              <a:t>渠道</a:t>
            </a:r>
            <a:endParaRPr lang="en-US" altLang="zh-CN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华文楷体" panose="02010600040101010101" charset="-122"/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0171536394304992"/>
          <c:y val="0.134760206103845"/>
          <c:w val="0.99451083538224"/>
          <c:h val="0.711732065001982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'[1月月报数据-0129.xlsx]2.大盘数据'!$B$146</c:f>
              <c:strCache>
                <c:ptCount val="1"/>
                <c:pt idx="0">
                  <c:v>腾讯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  <a:sym typeface="华文楷体" panose="02010600040101010101" charset="-122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extLst>
                <c:ext xmlns:c15="http://schemas.microsoft.com/office/drawing/2012/chart" uri="{02D57815-91ED-43cb-92C2-25804820EDAC}">
                  <c15:fullRef>
                    <c15:sqref>'[1月月报数据-0129.xlsx]2.大盘数据'!$C$145:$X$145</c15:sqref>
                  </c15:fullRef>
                </c:ext>
              </c:extLst>
              <c:f>'[1月月报数据-0129.xlsx]2.大盘数据'!$L$145:$X$145</c:f>
              <c:numCache>
                <c:formatCode>mmm\-yy</c:formatCode>
                <c:ptCount val="13"/>
                <c:pt idx="0" c:formatCode="mmm\-yy">
                  <c:v>45658</c:v>
                </c:pt>
                <c:pt idx="1" c:formatCode="mmm\-yy">
                  <c:v>45689</c:v>
                </c:pt>
                <c:pt idx="2" c:formatCode="mmm\-yy">
                  <c:v>45717</c:v>
                </c:pt>
                <c:pt idx="3" c:formatCode="mmm\-yy">
                  <c:v>45748</c:v>
                </c:pt>
                <c:pt idx="4" c:formatCode="mmm\-yy">
                  <c:v>45778</c:v>
                </c:pt>
                <c:pt idx="5" c:formatCode="mmm\-yy">
                  <c:v>45809</c:v>
                </c:pt>
                <c:pt idx="6" c:formatCode="mmm\-yy">
                  <c:v>45839</c:v>
                </c:pt>
                <c:pt idx="7" c:formatCode="mmm\-yy">
                  <c:v>45870</c:v>
                </c:pt>
                <c:pt idx="8" c:formatCode="mmm\-yy">
                  <c:v>45901</c:v>
                </c:pt>
                <c:pt idx="9" c:formatCode="mmm\-yy">
                  <c:v>45931</c:v>
                </c:pt>
                <c:pt idx="10" c:formatCode="mmm\-yy">
                  <c:v>45962</c:v>
                </c:pt>
                <c:pt idx="11" c:formatCode="mmm\-yy">
                  <c:v>45992</c:v>
                </c:pt>
                <c:pt idx="12" c:formatCode="mmm\-yy">
                  <c:v>46023</c:v>
                </c:pt>
              </c:numCache>
            </c:numRef>
          </c:cat>
          <c:val>
            <c:numRef>
              <c:extLst>
                <c:ext xmlns:c15="http://schemas.microsoft.com/office/drawing/2012/chart" uri="{02D57815-91ED-43cb-92C2-25804820EDAC}">
                  <c15:fullRef>
                    <c15:sqref>'2.大盘数据'!$C$146:$X$146</c15:sqref>
                  </c15:fullRef>
                </c:ext>
              </c:extLst>
              <c:f>'[1月月报数据-0129.xlsx]2.大盘数据'!$L$146:$X$146</c:f>
              <c:numCache>
                <c:formatCode>0"."0,"万"</c:formatCode>
                <c:ptCount val="13"/>
                <c:pt idx="0">
                  <c:v>33187801.2355212</c:v>
                </c:pt>
                <c:pt idx="1">
                  <c:v>30067293.6003861</c:v>
                </c:pt>
                <c:pt idx="2">
                  <c:v>27619165.9473732</c:v>
                </c:pt>
                <c:pt idx="3">
                  <c:v>33510538.8370359</c:v>
                </c:pt>
                <c:pt idx="4">
                  <c:v>43658145.8058313</c:v>
                </c:pt>
                <c:pt idx="5">
                  <c:v>47333558.5427353</c:v>
                </c:pt>
                <c:pt idx="6">
                  <c:v>36723536.2899752</c:v>
                </c:pt>
                <c:pt idx="7">
                  <c:v>38569818.1302984</c:v>
                </c:pt>
                <c:pt idx="8">
                  <c:v>37980144.6521487</c:v>
                </c:pt>
                <c:pt idx="9">
                  <c:v>19307420.9398716</c:v>
                </c:pt>
                <c:pt idx="10">
                  <c:v>23534080.8604238</c:v>
                </c:pt>
                <c:pt idx="11">
                  <c:v>20113309.8616336</c:v>
                </c:pt>
                <c:pt idx="12">
                  <c:v>15740730.7538126</c:v>
                </c:pt>
              </c:numCache>
            </c:numRef>
          </c:val>
        </c:ser>
        <c:ser>
          <c:idx val="1"/>
          <c:order val="1"/>
          <c:tx>
            <c:strRef>
              <c:f>'[1月月报数据-0129.xlsx]2.大盘数据'!$B$147</c:f>
              <c:strCache>
                <c:ptCount val="1"/>
                <c:pt idx="0">
                  <c:v>抖音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  <a:sym typeface="华文楷体" panose="02010600040101010101" charset="-122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extLst>
                <c:ext xmlns:c15="http://schemas.microsoft.com/office/drawing/2012/chart" uri="{02D57815-91ED-43cb-92C2-25804820EDAC}">
                  <c15:fullRef>
                    <c15:sqref>'[1月月报数据-0129.xlsx]2.大盘数据'!$C$145:$X$145</c15:sqref>
                  </c15:fullRef>
                </c:ext>
              </c:extLst>
              <c:f>'[1月月报数据-0129.xlsx]2.大盘数据'!$L$145:$X$145</c:f>
              <c:numCache>
                <c:formatCode>mmm\-yy</c:formatCode>
                <c:ptCount val="13"/>
                <c:pt idx="0" c:formatCode="mmm\-yy">
                  <c:v>45658</c:v>
                </c:pt>
                <c:pt idx="1" c:formatCode="mmm\-yy">
                  <c:v>45689</c:v>
                </c:pt>
                <c:pt idx="2" c:formatCode="mmm\-yy">
                  <c:v>45717</c:v>
                </c:pt>
                <c:pt idx="3" c:formatCode="mmm\-yy">
                  <c:v>45748</c:v>
                </c:pt>
                <c:pt idx="4" c:formatCode="mmm\-yy">
                  <c:v>45778</c:v>
                </c:pt>
                <c:pt idx="5" c:formatCode="mmm\-yy">
                  <c:v>45809</c:v>
                </c:pt>
                <c:pt idx="6" c:formatCode="mmm\-yy">
                  <c:v>45839</c:v>
                </c:pt>
                <c:pt idx="7" c:formatCode="mmm\-yy">
                  <c:v>45870</c:v>
                </c:pt>
                <c:pt idx="8" c:formatCode="mmm\-yy">
                  <c:v>45901</c:v>
                </c:pt>
                <c:pt idx="9" c:formatCode="mmm\-yy">
                  <c:v>45931</c:v>
                </c:pt>
                <c:pt idx="10" c:formatCode="mmm\-yy">
                  <c:v>45962</c:v>
                </c:pt>
                <c:pt idx="11" c:formatCode="mmm\-yy">
                  <c:v>45992</c:v>
                </c:pt>
                <c:pt idx="12" c:formatCode="mmm\-yy">
                  <c:v>46023</c:v>
                </c:pt>
              </c:numCache>
            </c:numRef>
          </c:cat>
          <c:val>
            <c:numRef>
              <c:extLst>
                <c:ext xmlns:c15="http://schemas.microsoft.com/office/drawing/2012/chart" uri="{02D57815-91ED-43cb-92C2-25804820EDAC}">
                  <c15:fullRef>
                    <c15:sqref>'2.大盘数据'!$C$147:$X$147</c15:sqref>
                  </c15:fullRef>
                </c:ext>
              </c:extLst>
              <c:f>'[1月月报数据-0129.xlsx]2.大盘数据'!$L$147:$X$147</c:f>
              <c:numCache>
                <c:formatCode>0"."0,"万"</c:formatCode>
                <c:ptCount val="13"/>
                <c:pt idx="0">
                  <c:v>51138495.896594</c:v>
                </c:pt>
                <c:pt idx="1">
                  <c:v>37628641.6126921</c:v>
                </c:pt>
                <c:pt idx="2">
                  <c:v>33990695.4131782</c:v>
                </c:pt>
                <c:pt idx="3">
                  <c:v>37521982.0404983</c:v>
                </c:pt>
                <c:pt idx="4">
                  <c:v>43548738.2869278</c:v>
                </c:pt>
                <c:pt idx="5">
                  <c:v>44429411.5655828</c:v>
                </c:pt>
                <c:pt idx="6">
                  <c:v>41110539.0927165</c:v>
                </c:pt>
                <c:pt idx="7">
                  <c:v>44310008.8420241</c:v>
                </c:pt>
                <c:pt idx="8">
                  <c:v>33227045.2417319</c:v>
                </c:pt>
                <c:pt idx="9">
                  <c:v>23582299.9692163</c:v>
                </c:pt>
                <c:pt idx="10">
                  <c:v>16192049.4362333</c:v>
                </c:pt>
                <c:pt idx="11">
                  <c:v>10820706.2124202</c:v>
                </c:pt>
                <c:pt idx="12">
                  <c:v>10891724.6219675</c:v>
                </c:pt>
              </c:numCache>
            </c:numRef>
          </c:val>
        </c:ser>
        <c:ser>
          <c:idx val="2"/>
          <c:order val="2"/>
          <c:tx>
            <c:strRef>
              <c:f>'[1月月报数据-0129.xlsx]2.大盘数据'!$B$148</c:f>
              <c:strCache>
                <c:ptCount val="1"/>
                <c:pt idx="0">
                  <c:v>精准营销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  <a:sym typeface="华文楷体" panose="02010600040101010101" charset="-122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extLst>
                <c:ext xmlns:c15="http://schemas.microsoft.com/office/drawing/2012/chart" uri="{02D57815-91ED-43cb-92C2-25804820EDAC}">
                  <c15:fullRef>
                    <c15:sqref>'[1月月报数据-0129.xlsx]2.大盘数据'!$C$145:$X$145</c15:sqref>
                  </c15:fullRef>
                </c:ext>
              </c:extLst>
              <c:f>'[1月月报数据-0129.xlsx]2.大盘数据'!$L$145:$X$145</c:f>
              <c:numCache>
                <c:formatCode>mmm\-yy</c:formatCode>
                <c:ptCount val="13"/>
                <c:pt idx="0" c:formatCode="mmm\-yy">
                  <c:v>45658</c:v>
                </c:pt>
                <c:pt idx="1" c:formatCode="mmm\-yy">
                  <c:v>45689</c:v>
                </c:pt>
                <c:pt idx="2" c:formatCode="mmm\-yy">
                  <c:v>45717</c:v>
                </c:pt>
                <c:pt idx="3" c:formatCode="mmm\-yy">
                  <c:v>45748</c:v>
                </c:pt>
                <c:pt idx="4" c:formatCode="mmm\-yy">
                  <c:v>45778</c:v>
                </c:pt>
                <c:pt idx="5" c:formatCode="mmm\-yy">
                  <c:v>45809</c:v>
                </c:pt>
                <c:pt idx="6" c:formatCode="mmm\-yy">
                  <c:v>45839</c:v>
                </c:pt>
                <c:pt idx="7" c:formatCode="mmm\-yy">
                  <c:v>45870</c:v>
                </c:pt>
                <c:pt idx="8" c:formatCode="mmm\-yy">
                  <c:v>45901</c:v>
                </c:pt>
                <c:pt idx="9" c:formatCode="mmm\-yy">
                  <c:v>45931</c:v>
                </c:pt>
                <c:pt idx="10" c:formatCode="mmm\-yy">
                  <c:v>45962</c:v>
                </c:pt>
                <c:pt idx="11" c:formatCode="mmm\-yy">
                  <c:v>45992</c:v>
                </c:pt>
                <c:pt idx="12" c:formatCode="mmm\-yy">
                  <c:v>46023</c:v>
                </c:pt>
              </c:numCache>
            </c:numRef>
          </c:cat>
          <c:val>
            <c:numRef>
              <c:extLst>
                <c:ext xmlns:c15="http://schemas.microsoft.com/office/drawing/2012/chart" uri="{02D57815-91ED-43cb-92C2-25804820EDAC}">
                  <c15:fullRef>
                    <c15:sqref>'2.大盘数据'!$C$148:$X$148</c15:sqref>
                  </c15:fullRef>
                </c:ext>
              </c:extLst>
              <c:f>'[1月月报数据-0129.xlsx]2.大盘数据'!$L$148:$X$148</c:f>
              <c:numCache>
                <c:formatCode>0"."0,"万"</c:formatCode>
                <c:ptCount val="13"/>
                <c:pt idx="0">
                  <c:v>12107650</c:v>
                </c:pt>
                <c:pt idx="1">
                  <c:v>7757420</c:v>
                </c:pt>
                <c:pt idx="2">
                  <c:v>5722800</c:v>
                </c:pt>
                <c:pt idx="3">
                  <c:v>10876250</c:v>
                </c:pt>
                <c:pt idx="4">
                  <c:v>15534200</c:v>
                </c:pt>
                <c:pt idx="5">
                  <c:v>12289100</c:v>
                </c:pt>
                <c:pt idx="6">
                  <c:v>7924250</c:v>
                </c:pt>
                <c:pt idx="7">
                  <c:v>13624300</c:v>
                </c:pt>
                <c:pt idx="8">
                  <c:v>16901150</c:v>
                </c:pt>
                <c:pt idx="9">
                  <c:v>14688350</c:v>
                </c:pt>
                <c:pt idx="10">
                  <c:v>11845200</c:v>
                </c:pt>
                <c:pt idx="11">
                  <c:v>8869650</c:v>
                </c:pt>
                <c:pt idx="12">
                  <c:v>8978900</c:v>
                </c:pt>
              </c:numCache>
            </c:numRef>
          </c:val>
        </c:ser>
        <c:ser>
          <c:idx val="3"/>
          <c:order val="3"/>
          <c:tx>
            <c:strRef>
              <c:f>'[1月月报数据-0129.xlsx]2.大盘数据'!$B$149</c:f>
              <c:strCache>
                <c:ptCount val="1"/>
                <c:pt idx="0">
                  <c:v>付费商店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  <a:sym typeface="华文楷体" panose="02010600040101010101" charset="-122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extLst>
                <c:ext xmlns:c15="http://schemas.microsoft.com/office/drawing/2012/chart" uri="{02D57815-91ED-43cb-92C2-25804820EDAC}">
                  <c15:fullRef>
                    <c15:sqref>'[1月月报数据-0129.xlsx]2.大盘数据'!$C$145:$X$145</c15:sqref>
                  </c15:fullRef>
                </c:ext>
              </c:extLst>
              <c:f>'[1月月报数据-0129.xlsx]2.大盘数据'!$L$145:$X$145</c:f>
              <c:numCache>
                <c:formatCode>mmm\-yy</c:formatCode>
                <c:ptCount val="13"/>
                <c:pt idx="0" c:formatCode="mmm\-yy">
                  <c:v>45658</c:v>
                </c:pt>
                <c:pt idx="1" c:formatCode="mmm\-yy">
                  <c:v>45689</c:v>
                </c:pt>
                <c:pt idx="2" c:formatCode="mmm\-yy">
                  <c:v>45717</c:v>
                </c:pt>
                <c:pt idx="3" c:formatCode="mmm\-yy">
                  <c:v>45748</c:v>
                </c:pt>
                <c:pt idx="4" c:formatCode="mmm\-yy">
                  <c:v>45778</c:v>
                </c:pt>
                <c:pt idx="5" c:formatCode="mmm\-yy">
                  <c:v>45809</c:v>
                </c:pt>
                <c:pt idx="6" c:formatCode="mmm\-yy">
                  <c:v>45839</c:v>
                </c:pt>
                <c:pt idx="7" c:formatCode="mmm\-yy">
                  <c:v>45870</c:v>
                </c:pt>
                <c:pt idx="8" c:formatCode="mmm\-yy">
                  <c:v>45901</c:v>
                </c:pt>
                <c:pt idx="9" c:formatCode="mmm\-yy">
                  <c:v>45931</c:v>
                </c:pt>
                <c:pt idx="10" c:formatCode="mmm\-yy">
                  <c:v>45962</c:v>
                </c:pt>
                <c:pt idx="11" c:formatCode="mmm\-yy">
                  <c:v>45992</c:v>
                </c:pt>
                <c:pt idx="12" c:formatCode="mmm\-yy">
                  <c:v>46023</c:v>
                </c:pt>
              </c:numCache>
            </c:numRef>
          </c:cat>
          <c:val>
            <c:numRef>
              <c:extLst>
                <c:ext xmlns:c15="http://schemas.microsoft.com/office/drawing/2012/chart" uri="{02D57815-91ED-43cb-92C2-25804820EDAC}">
                  <c15:fullRef>
                    <c15:sqref>'2.大盘数据'!$C$149:$X$149</c15:sqref>
                  </c15:fullRef>
                </c:ext>
              </c:extLst>
              <c:f>'[1月月报数据-0129.xlsx]2.大盘数据'!$L$149:$X$149</c:f>
              <c:numCache>
                <c:formatCode>0"."0,"万"</c:formatCode>
                <c:ptCount val="13"/>
                <c:pt idx="0">
                  <c:v>3272784.69159967</c:v>
                </c:pt>
                <c:pt idx="1">
                  <c:v>2957275.15249031</c:v>
                </c:pt>
                <c:pt idx="2">
                  <c:v>3449466.93388503</c:v>
                </c:pt>
                <c:pt idx="3">
                  <c:v>4946500.05482975</c:v>
                </c:pt>
                <c:pt idx="4">
                  <c:v>6143669.77909275</c:v>
                </c:pt>
                <c:pt idx="5">
                  <c:v>6284123.7578551</c:v>
                </c:pt>
                <c:pt idx="6">
                  <c:v>5519890.16721366</c:v>
                </c:pt>
                <c:pt idx="7">
                  <c:v>6836191.63093203</c:v>
                </c:pt>
                <c:pt idx="8">
                  <c:v>6036062.01343928</c:v>
                </c:pt>
                <c:pt idx="9">
                  <c:v>4140741.94661461</c:v>
                </c:pt>
                <c:pt idx="10">
                  <c:v>3123190.72672793</c:v>
                </c:pt>
                <c:pt idx="11">
                  <c:v>1813029.32488881</c:v>
                </c:pt>
                <c:pt idx="12">
                  <c:v>1735035.37673168</c:v>
                </c:pt>
              </c:numCache>
            </c:numRef>
          </c:val>
        </c:ser>
        <c:ser>
          <c:idx val="4"/>
          <c:order val="4"/>
          <c:tx>
            <c:strRef>
              <c:f>'[1月月报数据-0129.xlsx]2.大盘数据'!$B$150</c:f>
              <c:strCache>
                <c:ptCount val="1"/>
                <c:pt idx="0">
                  <c:v>其他信息流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  <a:sym typeface="华文楷体" panose="02010600040101010101" charset="-122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extLst>
                <c:ext xmlns:c15="http://schemas.microsoft.com/office/drawing/2012/chart" uri="{02D57815-91ED-43cb-92C2-25804820EDAC}">
                  <c15:fullRef>
                    <c15:sqref>'[1月月报数据-0129.xlsx]2.大盘数据'!$C$145:$X$145</c15:sqref>
                  </c15:fullRef>
                </c:ext>
              </c:extLst>
              <c:f>'[1月月报数据-0129.xlsx]2.大盘数据'!$L$145:$X$145</c:f>
              <c:numCache>
                <c:formatCode>mmm\-yy</c:formatCode>
                <c:ptCount val="13"/>
                <c:pt idx="0" c:formatCode="mmm\-yy">
                  <c:v>45658</c:v>
                </c:pt>
                <c:pt idx="1" c:formatCode="mmm\-yy">
                  <c:v>45689</c:v>
                </c:pt>
                <c:pt idx="2" c:formatCode="mmm\-yy">
                  <c:v>45717</c:v>
                </c:pt>
                <c:pt idx="3" c:formatCode="mmm\-yy">
                  <c:v>45748</c:v>
                </c:pt>
                <c:pt idx="4" c:formatCode="mmm\-yy">
                  <c:v>45778</c:v>
                </c:pt>
                <c:pt idx="5" c:formatCode="mmm\-yy">
                  <c:v>45809</c:v>
                </c:pt>
                <c:pt idx="6" c:formatCode="mmm\-yy">
                  <c:v>45839</c:v>
                </c:pt>
                <c:pt idx="7" c:formatCode="mmm\-yy">
                  <c:v>45870</c:v>
                </c:pt>
                <c:pt idx="8" c:formatCode="mmm\-yy">
                  <c:v>45901</c:v>
                </c:pt>
                <c:pt idx="9" c:formatCode="mmm\-yy">
                  <c:v>45931</c:v>
                </c:pt>
                <c:pt idx="10" c:formatCode="mmm\-yy">
                  <c:v>45962</c:v>
                </c:pt>
                <c:pt idx="11" c:formatCode="mmm\-yy">
                  <c:v>45992</c:v>
                </c:pt>
                <c:pt idx="12" c:formatCode="mmm\-yy">
                  <c:v>46023</c:v>
                </c:pt>
              </c:numCache>
            </c:numRef>
          </c:cat>
          <c:val>
            <c:numRef>
              <c:extLst>
                <c:ext xmlns:c15="http://schemas.microsoft.com/office/drawing/2012/chart" uri="{02D57815-91ED-43cb-92C2-25804820EDAC}">
                  <c15:fullRef>
                    <c15:sqref>'2.大盘数据'!$C$150:$X$150</c15:sqref>
                  </c15:fullRef>
                </c:ext>
              </c:extLst>
              <c:f>'[1月月报数据-0129.xlsx]2.大盘数据'!$L$150:$X$150</c:f>
              <c:numCache>
                <c:formatCode>0"."0,"万"</c:formatCode>
                <c:ptCount val="13"/>
                <c:pt idx="0">
                  <c:v>597660</c:v>
                </c:pt>
                <c:pt idx="1">
                  <c:v>408855</c:v>
                </c:pt>
                <c:pt idx="2">
                  <c:v>416095</c:v>
                </c:pt>
                <c:pt idx="3">
                  <c:v>357694</c:v>
                </c:pt>
                <c:pt idx="4">
                  <c:v>336108</c:v>
                </c:pt>
                <c:pt idx="5">
                  <c:v>305049</c:v>
                </c:pt>
                <c:pt idx="6">
                  <c:v>280789</c:v>
                </c:pt>
                <c:pt idx="7">
                  <c:v>445171</c:v>
                </c:pt>
                <c:pt idx="8">
                  <c:v>520572</c:v>
                </c:pt>
                <c:pt idx="9">
                  <c:v>470637</c:v>
                </c:pt>
                <c:pt idx="10">
                  <c:v>353217</c:v>
                </c:pt>
                <c:pt idx="11">
                  <c:v>35660</c:v>
                </c:pt>
                <c:pt idx="12">
                  <c:v>0</c:v>
                </c:pt>
              </c:numCache>
            </c:numRef>
          </c:val>
        </c:ser>
        <c:ser>
          <c:idx val="5"/>
          <c:order val="5"/>
          <c:tx>
            <c:strRef>
              <c:f>'[1月月报数据-0129.xlsx]2.大盘数据'!$B$151</c:f>
              <c:strCache>
                <c:ptCount val="1"/>
                <c:pt idx="0">
                  <c:v>其他CPA渠道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  <a:sym typeface="华文楷体" panose="02010600040101010101" charset="-122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extLst>
                <c:ext xmlns:c15="http://schemas.microsoft.com/office/drawing/2012/chart" uri="{02D57815-91ED-43cb-92C2-25804820EDAC}">
                  <c15:fullRef>
                    <c15:sqref>'[1月月报数据-0129.xlsx]2.大盘数据'!$C$145:$X$145</c15:sqref>
                  </c15:fullRef>
                </c:ext>
              </c:extLst>
              <c:f>'[1月月报数据-0129.xlsx]2.大盘数据'!$L$145:$X$145</c:f>
              <c:numCache>
                <c:formatCode>mmm\-yy</c:formatCode>
                <c:ptCount val="13"/>
                <c:pt idx="0" c:formatCode="mmm\-yy">
                  <c:v>45658</c:v>
                </c:pt>
                <c:pt idx="1" c:formatCode="mmm\-yy">
                  <c:v>45689</c:v>
                </c:pt>
                <c:pt idx="2" c:formatCode="mmm\-yy">
                  <c:v>45717</c:v>
                </c:pt>
                <c:pt idx="3" c:formatCode="mmm\-yy">
                  <c:v>45748</c:v>
                </c:pt>
                <c:pt idx="4" c:formatCode="mmm\-yy">
                  <c:v>45778</c:v>
                </c:pt>
                <c:pt idx="5" c:formatCode="mmm\-yy">
                  <c:v>45809</c:v>
                </c:pt>
                <c:pt idx="6" c:formatCode="mmm\-yy">
                  <c:v>45839</c:v>
                </c:pt>
                <c:pt idx="7" c:formatCode="mmm\-yy">
                  <c:v>45870</c:v>
                </c:pt>
                <c:pt idx="8" c:formatCode="mmm\-yy">
                  <c:v>45901</c:v>
                </c:pt>
                <c:pt idx="9" c:formatCode="mmm\-yy">
                  <c:v>45931</c:v>
                </c:pt>
                <c:pt idx="10" c:formatCode="mmm\-yy">
                  <c:v>45962</c:v>
                </c:pt>
                <c:pt idx="11" c:formatCode="mmm\-yy">
                  <c:v>45992</c:v>
                </c:pt>
                <c:pt idx="12" c:formatCode="mmm\-yy">
                  <c:v>46023</c:v>
                </c:pt>
              </c:numCache>
            </c:numRef>
          </c:cat>
          <c:val>
            <c:numRef>
              <c:extLst>
                <c:ext xmlns:c15="http://schemas.microsoft.com/office/drawing/2012/chart" uri="{02D57815-91ED-43cb-92C2-25804820EDAC}">
                  <c15:fullRef>
                    <c15:sqref>'2.大盘数据'!$C$151:$X$151</c15:sqref>
                  </c15:fullRef>
                </c:ext>
              </c:extLst>
              <c:f>'[1月月报数据-0129.xlsx]2.大盘数据'!$L$151:$X$151</c:f>
              <c:numCache>
                <c:formatCode>0"."0,"万"</c:formatCode>
                <c:ptCount val="13"/>
                <c:pt idx="0">
                  <c:v>1355544.1226031</c:v>
                </c:pt>
                <c:pt idx="1">
                  <c:v>969018.962432614</c:v>
                </c:pt>
                <c:pt idx="2">
                  <c:v>867846.076428571</c:v>
                </c:pt>
                <c:pt idx="3">
                  <c:v>814043.278571428</c:v>
                </c:pt>
                <c:pt idx="4">
                  <c:v>922238.626631038</c:v>
                </c:pt>
                <c:pt idx="5">
                  <c:v>1511955.01521056</c:v>
                </c:pt>
                <c:pt idx="6">
                  <c:v>2109452.96229564</c:v>
                </c:pt>
                <c:pt idx="7">
                  <c:v>1766025.50137271</c:v>
                </c:pt>
                <c:pt idx="8">
                  <c:v>1753688.92631798</c:v>
                </c:pt>
                <c:pt idx="9">
                  <c:v>1436124.38909999</c:v>
                </c:pt>
                <c:pt idx="10">
                  <c:v>472810.706882172</c:v>
                </c:pt>
                <c:pt idx="11">
                  <c:v>407509.129482395</c:v>
                </c:pt>
                <c:pt idx="12">
                  <c:v>344794.394806529</c:v>
                </c:pt>
              </c:numCache>
            </c:numRef>
          </c:val>
        </c:ser>
        <c:ser>
          <c:idx val="6"/>
          <c:order val="6"/>
          <c:tx>
            <c:strRef>
              <c:f>'[1月月报数据-0129.xlsx]2.大盘数据'!$B$152</c:f>
              <c:strCache>
                <c:ptCount val="1"/>
                <c:pt idx="0">
                  <c:v>MGM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  <a:sym typeface="华文楷体" panose="02010600040101010101" charset="-122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extLst>
                <c:ext xmlns:c15="http://schemas.microsoft.com/office/drawing/2012/chart" uri="{02D57815-91ED-43cb-92C2-25804820EDAC}">
                  <c15:fullRef>
                    <c15:sqref>'[1月月报数据-0129.xlsx]2.大盘数据'!$C$145:$X$145</c15:sqref>
                  </c15:fullRef>
                </c:ext>
              </c:extLst>
              <c:f>'[1月月报数据-0129.xlsx]2.大盘数据'!$L$145:$X$145</c:f>
              <c:numCache>
                <c:formatCode>mmm\-yy</c:formatCode>
                <c:ptCount val="13"/>
                <c:pt idx="0" c:formatCode="mmm\-yy">
                  <c:v>45658</c:v>
                </c:pt>
                <c:pt idx="1" c:formatCode="mmm\-yy">
                  <c:v>45689</c:v>
                </c:pt>
                <c:pt idx="2" c:formatCode="mmm\-yy">
                  <c:v>45717</c:v>
                </c:pt>
                <c:pt idx="3" c:formatCode="mmm\-yy">
                  <c:v>45748</c:v>
                </c:pt>
                <c:pt idx="4" c:formatCode="mmm\-yy">
                  <c:v>45778</c:v>
                </c:pt>
                <c:pt idx="5" c:formatCode="mmm\-yy">
                  <c:v>45809</c:v>
                </c:pt>
                <c:pt idx="6" c:formatCode="mmm\-yy">
                  <c:v>45839</c:v>
                </c:pt>
                <c:pt idx="7" c:formatCode="mmm\-yy">
                  <c:v>45870</c:v>
                </c:pt>
                <c:pt idx="8" c:formatCode="mmm\-yy">
                  <c:v>45901</c:v>
                </c:pt>
                <c:pt idx="9" c:formatCode="mmm\-yy">
                  <c:v>45931</c:v>
                </c:pt>
                <c:pt idx="10" c:formatCode="mmm\-yy">
                  <c:v>45962</c:v>
                </c:pt>
                <c:pt idx="11" c:formatCode="mmm\-yy">
                  <c:v>45992</c:v>
                </c:pt>
                <c:pt idx="12" c:formatCode="mmm\-yy">
                  <c:v>46023</c:v>
                </c:pt>
              </c:numCache>
            </c:numRef>
          </c:cat>
          <c:val>
            <c:numRef>
              <c:extLst>
                <c:ext xmlns:c15="http://schemas.microsoft.com/office/drawing/2012/chart" uri="{02D57815-91ED-43cb-92C2-25804820EDAC}">
                  <c15:fullRef>
                    <c15:sqref>'2.大盘数据'!$C$152:$X$152</c15:sqref>
                  </c15:fullRef>
                </c:ext>
              </c:extLst>
              <c:f>'[1月月报数据-0129.xlsx]2.大盘数据'!$L$152:$X$152</c:f>
              <c:numCache>
                <c:formatCode>0"."0,"万"</c:formatCode>
                <c:ptCount val="13"/>
                <c:pt idx="0">
                  <c:v>62810</c:v>
                </c:pt>
                <c:pt idx="1">
                  <c:v>74820</c:v>
                </c:pt>
                <c:pt idx="2">
                  <c:v>110270</c:v>
                </c:pt>
                <c:pt idx="3">
                  <c:v>64450</c:v>
                </c:pt>
                <c:pt idx="4">
                  <c:v>82420</c:v>
                </c:pt>
                <c:pt idx="5">
                  <c:v>45860</c:v>
                </c:pt>
                <c:pt idx="6">
                  <c:v>32210</c:v>
                </c:pt>
                <c:pt idx="7">
                  <c:v>19900</c:v>
                </c:pt>
                <c:pt idx="8">
                  <c:v>13070</c:v>
                </c:pt>
                <c:pt idx="9">
                  <c:v>9480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348230951"/>
        <c:axId val="270067224"/>
      </c:barChart>
      <c:dateAx>
        <c:axId val="348230951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270067224"/>
        <c:crosses val="autoZero"/>
        <c:auto val="1"/>
        <c:lblOffset val="100"/>
        <c:baseTimeUnit val="months"/>
      </c:dateAx>
      <c:valAx>
        <c:axId val="270067224"/>
        <c:scaling>
          <c:orientation val="minMax"/>
          <c:max val="130000000"/>
          <c:min val="0"/>
        </c:scaling>
        <c:delete val="0"/>
        <c:axPos val="l"/>
        <c:numFmt formatCode="0&quot;.&quot;0,&quot;万&quot;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3482309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华文楷体" panose="02010600040101010101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1ff529dd-f8e2-4e26-83a6-ef92bcea8c94}"/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lang="zh-CN">
          <a:latin typeface="华文楷体" panose="02010600040101010101" charset="-122"/>
          <a:ea typeface="华文楷体" panose="02010600040101010101" charset="-122"/>
          <a:cs typeface="华文楷体" panose="02010600040101010101" charset="-122"/>
          <a:sym typeface="华文楷体" panose="02010600040101010101" charset="-122"/>
        </a:defRPr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  <a:r>
              <a:rPr lang="en-US" altLang="zh-CN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rPr>
              <a:t>CPS</a:t>
            </a:r>
            <a:endParaRPr lang="en-US" altLang="zh-CN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华文楷体" panose="02010600040101010101" charset="-122"/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'[1月月报数据-0129.xlsx]2.大盘数据'!$B$105</c:f>
              <c:strCache>
                <c:ptCount val="1"/>
                <c:pt idx="0">
                  <c:v>1-7全首借CPS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  <a:sym typeface="华文楷体" panose="02010600040101010101" charset="-122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extLst>
                <c:ext xmlns:c15="http://schemas.microsoft.com/office/drawing/2012/chart" uri="{02D57815-91ED-43cb-92C2-25804820EDAC}">
                  <c15:fullRef>
                    <c15:sqref>'[1月月报数据-0129.xlsx]2.大盘数据'!$C$104:$X$104</c15:sqref>
                  </c15:fullRef>
                </c:ext>
              </c:extLst>
              <c:f>'[1月月报数据-0129.xlsx]2.大盘数据'!$L$104:$X$104</c:f>
              <c:numCache>
                <c:formatCode>mmm\-yy</c:formatCode>
                <c:ptCount val="13"/>
                <c:pt idx="0" c:formatCode="mmm\-yy">
                  <c:v>45658</c:v>
                </c:pt>
                <c:pt idx="1" c:formatCode="mmm\-yy">
                  <c:v>45689</c:v>
                </c:pt>
                <c:pt idx="2" c:formatCode="mmm\-yy">
                  <c:v>45717</c:v>
                </c:pt>
                <c:pt idx="3" c:formatCode="mmm\-yy">
                  <c:v>45748</c:v>
                </c:pt>
                <c:pt idx="4" c:formatCode="mmm\-yy">
                  <c:v>45778</c:v>
                </c:pt>
                <c:pt idx="5" c:formatCode="mmm\-yy">
                  <c:v>45809</c:v>
                </c:pt>
                <c:pt idx="6" c:formatCode="mmm\-yy">
                  <c:v>45839</c:v>
                </c:pt>
                <c:pt idx="7" c:formatCode="mmm\-yy">
                  <c:v>45870</c:v>
                </c:pt>
                <c:pt idx="8" c:formatCode="mmm\-yy">
                  <c:v>45901</c:v>
                </c:pt>
                <c:pt idx="9" c:formatCode="mmm\-yy">
                  <c:v>45931</c:v>
                </c:pt>
                <c:pt idx="10" c:formatCode="mmm\-yy">
                  <c:v>45962</c:v>
                </c:pt>
                <c:pt idx="11" c:formatCode="mmm\-yy">
                  <c:v>45992</c:v>
                </c:pt>
                <c:pt idx="12" c:formatCode="mmm\-yy">
                  <c:v>46023</c:v>
                </c:pt>
              </c:numCache>
            </c:numRef>
          </c:cat>
          <c:val>
            <c:numRef>
              <c:extLst>
                <c:ext xmlns:c15="http://schemas.microsoft.com/office/drawing/2012/chart" uri="{02D57815-91ED-43cb-92C2-25804820EDAC}">
                  <c15:fullRef>
                    <c15:sqref>'2.大盘数据'!$C$105:$X$105</c15:sqref>
                  </c15:fullRef>
                </c:ext>
              </c:extLst>
              <c:f>'[1月月报数据-0129.xlsx]2.大盘数据'!$L$105:$X$105</c:f>
              <c:numCache>
                <c:formatCode>0.0%</c:formatCode>
                <c:ptCount val="13"/>
                <c:pt idx="0">
                  <c:v>0.0722301754829385</c:v>
                </c:pt>
                <c:pt idx="1">
                  <c:v>0.0897502781933181</c:v>
                </c:pt>
                <c:pt idx="2">
                  <c:v>0.0762390487389814</c:v>
                </c:pt>
                <c:pt idx="3">
                  <c:v>0.0862612726060316</c:v>
                </c:pt>
                <c:pt idx="4">
                  <c:v>0.0936069243488131</c:v>
                </c:pt>
                <c:pt idx="5">
                  <c:v>0.0914106974874433</c:v>
                </c:pt>
                <c:pt idx="6">
                  <c:v>0.087754538517684</c:v>
                </c:pt>
                <c:pt idx="7">
                  <c:v>0.0861041403633974</c:v>
                </c:pt>
                <c:pt idx="8">
                  <c:v>0.0769062844146274</c:v>
                </c:pt>
                <c:pt idx="9">
                  <c:v>0.0651052293358125</c:v>
                </c:pt>
                <c:pt idx="10">
                  <c:v>0.0671375031738758</c:v>
                </c:pt>
                <c:pt idx="11">
                  <c:v>0.0678293296007249</c:v>
                </c:pt>
                <c:pt idx="12">
                  <c:v>0.0622744395308002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'[1月月报数据-0129.xlsx]2.大盘数据'!$B$106</c:f>
              <c:strCache>
                <c:ptCount val="1"/>
                <c:pt idx="0">
                  <c:v>初审首借CPS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  <a:sym typeface="华文楷体" panose="02010600040101010101" charset="-122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extLst>
                <c:ext xmlns:c15="http://schemas.microsoft.com/office/drawing/2012/chart" uri="{02D57815-91ED-43cb-92C2-25804820EDAC}">
                  <c15:fullRef>
                    <c15:sqref>'[1月月报数据-0129.xlsx]2.大盘数据'!$C$104:$X$104</c15:sqref>
                  </c15:fullRef>
                </c:ext>
              </c:extLst>
              <c:f>'[1月月报数据-0129.xlsx]2.大盘数据'!$L$104:$X$104</c:f>
              <c:numCache>
                <c:formatCode>mmm\-yy</c:formatCode>
                <c:ptCount val="13"/>
                <c:pt idx="0" c:formatCode="mmm\-yy">
                  <c:v>45658</c:v>
                </c:pt>
                <c:pt idx="1" c:formatCode="mmm\-yy">
                  <c:v>45689</c:v>
                </c:pt>
                <c:pt idx="2" c:formatCode="mmm\-yy">
                  <c:v>45717</c:v>
                </c:pt>
                <c:pt idx="3" c:formatCode="mmm\-yy">
                  <c:v>45748</c:v>
                </c:pt>
                <c:pt idx="4" c:formatCode="mmm\-yy">
                  <c:v>45778</c:v>
                </c:pt>
                <c:pt idx="5" c:formatCode="mmm\-yy">
                  <c:v>45809</c:v>
                </c:pt>
                <c:pt idx="6" c:formatCode="mmm\-yy">
                  <c:v>45839</c:v>
                </c:pt>
                <c:pt idx="7" c:formatCode="mmm\-yy">
                  <c:v>45870</c:v>
                </c:pt>
                <c:pt idx="8" c:formatCode="mmm\-yy">
                  <c:v>45901</c:v>
                </c:pt>
                <c:pt idx="9" c:formatCode="mmm\-yy">
                  <c:v>45931</c:v>
                </c:pt>
                <c:pt idx="10" c:formatCode="mmm\-yy">
                  <c:v>45962</c:v>
                </c:pt>
                <c:pt idx="11" c:formatCode="mmm\-yy">
                  <c:v>45992</c:v>
                </c:pt>
                <c:pt idx="12" c:formatCode="mmm\-yy">
                  <c:v>46023</c:v>
                </c:pt>
              </c:numCache>
            </c:numRef>
          </c:cat>
          <c:val>
            <c:numRef>
              <c:extLst>
                <c:ext xmlns:c15="http://schemas.microsoft.com/office/drawing/2012/chart" uri="{02D57815-91ED-43cb-92C2-25804820EDAC}">
                  <c15:fullRef>
                    <c15:sqref>'2.大盘数据'!$C$106:$X$106</c15:sqref>
                  </c15:fullRef>
                </c:ext>
              </c:extLst>
              <c:f>'[1月月报数据-0129.xlsx]2.大盘数据'!$L$106:$X$106</c:f>
            </c:numRef>
          </c:val>
          <c:smooth val="0"/>
        </c:ser>
        <c:ser>
          <c:idx val="2"/>
          <c:order val="2"/>
          <c:tx>
            <c:strRef>
              <c:f>'[1月月报数据-0129.xlsx]2.大盘数据'!$B$107</c:f>
              <c:strCache>
                <c:ptCount val="1"/>
                <c:pt idx="0">
                  <c:v>初审M0CPS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  <a:sym typeface="华文楷体" panose="02010600040101010101" charset="-122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extLst>
                <c:ext xmlns:c15="http://schemas.microsoft.com/office/drawing/2012/chart" uri="{02D57815-91ED-43cb-92C2-25804820EDAC}">
                  <c15:fullRef>
                    <c15:sqref>'[1月月报数据-0129.xlsx]2.大盘数据'!$C$104:$X$104</c15:sqref>
                  </c15:fullRef>
                </c:ext>
              </c:extLst>
              <c:f>'[1月月报数据-0129.xlsx]2.大盘数据'!$L$104:$X$104</c:f>
              <c:numCache>
                <c:formatCode>mmm\-yy</c:formatCode>
                <c:ptCount val="13"/>
                <c:pt idx="0" c:formatCode="mmm\-yy">
                  <c:v>45658</c:v>
                </c:pt>
                <c:pt idx="1" c:formatCode="mmm\-yy">
                  <c:v>45689</c:v>
                </c:pt>
                <c:pt idx="2" c:formatCode="mmm\-yy">
                  <c:v>45717</c:v>
                </c:pt>
                <c:pt idx="3" c:formatCode="mmm\-yy">
                  <c:v>45748</c:v>
                </c:pt>
                <c:pt idx="4" c:formatCode="mmm\-yy">
                  <c:v>45778</c:v>
                </c:pt>
                <c:pt idx="5" c:formatCode="mmm\-yy">
                  <c:v>45809</c:v>
                </c:pt>
                <c:pt idx="6" c:formatCode="mmm\-yy">
                  <c:v>45839</c:v>
                </c:pt>
                <c:pt idx="7" c:formatCode="mmm\-yy">
                  <c:v>45870</c:v>
                </c:pt>
                <c:pt idx="8" c:formatCode="mmm\-yy">
                  <c:v>45901</c:v>
                </c:pt>
                <c:pt idx="9" c:formatCode="mmm\-yy">
                  <c:v>45931</c:v>
                </c:pt>
                <c:pt idx="10" c:formatCode="mmm\-yy">
                  <c:v>45962</c:v>
                </c:pt>
                <c:pt idx="11" c:formatCode="mmm\-yy">
                  <c:v>45992</c:v>
                </c:pt>
                <c:pt idx="12" c:formatCode="mmm\-yy">
                  <c:v>46023</c:v>
                </c:pt>
              </c:numCache>
            </c:numRef>
          </c:cat>
          <c:val>
            <c:numRef>
              <c:extLst>
                <c:ext xmlns:c15="http://schemas.microsoft.com/office/drawing/2012/chart" uri="{02D57815-91ED-43cb-92C2-25804820EDAC}">
                  <c15:fullRef>
                    <c15:sqref>'2.大盘数据'!$C$107:$X$107</c15:sqref>
                  </c15:fullRef>
                </c:ext>
              </c:extLst>
              <c:f>'[1月月报数据-0129.xlsx]2.大盘数据'!$L$107:$X$107</c:f>
            </c:numRef>
          </c:val>
          <c:smooth val="0"/>
        </c:ser>
        <c:ser>
          <c:idx val="3"/>
          <c:order val="3"/>
          <c:tx>
            <c:strRef>
              <c:f>'[1月月报数据-0129.xlsx]2.大盘数据'!$B$108</c:f>
              <c:strCache>
                <c:ptCount val="1"/>
                <c:pt idx="0">
                  <c:v>1-7 T0CPS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  <a:sym typeface="华文楷体" panose="02010600040101010101" charset="-122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extLst>
                <c:ext xmlns:c15="http://schemas.microsoft.com/office/drawing/2012/chart" uri="{02D57815-91ED-43cb-92C2-25804820EDAC}">
                  <c15:fullRef>
                    <c15:sqref>'[1月月报数据-0129.xlsx]2.大盘数据'!$C$104:$X$104</c15:sqref>
                  </c15:fullRef>
                </c:ext>
              </c:extLst>
              <c:f>'[1月月报数据-0129.xlsx]2.大盘数据'!$L$104:$X$104</c:f>
              <c:numCache>
                <c:formatCode>mmm\-yy</c:formatCode>
                <c:ptCount val="13"/>
                <c:pt idx="0" c:formatCode="mmm\-yy">
                  <c:v>45658</c:v>
                </c:pt>
                <c:pt idx="1" c:formatCode="mmm\-yy">
                  <c:v>45689</c:v>
                </c:pt>
                <c:pt idx="2" c:formatCode="mmm\-yy">
                  <c:v>45717</c:v>
                </c:pt>
                <c:pt idx="3" c:formatCode="mmm\-yy">
                  <c:v>45748</c:v>
                </c:pt>
                <c:pt idx="4" c:formatCode="mmm\-yy">
                  <c:v>45778</c:v>
                </c:pt>
                <c:pt idx="5" c:formatCode="mmm\-yy">
                  <c:v>45809</c:v>
                </c:pt>
                <c:pt idx="6" c:formatCode="mmm\-yy">
                  <c:v>45839</c:v>
                </c:pt>
                <c:pt idx="7" c:formatCode="mmm\-yy">
                  <c:v>45870</c:v>
                </c:pt>
                <c:pt idx="8" c:formatCode="mmm\-yy">
                  <c:v>45901</c:v>
                </c:pt>
                <c:pt idx="9" c:formatCode="mmm\-yy">
                  <c:v>45931</c:v>
                </c:pt>
                <c:pt idx="10" c:formatCode="mmm\-yy">
                  <c:v>45962</c:v>
                </c:pt>
                <c:pt idx="11" c:formatCode="mmm\-yy">
                  <c:v>45992</c:v>
                </c:pt>
                <c:pt idx="12" c:formatCode="mmm\-yy">
                  <c:v>46023</c:v>
                </c:pt>
              </c:numCache>
            </c:numRef>
          </c:cat>
          <c:val>
            <c:numRef>
              <c:extLst>
                <c:ext xmlns:c15="http://schemas.microsoft.com/office/drawing/2012/chart" uri="{02D57815-91ED-43cb-92C2-25804820EDAC}">
                  <c15:fullRef>
                    <c15:sqref>'2.大盘数据'!$C$108:$X$108</c15:sqref>
                  </c15:fullRef>
                </c:ext>
              </c:extLst>
              <c:f>'[1月月报数据-0129.xlsx]2.大盘数据'!$L$108:$X$108</c:f>
              <c:numCache>
                <c:formatCode>0.0%</c:formatCode>
                <c:ptCount val="13"/>
                <c:pt idx="0">
                  <c:v>0.183519444298058</c:v>
                </c:pt>
                <c:pt idx="1">
                  <c:v>0.230543976058145</c:v>
                </c:pt>
                <c:pt idx="2">
                  <c:v>0.209231069946982</c:v>
                </c:pt>
                <c:pt idx="3">
                  <c:v>0.234000900129996</c:v>
                </c:pt>
                <c:pt idx="4">
                  <c:v>0.240908725712145</c:v>
                </c:pt>
                <c:pt idx="5">
                  <c:v>0.227270719936354</c:v>
                </c:pt>
                <c:pt idx="6">
                  <c:v>0.222150871972</c:v>
                </c:pt>
                <c:pt idx="7">
                  <c:v>0.215040299167084</c:v>
                </c:pt>
                <c:pt idx="8">
                  <c:v>0.200023797557978</c:v>
                </c:pt>
                <c:pt idx="9">
                  <c:v>0.175450355035567</c:v>
                </c:pt>
                <c:pt idx="10">
                  <c:v>0.194229865311271</c:v>
                </c:pt>
                <c:pt idx="11">
                  <c:v>0.179475025446726</c:v>
                </c:pt>
                <c:pt idx="12">
                  <c:v>0.177988548032691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0"/>
        <c:smooth val="0"/>
        <c:axId val="83169099"/>
        <c:axId val="457720245"/>
      </c:lineChart>
      <c:dateAx>
        <c:axId val="83169099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457720245"/>
        <c:crosses val="autoZero"/>
        <c:auto val="1"/>
        <c:lblOffset val="100"/>
        <c:baseTimeUnit val="months"/>
      </c:dateAx>
      <c:valAx>
        <c:axId val="457720245"/>
        <c:scaling>
          <c:orientation val="minMax"/>
        </c:scaling>
        <c:delete val="0"/>
        <c:axPos val="l"/>
        <c:numFmt formatCode="0.0%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831690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华文楷体" panose="02010600040101010101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71e3fb68-a214-41ee-b23c-f1853220f2fd}"/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lang="zh-CN">
          <a:latin typeface="华文楷体" panose="02010600040101010101" charset="-122"/>
          <a:ea typeface="华文楷体" panose="02010600040101010101" charset="-122"/>
          <a:cs typeface="华文楷体" panose="02010600040101010101" charset="-122"/>
          <a:sym typeface="华文楷体" panose="02010600040101010101" charset="-122"/>
        </a:defRPr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  <a:r>
              <a:rPr lang="en-US" altLang="zh-CN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rPr>
              <a:t>1-3T0</a:t>
            </a:r>
            <a:r>
              <a:rPr altLang="en-US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rPr>
              <a:t>过件率</a:t>
            </a:r>
            <a:r>
              <a:rPr lang="en-US" altLang="zh-CN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rPr>
              <a:t> &amp; 1-7T0</a:t>
            </a:r>
            <a:r>
              <a:rPr altLang="en-US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rPr>
              <a:t>平均授信额度</a:t>
            </a:r>
            <a:endParaRPr lang="en-US" altLang="zh-CN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华文楷体" panose="02010600040101010101" charset="-122"/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3"/>
          <c:order val="3"/>
          <c:tx>
            <c:strRef>
              <c:f>'[1月月报数据-0129.xlsx]2.大盘数据'!$B$228</c:f>
              <c:strCache>
                <c:ptCount val="1"/>
                <c:pt idx="0">
                  <c:v>1-7 T0平均授信额度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  <a:sym typeface="华文楷体" panose="02010600040101010101" charset="-122"/>
                  </a:defRPr>
                </a:pPr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'[1月月报数据-0129.xlsx]2.大盘数据'!$C$224:$X$224</c:f>
              <c:numCache>
                <c:formatCode>mmm\-yy</c:formatCode>
                <c:ptCount val="22"/>
                <c:pt idx="0" c:formatCode="mmm\-yy">
                  <c:v>45383</c:v>
                </c:pt>
                <c:pt idx="1" c:formatCode="mmm\-yy">
                  <c:v>45413</c:v>
                </c:pt>
                <c:pt idx="2" c:formatCode="mmm\-yy">
                  <c:v>45444</c:v>
                </c:pt>
                <c:pt idx="3" c:formatCode="mmm\-yy">
                  <c:v>45474</c:v>
                </c:pt>
                <c:pt idx="4" c:formatCode="mmm\-yy">
                  <c:v>45505</c:v>
                </c:pt>
                <c:pt idx="5" c:formatCode="mmm\-yy">
                  <c:v>45536</c:v>
                </c:pt>
                <c:pt idx="6" c:formatCode="mmm\-yy">
                  <c:v>45566</c:v>
                </c:pt>
                <c:pt idx="7" c:formatCode="mmm\-yy">
                  <c:v>45597</c:v>
                </c:pt>
                <c:pt idx="8" c:formatCode="mmm\-yy">
                  <c:v>45627</c:v>
                </c:pt>
                <c:pt idx="9" c:formatCode="mmm\-yy">
                  <c:v>45658</c:v>
                </c:pt>
                <c:pt idx="10" c:formatCode="mmm\-yy">
                  <c:v>45689</c:v>
                </c:pt>
                <c:pt idx="11" c:formatCode="mmm\-yy">
                  <c:v>45717</c:v>
                </c:pt>
                <c:pt idx="12" c:formatCode="mmm\-yy">
                  <c:v>45748</c:v>
                </c:pt>
                <c:pt idx="13" c:formatCode="mmm\-yy">
                  <c:v>45778</c:v>
                </c:pt>
                <c:pt idx="14" c:formatCode="mmm\-yy">
                  <c:v>45809</c:v>
                </c:pt>
                <c:pt idx="15" c:formatCode="mmm\-yy">
                  <c:v>45839</c:v>
                </c:pt>
                <c:pt idx="16" c:formatCode="mmm\-yy">
                  <c:v>45870</c:v>
                </c:pt>
                <c:pt idx="17" c:formatCode="mmm\-yy">
                  <c:v>45901</c:v>
                </c:pt>
                <c:pt idx="18" c:formatCode="mmm\-yy">
                  <c:v>45931</c:v>
                </c:pt>
                <c:pt idx="19" c:formatCode="mmm\-yy">
                  <c:v>45962</c:v>
                </c:pt>
                <c:pt idx="20" c:formatCode="mmm\-yy">
                  <c:v>45992</c:v>
                </c:pt>
                <c:pt idx="21" c:formatCode="mmm\-yy">
                  <c:v>46023</c:v>
                </c:pt>
              </c:numCache>
            </c:numRef>
          </c:cat>
          <c:val>
            <c:numRef>
              <c:f>'[1月月报数据-0129.xlsx]2.大盘数据'!$C$228:$X$228</c:f>
              <c:numCache>
                <c:formatCode>0_ </c:formatCode>
                <c:ptCount val="22"/>
                <c:pt idx="0">
                  <c:v>16277.8048516353</c:v>
                </c:pt>
                <c:pt idx="1">
                  <c:v>15993.0584243755</c:v>
                </c:pt>
                <c:pt idx="2">
                  <c:v>18149.4165111036</c:v>
                </c:pt>
                <c:pt idx="3">
                  <c:v>19450.3542035629</c:v>
                </c:pt>
                <c:pt idx="4">
                  <c:v>19778.2137806298</c:v>
                </c:pt>
                <c:pt idx="5">
                  <c:v>20883.2315333301</c:v>
                </c:pt>
                <c:pt idx="6">
                  <c:v>22456.9423149151</c:v>
                </c:pt>
                <c:pt idx="7">
                  <c:v>21029.551562629</c:v>
                </c:pt>
                <c:pt idx="8">
                  <c:v>20641.9100033087</c:v>
                </c:pt>
                <c:pt idx="9">
                  <c:v>22559.0103232072</c:v>
                </c:pt>
                <c:pt idx="10">
                  <c:v>23472.1592592049</c:v>
                </c:pt>
                <c:pt idx="11">
                  <c:v>25422.2289412909</c:v>
                </c:pt>
                <c:pt idx="12">
                  <c:v>25910.2288677214</c:v>
                </c:pt>
                <c:pt idx="13">
                  <c:v>25004.0017938045</c:v>
                </c:pt>
                <c:pt idx="14">
                  <c:v>25388.0440327264</c:v>
                </c:pt>
                <c:pt idx="15">
                  <c:v>26537.659927374</c:v>
                </c:pt>
                <c:pt idx="16">
                  <c:v>27251.7676361386</c:v>
                </c:pt>
                <c:pt idx="17">
                  <c:v>27566.285692636</c:v>
                </c:pt>
                <c:pt idx="18">
                  <c:v>26150.8382383436</c:v>
                </c:pt>
                <c:pt idx="19">
                  <c:v>23456.2199255891</c:v>
                </c:pt>
                <c:pt idx="20">
                  <c:v>20972.2276173757</c:v>
                </c:pt>
                <c:pt idx="21">
                  <c:v>21311.0821961282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65044332"/>
        <c:axId val="13453909"/>
      </c:barChart>
      <c:lineChart>
        <c:grouping val="standard"/>
        <c:varyColors val="0"/>
        <c:ser>
          <c:idx val="0"/>
          <c:order val="0"/>
          <c:tx>
            <c:strRef>
              <c:f>'[1月月报数据-0129.xlsx]2.大盘数据'!$B$225</c:f>
              <c:strCache>
                <c:ptCount val="1"/>
                <c:pt idx="0">
                  <c:v>1-3 T0过件率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  <a:sym typeface="华文楷体" panose="02010600040101010101" charset="-122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'[1月月报数据-0129.xlsx]2.大盘数据'!$C$224:$X$224</c:f>
              <c:numCache>
                <c:formatCode>mmm\-yy</c:formatCode>
                <c:ptCount val="22"/>
                <c:pt idx="0" c:formatCode="mmm\-yy">
                  <c:v>45383</c:v>
                </c:pt>
                <c:pt idx="1" c:formatCode="mmm\-yy">
                  <c:v>45413</c:v>
                </c:pt>
                <c:pt idx="2" c:formatCode="mmm\-yy">
                  <c:v>45444</c:v>
                </c:pt>
                <c:pt idx="3" c:formatCode="mmm\-yy">
                  <c:v>45474</c:v>
                </c:pt>
                <c:pt idx="4" c:formatCode="mmm\-yy">
                  <c:v>45505</c:v>
                </c:pt>
                <c:pt idx="5" c:formatCode="mmm\-yy">
                  <c:v>45536</c:v>
                </c:pt>
                <c:pt idx="6" c:formatCode="mmm\-yy">
                  <c:v>45566</c:v>
                </c:pt>
                <c:pt idx="7" c:formatCode="mmm\-yy">
                  <c:v>45597</c:v>
                </c:pt>
                <c:pt idx="8" c:formatCode="mmm\-yy">
                  <c:v>45627</c:v>
                </c:pt>
                <c:pt idx="9" c:formatCode="mmm\-yy">
                  <c:v>45658</c:v>
                </c:pt>
                <c:pt idx="10" c:formatCode="mmm\-yy">
                  <c:v>45689</c:v>
                </c:pt>
                <c:pt idx="11" c:formatCode="mmm\-yy">
                  <c:v>45717</c:v>
                </c:pt>
                <c:pt idx="12" c:formatCode="mmm\-yy">
                  <c:v>45748</c:v>
                </c:pt>
                <c:pt idx="13" c:formatCode="mmm\-yy">
                  <c:v>45778</c:v>
                </c:pt>
                <c:pt idx="14" c:formatCode="mmm\-yy">
                  <c:v>45809</c:v>
                </c:pt>
                <c:pt idx="15" c:formatCode="mmm\-yy">
                  <c:v>45839</c:v>
                </c:pt>
                <c:pt idx="16" c:formatCode="mmm\-yy">
                  <c:v>45870</c:v>
                </c:pt>
                <c:pt idx="17" c:formatCode="mmm\-yy">
                  <c:v>45901</c:v>
                </c:pt>
                <c:pt idx="18" c:formatCode="mmm\-yy">
                  <c:v>45931</c:v>
                </c:pt>
                <c:pt idx="19" c:formatCode="mmm\-yy">
                  <c:v>45962</c:v>
                </c:pt>
                <c:pt idx="20" c:formatCode="mmm\-yy">
                  <c:v>45992</c:v>
                </c:pt>
                <c:pt idx="21" c:formatCode="mmm\-yy">
                  <c:v>46023</c:v>
                </c:pt>
              </c:numCache>
            </c:numRef>
          </c:cat>
          <c:val>
            <c:numRef>
              <c:f>'[1月月报数据-0129.xlsx]2.大盘数据'!$C$225:$X$225</c:f>
              <c:numCache>
                <c:formatCode>0.0%</c:formatCode>
                <c:ptCount val="22"/>
                <c:pt idx="0">
                  <c:v>0.0922064921074236</c:v>
                </c:pt>
                <c:pt idx="1">
                  <c:v>0.0815118931247964</c:v>
                </c:pt>
                <c:pt idx="2">
                  <c:v>0.0834804726567805</c:v>
                </c:pt>
                <c:pt idx="3">
                  <c:v>0.0918090000528793</c:v>
                </c:pt>
                <c:pt idx="4">
                  <c:v>0.0951990178982095</c:v>
                </c:pt>
                <c:pt idx="5">
                  <c:v>0.0972853107534168</c:v>
                </c:pt>
                <c:pt idx="6">
                  <c:v>0.101050865817148</c:v>
                </c:pt>
                <c:pt idx="7">
                  <c:v>0.0947869138918552</c:v>
                </c:pt>
                <c:pt idx="8">
                  <c:v>0.092861962960186</c:v>
                </c:pt>
                <c:pt idx="9">
                  <c:v>0.0974865605753142</c:v>
                </c:pt>
                <c:pt idx="10">
                  <c:v>0.0954592613421504</c:v>
                </c:pt>
                <c:pt idx="11">
                  <c:v>0.0886909046715342</c:v>
                </c:pt>
                <c:pt idx="12">
                  <c:v>0.096423618216129</c:v>
                </c:pt>
                <c:pt idx="13">
                  <c:v>0.0962423680593293</c:v>
                </c:pt>
                <c:pt idx="14">
                  <c:v>0.0999210078750312</c:v>
                </c:pt>
                <c:pt idx="15">
                  <c:v>0.0980678659223011</c:v>
                </c:pt>
                <c:pt idx="16">
                  <c:v>0.107606336710218</c:v>
                </c:pt>
                <c:pt idx="17">
                  <c:v>0.106689001341835</c:v>
                </c:pt>
                <c:pt idx="18">
                  <c:v>0.0855806329088619</c:v>
                </c:pt>
                <c:pt idx="19">
                  <c:v>0.0866856871136472</c:v>
                </c:pt>
                <c:pt idx="20">
                  <c:v>0.0757238685573576</c:v>
                </c:pt>
                <c:pt idx="21">
                  <c:v>0.0788562985237126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'[1月月报数据-0129.xlsx]2.大盘数据'!$B$226</c:f>
              <c:strCache>
                <c:ptCount val="1"/>
                <c:pt idx="0">
                  <c:v>1-3 T0过件率_投放渠道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  <a:sym typeface="华文楷体" panose="02010600040101010101" charset="-122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'[1月月报数据-0129.xlsx]2.大盘数据'!$C$224:$X$224</c:f>
              <c:numCache>
                <c:formatCode>mmm\-yy</c:formatCode>
                <c:ptCount val="22"/>
                <c:pt idx="0" c:formatCode="mmm\-yy">
                  <c:v>45383</c:v>
                </c:pt>
                <c:pt idx="1" c:formatCode="mmm\-yy">
                  <c:v>45413</c:v>
                </c:pt>
                <c:pt idx="2" c:formatCode="mmm\-yy">
                  <c:v>45444</c:v>
                </c:pt>
                <c:pt idx="3" c:formatCode="mmm\-yy">
                  <c:v>45474</c:v>
                </c:pt>
                <c:pt idx="4" c:formatCode="mmm\-yy">
                  <c:v>45505</c:v>
                </c:pt>
                <c:pt idx="5" c:formatCode="mmm\-yy">
                  <c:v>45536</c:v>
                </c:pt>
                <c:pt idx="6" c:formatCode="mmm\-yy">
                  <c:v>45566</c:v>
                </c:pt>
                <c:pt idx="7" c:formatCode="mmm\-yy">
                  <c:v>45597</c:v>
                </c:pt>
                <c:pt idx="8" c:formatCode="mmm\-yy">
                  <c:v>45627</c:v>
                </c:pt>
                <c:pt idx="9" c:formatCode="mmm\-yy">
                  <c:v>45658</c:v>
                </c:pt>
                <c:pt idx="10" c:formatCode="mmm\-yy">
                  <c:v>45689</c:v>
                </c:pt>
                <c:pt idx="11" c:formatCode="mmm\-yy">
                  <c:v>45717</c:v>
                </c:pt>
                <c:pt idx="12" c:formatCode="mmm\-yy">
                  <c:v>45748</c:v>
                </c:pt>
                <c:pt idx="13" c:formatCode="mmm\-yy">
                  <c:v>45778</c:v>
                </c:pt>
                <c:pt idx="14" c:formatCode="mmm\-yy">
                  <c:v>45809</c:v>
                </c:pt>
                <c:pt idx="15" c:formatCode="mmm\-yy">
                  <c:v>45839</c:v>
                </c:pt>
                <c:pt idx="16" c:formatCode="mmm\-yy">
                  <c:v>45870</c:v>
                </c:pt>
                <c:pt idx="17" c:formatCode="mmm\-yy">
                  <c:v>45901</c:v>
                </c:pt>
                <c:pt idx="18" c:formatCode="mmm\-yy">
                  <c:v>45931</c:v>
                </c:pt>
                <c:pt idx="19" c:formatCode="mmm\-yy">
                  <c:v>45962</c:v>
                </c:pt>
                <c:pt idx="20" c:formatCode="mmm\-yy">
                  <c:v>45992</c:v>
                </c:pt>
                <c:pt idx="21" c:formatCode="mmm\-yy">
                  <c:v>46023</c:v>
                </c:pt>
              </c:numCache>
            </c:numRef>
          </c:cat>
          <c:val>
            <c:numRef>
              <c:f>'[1月月报数据-0129.xlsx]2.大盘数据'!$C$226:$X$226</c:f>
              <c:numCache>
                <c:formatCode>0.0%</c:formatCode>
                <c:ptCount val="22"/>
                <c:pt idx="0">
                  <c:v>0.120657132605464</c:v>
                </c:pt>
                <c:pt idx="1">
                  <c:v>0.100458434928723</c:v>
                </c:pt>
                <c:pt idx="2">
                  <c:v>0.104647910460351</c:v>
                </c:pt>
                <c:pt idx="3">
                  <c:v>0.125164861178433</c:v>
                </c:pt>
                <c:pt idx="4">
                  <c:v>0.128725388276226</c:v>
                </c:pt>
                <c:pt idx="5">
                  <c:v>0.132874958305088</c:v>
                </c:pt>
                <c:pt idx="6">
                  <c:v>0.147091006757698</c:v>
                </c:pt>
                <c:pt idx="7">
                  <c:v>0.138028504061514</c:v>
                </c:pt>
                <c:pt idx="8">
                  <c:v>0.130097195498444</c:v>
                </c:pt>
                <c:pt idx="9">
                  <c:v>0.136769921967368</c:v>
                </c:pt>
                <c:pt idx="10">
                  <c:v>0.134537462537463</c:v>
                </c:pt>
                <c:pt idx="11">
                  <c:v>0.128636899936593</c:v>
                </c:pt>
                <c:pt idx="12">
                  <c:v>0.131132589067924</c:v>
                </c:pt>
                <c:pt idx="13">
                  <c:v>0.122810036829243</c:v>
                </c:pt>
                <c:pt idx="14">
                  <c:v>0.123849256014463</c:v>
                </c:pt>
                <c:pt idx="15">
                  <c:v>0.132339081922556</c:v>
                </c:pt>
                <c:pt idx="16">
                  <c:v>0.144390154201802</c:v>
                </c:pt>
                <c:pt idx="17">
                  <c:v>0.144983450768575</c:v>
                </c:pt>
                <c:pt idx="18">
                  <c:v>0.124682642104642</c:v>
                </c:pt>
                <c:pt idx="19">
                  <c:v>0.131793168880455</c:v>
                </c:pt>
                <c:pt idx="20">
                  <c:v>0.136701410784277</c:v>
                </c:pt>
                <c:pt idx="21">
                  <c:v>0.159471860661111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'[1月月报数据-0129.xlsx]2.大盘数据'!$B$227</c:f>
              <c:strCache>
                <c:ptCount val="1"/>
                <c:pt idx="0">
                  <c:v>1-3 T0过件率_免费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  <a:sym typeface="华文楷体" panose="02010600040101010101" charset="-122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'[1月月报数据-0129.xlsx]2.大盘数据'!$C$224:$X$224</c:f>
              <c:numCache>
                <c:formatCode>mmm\-yy</c:formatCode>
                <c:ptCount val="22"/>
                <c:pt idx="0" c:formatCode="mmm\-yy">
                  <c:v>45383</c:v>
                </c:pt>
                <c:pt idx="1" c:formatCode="mmm\-yy">
                  <c:v>45413</c:v>
                </c:pt>
                <c:pt idx="2" c:formatCode="mmm\-yy">
                  <c:v>45444</c:v>
                </c:pt>
                <c:pt idx="3" c:formatCode="mmm\-yy">
                  <c:v>45474</c:v>
                </c:pt>
                <c:pt idx="4" c:formatCode="mmm\-yy">
                  <c:v>45505</c:v>
                </c:pt>
                <c:pt idx="5" c:formatCode="mmm\-yy">
                  <c:v>45536</c:v>
                </c:pt>
                <c:pt idx="6" c:formatCode="mmm\-yy">
                  <c:v>45566</c:v>
                </c:pt>
                <c:pt idx="7" c:formatCode="mmm\-yy">
                  <c:v>45597</c:v>
                </c:pt>
                <c:pt idx="8" c:formatCode="mmm\-yy">
                  <c:v>45627</c:v>
                </c:pt>
                <c:pt idx="9" c:formatCode="mmm\-yy">
                  <c:v>45658</c:v>
                </c:pt>
                <c:pt idx="10" c:formatCode="mmm\-yy">
                  <c:v>45689</c:v>
                </c:pt>
                <c:pt idx="11" c:formatCode="mmm\-yy">
                  <c:v>45717</c:v>
                </c:pt>
                <c:pt idx="12" c:formatCode="mmm\-yy">
                  <c:v>45748</c:v>
                </c:pt>
                <c:pt idx="13" c:formatCode="mmm\-yy">
                  <c:v>45778</c:v>
                </c:pt>
                <c:pt idx="14" c:formatCode="mmm\-yy">
                  <c:v>45809</c:v>
                </c:pt>
                <c:pt idx="15" c:formatCode="mmm\-yy">
                  <c:v>45839</c:v>
                </c:pt>
                <c:pt idx="16" c:formatCode="mmm\-yy">
                  <c:v>45870</c:v>
                </c:pt>
                <c:pt idx="17" c:formatCode="mmm\-yy">
                  <c:v>45901</c:v>
                </c:pt>
                <c:pt idx="18" c:formatCode="mmm\-yy">
                  <c:v>45931</c:v>
                </c:pt>
                <c:pt idx="19" c:formatCode="mmm\-yy">
                  <c:v>45962</c:v>
                </c:pt>
                <c:pt idx="20" c:formatCode="mmm\-yy">
                  <c:v>45992</c:v>
                </c:pt>
                <c:pt idx="21" c:formatCode="mmm\-yy">
                  <c:v>46023</c:v>
                </c:pt>
              </c:numCache>
            </c:numRef>
          </c:cat>
          <c:val>
            <c:numRef>
              <c:f>'[1月月报数据-0129.xlsx]2.大盘数据'!$C$227:$X$227</c:f>
              <c:numCache>
                <c:formatCode>0.0%</c:formatCode>
                <c:ptCount val="22"/>
                <c:pt idx="0">
                  <c:v>0.0329063344693854</c:v>
                </c:pt>
                <c:pt idx="1">
                  <c:v>0.0343026827769814</c:v>
                </c:pt>
                <c:pt idx="2">
                  <c:v>0.035182089854632</c:v>
                </c:pt>
                <c:pt idx="3">
                  <c:v>0.036105908153949</c:v>
                </c:pt>
                <c:pt idx="4">
                  <c:v>0.0372700521726572</c:v>
                </c:pt>
                <c:pt idx="5">
                  <c:v>0.0383306003137031</c:v>
                </c:pt>
                <c:pt idx="6">
                  <c:v>0.0407264196029022</c:v>
                </c:pt>
                <c:pt idx="7">
                  <c:v>0.040855861358837</c:v>
                </c:pt>
                <c:pt idx="8">
                  <c:v>0.0356018152929871</c:v>
                </c:pt>
                <c:pt idx="9">
                  <c:v>0.0380112771860736</c:v>
                </c:pt>
                <c:pt idx="10">
                  <c:v>0.0351979886863608</c:v>
                </c:pt>
                <c:pt idx="11">
                  <c:v>0.0329852366721511</c:v>
                </c:pt>
                <c:pt idx="12">
                  <c:v>0.033869364662708</c:v>
                </c:pt>
                <c:pt idx="13">
                  <c:v>0.0352618966107497</c:v>
                </c:pt>
                <c:pt idx="14">
                  <c:v>0.036985559830873</c:v>
                </c:pt>
                <c:pt idx="15">
                  <c:v>0.0291284974953643</c:v>
                </c:pt>
                <c:pt idx="16">
                  <c:v>0.0332811380344489</c:v>
                </c:pt>
                <c:pt idx="17">
                  <c:v>0.0362368470207335</c:v>
                </c:pt>
                <c:pt idx="18">
                  <c:v>0.0287238609186239</c:v>
                </c:pt>
                <c:pt idx="19">
                  <c:v>0.0299988076785501</c:v>
                </c:pt>
                <c:pt idx="20">
                  <c:v>0.0242331224289503</c:v>
                </c:pt>
                <c:pt idx="21">
                  <c:v>0.0216109584182995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0"/>
        <c:smooth val="0"/>
        <c:axId val="943875538"/>
        <c:axId val="696244915"/>
      </c:lineChart>
      <c:dateAx>
        <c:axId val="943875538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696244915"/>
        <c:crosses val="autoZero"/>
        <c:auto val="1"/>
        <c:lblOffset val="100"/>
        <c:baseTimeUnit val="months"/>
      </c:dateAx>
      <c:valAx>
        <c:axId val="696244915"/>
        <c:scaling>
          <c:orientation val="minMax"/>
        </c:scaling>
        <c:delete val="0"/>
        <c:axPos val="l"/>
        <c:numFmt formatCode="0.0%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943875538"/>
        <c:crosses val="autoZero"/>
        <c:crossBetween val="between"/>
      </c:valAx>
      <c:dateAx>
        <c:axId val="565044332"/>
        <c:scaling>
          <c:orientation val="minMax"/>
        </c:scaling>
        <c:delete val="1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13453909"/>
        <c:crosses val="autoZero"/>
        <c:auto val="1"/>
        <c:lblOffset val="100"/>
        <c:baseTimeUnit val="months"/>
      </c:dateAx>
      <c:valAx>
        <c:axId val="13453909"/>
        <c:scaling>
          <c:orientation val="minMax"/>
        </c:scaling>
        <c:delete val="0"/>
        <c:axPos val="r"/>
        <c:numFmt formatCode="0_ 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565044332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华文楷体" panose="02010600040101010101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0107760d-f921-431e-b426-6ce32177b6d8}"/>
      </c:ext>
    </c:extLst>
  </c:chart>
  <c:spPr>
    <a:solidFill>
      <a:schemeClr val="bg1"/>
    </a:solidFill>
    <a:ln w="9525" cap="flat" cmpd="sng" algn="ctr">
      <a:solidFill>
        <a:srgbClr val="000000">
          <a:alpha val="0"/>
        </a:srgbClr>
      </a:solidFill>
      <a:round/>
    </a:ln>
    <a:effectLst/>
  </c:spPr>
  <c:txPr>
    <a:bodyPr/>
    <a:lstStyle/>
    <a:p>
      <a:pPr>
        <a:defRPr lang="zh-CN">
          <a:latin typeface="华文楷体" panose="02010600040101010101" charset="-122"/>
          <a:ea typeface="华文楷体" panose="02010600040101010101" charset="-122"/>
          <a:cs typeface="华文楷体" panose="02010600040101010101" charset="-122"/>
          <a:sym typeface="华文楷体" panose="02010600040101010101" charset="-122"/>
        </a:defRPr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+mn-cs"/>
              </a:defRPr>
            </a:pPr>
            <a:r>
              <a:rPr lang="zh-CN" altLang="en-US" sz="1600"/>
              <a:t>质量表现</a:t>
            </a:r>
            <a:endParaRPr lang="zh-CN" sz="1600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730905077262693"/>
          <c:y val="0.179685134726007"/>
          <c:w val="0.835386313465784"/>
          <c:h val="0.660732667272177"/>
        </c:manualLayout>
      </c:layout>
      <c:barChart>
        <c:barDir val="col"/>
        <c:grouping val="clustered"/>
        <c:varyColors val="0"/>
        <c:ser>
          <c:idx val="2"/>
          <c:order val="2"/>
          <c:tx>
            <c:strRef>
              <c:f>[2601月报数据V2.xlsx]作图!$Z$44</c:f>
              <c:strCache>
                <c:ptCount val="1"/>
                <c:pt idx="0">
                  <c:v>1-7额度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charset="-122"/>
                    <a:ea typeface="华文楷体" panose="02010600040101010101" charset="-122"/>
                    <a:cs typeface="+mn-cs"/>
                  </a:defRPr>
                </a:pPr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[2601月报数据V2.xlsx]作图!$AA$41:$AL$41</c:f>
              <c:numCache>
                <c:formatCode>mmm\-yy</c:formatCode>
                <c:ptCount val="8"/>
                <c:pt idx="0" c:formatCode="mmm\-yy">
                  <c:v>45809</c:v>
                </c:pt>
                <c:pt idx="1" c:formatCode="mmm\-yy">
                  <c:v>45839</c:v>
                </c:pt>
                <c:pt idx="2" c:formatCode="mmm\-yy">
                  <c:v>45870</c:v>
                </c:pt>
                <c:pt idx="3" c:formatCode="mmm\-yy">
                  <c:v>45901</c:v>
                </c:pt>
                <c:pt idx="4" c:formatCode="mmm\-yy">
                  <c:v>45931</c:v>
                </c:pt>
                <c:pt idx="5" c:formatCode="mmm\-yy">
                  <c:v>45962</c:v>
                </c:pt>
                <c:pt idx="6" c:formatCode="mmm\-yy">
                  <c:v>45992</c:v>
                </c:pt>
                <c:pt idx="7" c:formatCode="mmm\-yy">
                  <c:v>46023</c:v>
                </c:pt>
              </c:numCache>
            </c:numRef>
          </c:cat>
          <c:val>
            <c:numRef>
              <c:f>[2601月报数据V2.xlsx]作图!$AA$44:$AL$44</c:f>
              <c:numCache>
                <c:formatCode>#,##0</c:formatCode>
                <c:ptCount val="8"/>
                <c:pt idx="0">
                  <c:v>20131.9254971492</c:v>
                </c:pt>
                <c:pt idx="1">
                  <c:v>22501.9557577942</c:v>
                </c:pt>
                <c:pt idx="2">
                  <c:v>24747.9049646046</c:v>
                </c:pt>
                <c:pt idx="3">
                  <c:v>26961.63828853</c:v>
                </c:pt>
                <c:pt idx="4">
                  <c:v>27008.8332086761</c:v>
                </c:pt>
                <c:pt idx="5">
                  <c:v>29622.5547035721</c:v>
                </c:pt>
                <c:pt idx="6">
                  <c:v>24108.6146160251</c:v>
                </c:pt>
                <c:pt idx="7">
                  <c:v>25999.2819285348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803524719"/>
        <c:axId val="803503119"/>
      </c:barChart>
      <c:lineChart>
        <c:grouping val="standard"/>
        <c:varyColors val="0"/>
        <c:ser>
          <c:idx val="0"/>
          <c:order val="0"/>
          <c:tx>
            <c:strRef>
              <c:f>[2601月报数据V2.xlsx]作图!$Z$42</c:f>
              <c:strCache>
                <c:ptCount val="1"/>
                <c:pt idx="0">
                  <c:v>过件率1-3_排年龄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charset="-122"/>
                    <a:ea typeface="华文楷体" panose="02010600040101010101" charset="-122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[2601月报数据V2.xlsx]作图!$AA$41:$AL$41</c:f>
              <c:numCache>
                <c:formatCode>mmm\-yy</c:formatCode>
                <c:ptCount val="8"/>
                <c:pt idx="0" c:formatCode="mmm\-yy">
                  <c:v>45809</c:v>
                </c:pt>
                <c:pt idx="1" c:formatCode="mmm\-yy">
                  <c:v>45839</c:v>
                </c:pt>
                <c:pt idx="2" c:formatCode="mmm\-yy">
                  <c:v>45870</c:v>
                </c:pt>
                <c:pt idx="3" c:formatCode="mmm\-yy">
                  <c:v>45901</c:v>
                </c:pt>
                <c:pt idx="4" c:formatCode="mmm\-yy">
                  <c:v>45931</c:v>
                </c:pt>
                <c:pt idx="5" c:formatCode="mmm\-yy">
                  <c:v>45962</c:v>
                </c:pt>
                <c:pt idx="6" c:formatCode="mmm\-yy">
                  <c:v>45992</c:v>
                </c:pt>
                <c:pt idx="7" c:formatCode="mmm\-yy">
                  <c:v>46023</c:v>
                </c:pt>
              </c:numCache>
            </c:numRef>
          </c:cat>
          <c:val>
            <c:numRef>
              <c:f>[2601月报数据V2.xlsx]作图!$AA$42:$AL$42</c:f>
              <c:numCache>
                <c:formatCode>0%</c:formatCode>
                <c:ptCount val="8"/>
                <c:pt idx="0">
                  <c:v>0.162939577304218</c:v>
                </c:pt>
                <c:pt idx="1">
                  <c:v>0.175196939005177</c:v>
                </c:pt>
                <c:pt idx="2">
                  <c:v>0.203498125123347</c:v>
                </c:pt>
                <c:pt idx="3">
                  <c:v>0.221156648210454</c:v>
                </c:pt>
                <c:pt idx="4">
                  <c:v>0.195560048209634</c:v>
                </c:pt>
                <c:pt idx="5">
                  <c:v>0.206093734183622</c:v>
                </c:pt>
                <c:pt idx="6">
                  <c:v>0.173653697932375</c:v>
                </c:pt>
                <c:pt idx="7">
                  <c:v>0.19869771112865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[2601月报数据V2.xlsx]作图!$Z$43</c:f>
              <c:strCache>
                <c:ptCount val="1"/>
                <c:pt idx="0">
                  <c:v>过件率1-7_排年龄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charset="-122"/>
                    <a:ea typeface="华文楷体" panose="02010600040101010101" charset="-122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[2601月报数据V2.xlsx]作图!$AA$41:$AL$41</c:f>
              <c:numCache>
                <c:formatCode>mmm\-yy</c:formatCode>
                <c:ptCount val="8"/>
                <c:pt idx="0" c:formatCode="mmm\-yy">
                  <c:v>45809</c:v>
                </c:pt>
                <c:pt idx="1" c:formatCode="mmm\-yy">
                  <c:v>45839</c:v>
                </c:pt>
                <c:pt idx="2" c:formatCode="mmm\-yy">
                  <c:v>45870</c:v>
                </c:pt>
                <c:pt idx="3" c:formatCode="mmm\-yy">
                  <c:v>45901</c:v>
                </c:pt>
                <c:pt idx="4" c:formatCode="mmm\-yy">
                  <c:v>45931</c:v>
                </c:pt>
                <c:pt idx="5" c:formatCode="mmm\-yy">
                  <c:v>45962</c:v>
                </c:pt>
                <c:pt idx="6" c:formatCode="mmm\-yy">
                  <c:v>45992</c:v>
                </c:pt>
                <c:pt idx="7" c:formatCode="mmm\-yy">
                  <c:v>46023</c:v>
                </c:pt>
              </c:numCache>
            </c:numRef>
          </c:cat>
          <c:val>
            <c:numRef>
              <c:f>[2601月报数据V2.xlsx]作图!$AA$43:$AL$43</c:f>
              <c:numCache>
                <c:formatCode>0%</c:formatCode>
                <c:ptCount val="8"/>
                <c:pt idx="0">
                  <c:v>0.504498816101026</c:v>
                </c:pt>
                <c:pt idx="1">
                  <c:v>0.499572361017331</c:v>
                </c:pt>
                <c:pt idx="2">
                  <c:v>0.533180382869548</c:v>
                </c:pt>
                <c:pt idx="3">
                  <c:v>0.543010040533022</c:v>
                </c:pt>
                <c:pt idx="4">
                  <c:v>0.519808716612884</c:v>
                </c:pt>
                <c:pt idx="5">
                  <c:v>0.541249114282822</c:v>
                </c:pt>
                <c:pt idx="6">
                  <c:v>0.523206326865722</c:v>
                </c:pt>
                <c:pt idx="7">
                  <c:v>0.577052091554854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0"/>
        <c:smooth val="0"/>
        <c:axId val="803494959"/>
        <c:axId val="803520399"/>
      </c:lineChart>
      <c:dateAx>
        <c:axId val="803494959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+mn-cs"/>
              </a:defRPr>
            </a:pPr>
          </a:p>
        </c:txPr>
        <c:crossAx val="803520399"/>
        <c:crosses val="autoZero"/>
        <c:auto val="1"/>
        <c:lblOffset val="100"/>
        <c:baseTimeUnit val="months"/>
      </c:dateAx>
      <c:valAx>
        <c:axId val="803520399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+mn-cs"/>
              </a:defRPr>
            </a:pPr>
          </a:p>
        </c:txPr>
        <c:crossAx val="803494959"/>
        <c:crosses val="autoZero"/>
        <c:crossBetween val="between"/>
      </c:valAx>
      <c:dateAx>
        <c:axId val="803524719"/>
        <c:scaling>
          <c:orientation val="minMax"/>
        </c:scaling>
        <c:delete val="1"/>
        <c:axPos val="b"/>
        <c:numFmt formatCode="mmm\-yy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+mn-cs"/>
              </a:defRPr>
            </a:pPr>
          </a:p>
        </c:txPr>
        <c:crossAx val="803503119"/>
        <c:crosses val="autoZero"/>
        <c:auto val="1"/>
        <c:lblOffset val="100"/>
        <c:baseTimeUnit val="months"/>
      </c:dateAx>
      <c:valAx>
        <c:axId val="803503119"/>
        <c:scaling>
          <c:orientation val="minMax"/>
        </c:scaling>
        <c:delete val="0"/>
        <c:axPos val="r"/>
        <c:numFmt formatCode="#,##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+mn-cs"/>
              </a:defRPr>
            </a:pPr>
          </a:p>
        </c:txPr>
        <c:crossAx val="803524719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f256c3cc-ce07-448d-a137-361d30ffcbed}"/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lang="zh-CN">
          <a:latin typeface="华文楷体" panose="02010600040101010101" charset="-122"/>
          <a:ea typeface="华文楷体" panose="02010600040101010101" charset="-122"/>
        </a:defRPr>
      </a:pPr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44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+mn-cs"/>
              </a:defRPr>
            </a:pPr>
            <a:r>
              <a:rPr lang="zh-CN" altLang="en-US" sz="1440" b="1"/>
              <a:t>花费及成本</a:t>
            </a:r>
            <a:endParaRPr lang="zh-CN" altLang="en-US" sz="1440" b="1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344257489593715"/>
          <c:y val="0.233638078653316"/>
          <c:w val="0.926751480330656"/>
          <c:h val="0.60844579886808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[2601月报数据.xlsx]作图!$B$42</c:f>
              <c:strCache>
                <c:ptCount val="1"/>
                <c:pt idx="0">
                  <c:v>日耗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1" i="0" u="none" strike="noStrike" kern="1200" baseline="0">
                    <a:solidFill>
                      <a:schemeClr val="bg1"/>
                    </a:solidFill>
                    <a:latin typeface="华文楷体" panose="02010600040101010101" charset="-122"/>
                    <a:ea typeface="华文楷体" panose="02010600040101010101" charset="-122"/>
                    <a:cs typeface="+mn-cs"/>
                  </a:defRPr>
                </a:pPr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[2601月报数据.xlsx]作图!$C$41:$N$41</c:f>
              <c:numCache>
                <c:formatCode>mmm\-yy</c:formatCode>
                <c:ptCount val="8"/>
                <c:pt idx="0" c:formatCode="mmm\-yy">
                  <c:v>45809</c:v>
                </c:pt>
                <c:pt idx="1" c:formatCode="mmm\-yy">
                  <c:v>45839</c:v>
                </c:pt>
                <c:pt idx="2" c:formatCode="mmm\-yy">
                  <c:v>45870</c:v>
                </c:pt>
                <c:pt idx="3" c:formatCode="mmm\-yy">
                  <c:v>45901</c:v>
                </c:pt>
                <c:pt idx="4" c:formatCode="mmm\-yy">
                  <c:v>45931</c:v>
                </c:pt>
                <c:pt idx="5" c:formatCode="mmm\-yy">
                  <c:v>45962</c:v>
                </c:pt>
                <c:pt idx="6" c:formatCode="mmm\-yy">
                  <c:v>45992</c:v>
                </c:pt>
                <c:pt idx="7" c:formatCode="mmm\-yy">
                  <c:v>46023</c:v>
                </c:pt>
              </c:numCache>
            </c:numRef>
          </c:cat>
          <c:val>
            <c:numRef>
              <c:f>[2601月报数据.xlsx]作图!$C$42:$N$42</c:f>
              <c:numCache>
                <c:formatCode>#,##0</c:formatCode>
                <c:ptCount val="8"/>
                <c:pt idx="0">
                  <c:v>157.778528475784</c:v>
                </c:pt>
                <c:pt idx="1">
                  <c:v>118.463020290243</c:v>
                </c:pt>
                <c:pt idx="2">
                  <c:v>124.418768162253</c:v>
                </c:pt>
                <c:pt idx="3">
                  <c:v>126.600482173829</c:v>
                </c:pt>
                <c:pt idx="4">
                  <c:v>62.2820030318439</c:v>
                </c:pt>
                <c:pt idx="5">
                  <c:v>78.4469362014127</c:v>
                </c:pt>
                <c:pt idx="6">
                  <c:v>64.8816447149471</c:v>
                </c:pt>
                <c:pt idx="7">
                  <c:v>53.3867468262374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0529167"/>
        <c:axId val="120551727"/>
      </c:barChart>
      <c:lineChart>
        <c:grouping val="standard"/>
        <c:varyColors val="0"/>
        <c:ser>
          <c:idx val="2"/>
          <c:order val="1"/>
          <c:tx>
            <c:strRef>
              <c:f>[2601月报数据.xlsx]作图!$B$44</c:f>
              <c:strCache>
                <c:ptCount val="1"/>
                <c:pt idx="0">
                  <c:v>T0CPS</c:v>
                </c:pt>
              </c:strCache>
            </c:strRef>
          </c:tx>
          <c:spPr>
            <a:ln w="28575" cap="rnd" cmpd="sng">
              <a:solidFill>
                <a:schemeClr val="accent1"/>
              </a:solidFill>
              <a:prstDash val="solid"/>
              <a:round/>
              <a:headEnd type="none"/>
              <a:tailEnd type="none"/>
            </a:ln>
            <a:effectLst/>
            <a:sp3d contourW="28575"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charset="-122"/>
                    <a:ea typeface="华文楷体" panose="02010600040101010101" charset="-122"/>
                    <a:cs typeface="+mn-c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[2601月报数据.xlsx]作图!$C$41:$N$41</c:f>
              <c:numCache>
                <c:formatCode>mmm\-yy</c:formatCode>
                <c:ptCount val="8"/>
                <c:pt idx="0" c:formatCode="mmm\-yy">
                  <c:v>45809</c:v>
                </c:pt>
                <c:pt idx="1" c:formatCode="mmm\-yy">
                  <c:v>45839</c:v>
                </c:pt>
                <c:pt idx="2" c:formatCode="mmm\-yy">
                  <c:v>45870</c:v>
                </c:pt>
                <c:pt idx="3" c:formatCode="mmm\-yy">
                  <c:v>45901</c:v>
                </c:pt>
                <c:pt idx="4" c:formatCode="mmm\-yy">
                  <c:v>45931</c:v>
                </c:pt>
                <c:pt idx="5" c:formatCode="mmm\-yy">
                  <c:v>45962</c:v>
                </c:pt>
                <c:pt idx="6" c:formatCode="mmm\-yy">
                  <c:v>45992</c:v>
                </c:pt>
                <c:pt idx="7" c:formatCode="mmm\-yy">
                  <c:v>46023</c:v>
                </c:pt>
              </c:numCache>
            </c:numRef>
          </c:cat>
          <c:val>
            <c:numRef>
              <c:f>[2601月报数据.xlsx]作图!$C$44:$N$44</c:f>
              <c:numCache>
                <c:formatCode>0%</c:formatCode>
                <c:ptCount val="8"/>
                <c:pt idx="0">
                  <c:v>0.319745391172356</c:v>
                </c:pt>
                <c:pt idx="1">
                  <c:v>0.297847269511468</c:v>
                </c:pt>
                <c:pt idx="2">
                  <c:v>0.291304454054764</c:v>
                </c:pt>
                <c:pt idx="3">
                  <c:v>0.307850853007441</c:v>
                </c:pt>
                <c:pt idx="4">
                  <c:v>0.238991681085714</c:v>
                </c:pt>
                <c:pt idx="5">
                  <c:v>0.30449260068216</c:v>
                </c:pt>
                <c:pt idx="6">
                  <c:v>0.289774973118229</c:v>
                </c:pt>
                <c:pt idx="7">
                  <c:v>0.268157824943196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120557007"/>
        <c:axId val="120544527"/>
      </c:lineChart>
      <c:dateAx>
        <c:axId val="120529167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+mn-cs"/>
              </a:defRPr>
            </a:pPr>
          </a:p>
        </c:txPr>
        <c:crossAx val="120551727"/>
        <c:crosses val="autoZero"/>
        <c:auto val="1"/>
        <c:lblOffset val="100"/>
        <c:baseTimeUnit val="months"/>
      </c:dateAx>
      <c:valAx>
        <c:axId val="120551727"/>
        <c:scaling>
          <c:orientation val="minMax"/>
        </c:scaling>
        <c:delete val="0"/>
        <c:axPos val="l"/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+mn-cs"/>
              </a:defRPr>
            </a:pPr>
          </a:p>
        </c:txPr>
        <c:crossAx val="120529167"/>
        <c:crosses val="autoZero"/>
        <c:crossBetween val="between"/>
      </c:valAx>
      <c:dateAx>
        <c:axId val="120557007"/>
        <c:scaling>
          <c:orientation val="minMax"/>
        </c:scaling>
        <c:delete val="1"/>
        <c:axPos val="b"/>
        <c:numFmt formatCode="mmm\-yy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+mn-cs"/>
              </a:defRPr>
            </a:pPr>
          </a:p>
        </c:txPr>
        <c:crossAx val="120544527"/>
        <c:crosses val="autoZero"/>
        <c:auto val="1"/>
        <c:lblOffset val="100"/>
        <c:baseTimeUnit val="months"/>
      </c:dateAx>
      <c:valAx>
        <c:axId val="120544527"/>
        <c:scaling>
          <c:orientation val="minMax"/>
        </c:scaling>
        <c:delete val="0"/>
        <c:axPos val="r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+mn-cs"/>
              </a:defRPr>
            </a:pPr>
          </a:p>
        </c:txPr>
        <c:crossAx val="120557007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+mn-cs"/>
              </a:defRPr>
            </a:pPr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+mn-cs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1689ece5-cf0f-41eb-b5bf-c53e56fdd1db}"/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lang="zh-CN" sz="1200">
          <a:latin typeface="华文楷体" panose="02010600040101010101" charset="-122"/>
          <a:ea typeface="华文楷体" panose="02010600040101010101" charset="-122"/>
        </a:defRPr>
      </a:pPr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4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  <a:r>
              <a:rPr lang="en-US" altLang="zh-CN" sz="144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rPr>
              <a:t>请求及参竞率</a:t>
            </a:r>
            <a:endParaRPr sz="144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华文楷体" panose="02010600040101010101" charset="-122"/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[2601月报数据V1.xlsx]作图!$AW$42</c:f>
              <c:strCache>
                <c:ptCount val="1"/>
                <c:pt idx="0">
                  <c:v>日请求量（亿）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  <a:sym typeface="华文楷体" panose="02010600040101010101" charset="-122"/>
                  </a:defRPr>
                </a:pPr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[2601月报数据V1.xlsx]作图!$AX$41:$BE$41</c:f>
              <c:numCache>
                <c:formatCode>mmm\-yy</c:formatCode>
                <c:ptCount val="8"/>
                <c:pt idx="0" c:formatCode="mmm\-yy">
                  <c:v>45809</c:v>
                </c:pt>
                <c:pt idx="1" c:formatCode="mmm\-yy">
                  <c:v>45839</c:v>
                </c:pt>
                <c:pt idx="2" c:formatCode="mmm\-yy">
                  <c:v>45870</c:v>
                </c:pt>
                <c:pt idx="3" c:formatCode="mmm\-yy">
                  <c:v>45901</c:v>
                </c:pt>
                <c:pt idx="4" c:formatCode="mmm\-yy">
                  <c:v>45931</c:v>
                </c:pt>
                <c:pt idx="5" c:formatCode="mmm\-yy">
                  <c:v>45962</c:v>
                </c:pt>
                <c:pt idx="6" c:formatCode="mmm\-yy">
                  <c:v>45992</c:v>
                </c:pt>
                <c:pt idx="7" c:formatCode="mmm\-yy">
                  <c:v>46023</c:v>
                </c:pt>
              </c:numCache>
            </c:numRef>
          </c:cat>
          <c:val>
            <c:numRef>
              <c:f>[2601月报数据V1.xlsx]作图!$AX$42:$BE$42</c:f>
              <c:numCache>
                <c:formatCode>#,##0</c:formatCode>
                <c:ptCount val="8"/>
                <c:pt idx="0">
                  <c:v>104.862489167667</c:v>
                </c:pt>
                <c:pt idx="1">
                  <c:v>104.013267083871</c:v>
                </c:pt>
                <c:pt idx="2">
                  <c:v>95.2181976777419</c:v>
                </c:pt>
                <c:pt idx="3">
                  <c:v>92.9810322496667</c:v>
                </c:pt>
                <c:pt idx="4">
                  <c:v>92.4935118209677</c:v>
                </c:pt>
                <c:pt idx="5">
                  <c:v>89.5644551933333</c:v>
                </c:pt>
                <c:pt idx="6">
                  <c:v>90.371676306129</c:v>
                </c:pt>
                <c:pt idx="7">
                  <c:v>85.2735778584615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46"/>
        <c:overlap val="-28"/>
        <c:axId val="57273550"/>
        <c:axId val="963105158"/>
      </c:barChart>
      <c:lineChart>
        <c:grouping val="standard"/>
        <c:varyColors val="0"/>
        <c:ser>
          <c:idx val="1"/>
          <c:order val="1"/>
          <c:tx>
            <c:strRef>
              <c:f>[2601月报数据V1.xlsx]作图!$AW$43</c:f>
              <c:strCache>
                <c:ptCount val="1"/>
                <c:pt idx="0">
                  <c:v>参竞率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  <a:sym typeface="华文楷体" panose="02010600040101010101" charset="-122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[2601月报数据V1.xlsx]作图!$AX$41:$BE$41</c:f>
              <c:numCache>
                <c:formatCode>mmm\-yy</c:formatCode>
                <c:ptCount val="8"/>
                <c:pt idx="0" c:formatCode="mmm\-yy">
                  <c:v>45809</c:v>
                </c:pt>
                <c:pt idx="1" c:formatCode="mmm\-yy">
                  <c:v>45839</c:v>
                </c:pt>
                <c:pt idx="2" c:formatCode="mmm\-yy">
                  <c:v>45870</c:v>
                </c:pt>
                <c:pt idx="3" c:formatCode="mmm\-yy">
                  <c:v>45901</c:v>
                </c:pt>
                <c:pt idx="4" c:formatCode="mmm\-yy">
                  <c:v>45931</c:v>
                </c:pt>
                <c:pt idx="5" c:formatCode="mmm\-yy">
                  <c:v>45962</c:v>
                </c:pt>
                <c:pt idx="6" c:formatCode="mmm\-yy">
                  <c:v>45992</c:v>
                </c:pt>
                <c:pt idx="7" c:formatCode="mmm\-yy">
                  <c:v>46023</c:v>
                </c:pt>
              </c:numCache>
            </c:numRef>
          </c:cat>
          <c:val>
            <c:numRef>
              <c:f>[2601月报数据V1.xlsx]作图!$AX$43:$BE$43</c:f>
              <c:numCache>
                <c:formatCode>0%</c:formatCode>
                <c:ptCount val="8"/>
                <c:pt idx="0">
                  <c:v>0.875306203901381</c:v>
                </c:pt>
                <c:pt idx="1">
                  <c:v>0.705197251207073</c:v>
                </c:pt>
                <c:pt idx="2">
                  <c:v>0.721051699862581</c:v>
                </c:pt>
                <c:pt idx="3">
                  <c:v>0.729501646022468</c:v>
                </c:pt>
                <c:pt idx="4">
                  <c:v>0.732070134425453</c:v>
                </c:pt>
                <c:pt idx="5">
                  <c:v>0.74594965968121</c:v>
                </c:pt>
                <c:pt idx="6">
                  <c:v>0.755958019120718</c:v>
                </c:pt>
                <c:pt idx="7">
                  <c:v>0.693567213287029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599111711"/>
        <c:axId val="714372072"/>
      </c:lineChart>
      <c:dateAx>
        <c:axId val="57273550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963105158"/>
        <c:crosses val="autoZero"/>
        <c:auto val="1"/>
        <c:lblOffset val="100"/>
        <c:baseTimeUnit val="months"/>
      </c:dateAx>
      <c:valAx>
        <c:axId val="963105158"/>
        <c:scaling>
          <c:orientation val="minMax"/>
        </c:scaling>
        <c:delete val="0"/>
        <c:axPos val="l"/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57273550"/>
        <c:crosses val="autoZero"/>
        <c:crossBetween val="between"/>
      </c:valAx>
      <c:dateAx>
        <c:axId val="599111711"/>
        <c:scaling>
          <c:orientation val="minMax"/>
        </c:scaling>
        <c:delete val="1"/>
        <c:axPos val="b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714372072"/>
        <c:crosses val="autoZero"/>
        <c:auto val="1"/>
        <c:lblOffset val="100"/>
        <c:baseTimeUnit val="months"/>
      </c:dateAx>
      <c:valAx>
        <c:axId val="714372072"/>
        <c:scaling>
          <c:orientation val="minMax"/>
        </c:scaling>
        <c:delete val="0"/>
        <c:axPos val="r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599111711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华文楷体" panose="02010600040101010101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afab7340-9cd3-4c00-b2fa-74e0e4625af5}"/>
      </c:ext>
    </c:extLst>
  </c:chart>
  <c:spPr>
    <a:solidFill>
      <a:schemeClr val="bg1"/>
    </a:solidFill>
    <a:ln w="9525" cap="flat" cmpd="sng" algn="ctr">
      <a:solidFill>
        <a:srgbClr val="000000">
          <a:alpha val="0"/>
        </a:srgbClr>
      </a:solidFill>
      <a:round/>
    </a:ln>
    <a:effectLst/>
  </c:spPr>
  <c:txPr>
    <a:bodyPr/>
    <a:lstStyle/>
    <a:p>
      <a:pPr>
        <a:defRPr lang="zh-CN" sz="1200">
          <a:latin typeface="华文楷体" panose="02010600040101010101" charset="-122"/>
          <a:ea typeface="华文楷体" panose="02010600040101010101" charset="-122"/>
          <a:cs typeface="华文楷体" panose="02010600040101010101" charset="-122"/>
          <a:sym typeface="华文楷体" panose="02010600040101010101" charset="-122"/>
        </a:defRPr>
      </a:pPr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4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  <a:r>
              <a:rPr lang="en-US" altLang="zh-CN" sz="1440" b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rPr>
              <a:t>腾讯</a:t>
            </a:r>
            <a:r>
              <a:rPr sz="1440" b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rPr>
              <a:t>竞得率</a:t>
            </a:r>
            <a:endParaRPr sz="1440" b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华文楷体" panose="02010600040101010101" charset="-122"/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907241014799154"/>
          <c:y val="0.173893199452305"/>
          <c:w val="0.877827695560254"/>
          <c:h val="0.612825193975354"/>
        </c:manualLayout>
      </c:layout>
      <c:lineChart>
        <c:grouping val="standard"/>
        <c:varyColors val="0"/>
        <c:ser>
          <c:idx val="0"/>
          <c:order val="0"/>
          <c:tx>
            <c:strRef>
              <c:f>[2601月报数据V2.xlsx]作图!$AW$38</c:f>
              <c:strCache>
                <c:ptCount val="1"/>
                <c:pt idx="0">
                  <c:v>竞得率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  <a:sym typeface="华文楷体" panose="02010600040101010101" charset="-122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[2601月报数据V2.xlsx]作图!$AX$37:$BE$37</c:f>
              <c:numCache>
                <c:formatCode>mmm\-yy</c:formatCode>
                <c:ptCount val="8"/>
                <c:pt idx="0" c:formatCode="mmm\-yy">
                  <c:v>45809</c:v>
                </c:pt>
                <c:pt idx="1" c:formatCode="mmm\-yy">
                  <c:v>45839</c:v>
                </c:pt>
                <c:pt idx="2" c:formatCode="mmm\-yy">
                  <c:v>45870</c:v>
                </c:pt>
                <c:pt idx="3" c:formatCode="mmm\-yy">
                  <c:v>45901</c:v>
                </c:pt>
                <c:pt idx="4" c:formatCode="mmm\-yy">
                  <c:v>45931</c:v>
                </c:pt>
                <c:pt idx="5" c:formatCode="mmm\-yy">
                  <c:v>45962</c:v>
                </c:pt>
                <c:pt idx="6" c:formatCode="mmm\-yy">
                  <c:v>45992</c:v>
                </c:pt>
                <c:pt idx="7" c:formatCode="mmm\-yy">
                  <c:v>46023</c:v>
                </c:pt>
              </c:numCache>
            </c:numRef>
          </c:cat>
          <c:val>
            <c:numRef>
              <c:f>[2601月报数据V2.xlsx]作图!$AX$38:$BE$38</c:f>
              <c:numCache>
                <c:formatCode>0.00%</c:formatCode>
                <c:ptCount val="8"/>
                <c:pt idx="0">
                  <c:v>0.00653657803937451</c:v>
                </c:pt>
                <c:pt idx="1">
                  <c:v>0.00627610157467114</c:v>
                </c:pt>
                <c:pt idx="2">
                  <c:v>0.00643067804058948</c:v>
                </c:pt>
                <c:pt idx="3">
                  <c:v>0.00649587294835273</c:v>
                </c:pt>
                <c:pt idx="4">
                  <c:v>0.00329527022500936</c:v>
                </c:pt>
                <c:pt idx="5">
                  <c:v>0.00409332277404745</c:v>
                </c:pt>
                <c:pt idx="6">
                  <c:v>0.00356595483017342</c:v>
                </c:pt>
                <c:pt idx="7">
                  <c:v>0.00353007082355359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0"/>
        <c:smooth val="0"/>
        <c:axId val="977772008"/>
        <c:axId val="19939664"/>
      </c:lineChart>
      <c:dateAx>
        <c:axId val="977772008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19939664"/>
        <c:crosses val="autoZero"/>
        <c:auto val="1"/>
        <c:lblOffset val="100"/>
        <c:baseTimeUnit val="months"/>
      </c:dateAx>
      <c:valAx>
        <c:axId val="19939664"/>
        <c:scaling>
          <c:orientation val="minMax"/>
        </c:scaling>
        <c:delete val="0"/>
        <c:axPos val="l"/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977772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华文楷体" panose="02010600040101010101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f909a0ec-38fe-43fe-b728-e5731511cc6a}"/>
      </c:ext>
    </c:extLst>
  </c:chart>
  <c:spPr>
    <a:solidFill>
      <a:schemeClr val="bg1"/>
    </a:solidFill>
    <a:ln w="9525" cap="flat" cmpd="sng" algn="ctr">
      <a:solidFill>
        <a:srgbClr val="000000">
          <a:alpha val="0"/>
        </a:srgbClr>
      </a:solidFill>
      <a:round/>
    </a:ln>
    <a:effectLst/>
  </c:spPr>
  <c:txPr>
    <a:bodyPr/>
    <a:lstStyle/>
    <a:p>
      <a:pPr>
        <a:defRPr lang="zh-CN" sz="1200">
          <a:latin typeface="华文楷体" panose="02010600040101010101" charset="-122"/>
          <a:ea typeface="华文楷体" panose="02010600040101010101" charset="-122"/>
          <a:cs typeface="华文楷体" panose="02010600040101010101" charset="-122"/>
          <a:sym typeface="华文楷体" panose="02010600040101010101" charset="-122"/>
        </a:defRPr>
      </a:pPr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44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+mn-cs"/>
              </a:defRPr>
            </a:pPr>
            <a:r>
              <a:rPr lang="zh-CN" altLang="en-US" sz="1440" b="0"/>
              <a:t>腾讯竞得率</a:t>
            </a:r>
            <a:r>
              <a:rPr lang="en-US" altLang="zh-CN" sz="1440" b="0"/>
              <a:t>byV7preA</a:t>
            </a:r>
            <a:endParaRPr lang="zh-CN" sz="1440" b="0"/>
          </a:p>
        </c:rich>
      </c:tx>
      <c:layout>
        <c:manualLayout>
          <c:xMode val="edge"/>
          <c:yMode val="edge"/>
          <c:x val="0.322629260375609"/>
          <c:y val="0.0255083179297597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[2601月报数据V2.xlsx]作图!$BL$42</c:f>
              <c:strCache>
                <c:ptCount val="1"/>
                <c:pt idx="0">
                  <c:v>1Q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charset="-122"/>
                    <a:ea typeface="华文楷体" panose="02010600040101010101" charset="-122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[2601月报数据V2.xlsx]作图!$BM$41:$BT$41</c:f>
              <c:numCache>
                <c:formatCode>mmm\-yy</c:formatCode>
                <c:ptCount val="8"/>
                <c:pt idx="0" c:formatCode="mmm\-yy">
                  <c:v>45809</c:v>
                </c:pt>
                <c:pt idx="1" c:formatCode="mmm\-yy">
                  <c:v>45839</c:v>
                </c:pt>
                <c:pt idx="2" c:formatCode="mmm\-yy">
                  <c:v>45870</c:v>
                </c:pt>
                <c:pt idx="3" c:formatCode="mmm\-yy">
                  <c:v>45901</c:v>
                </c:pt>
                <c:pt idx="4" c:formatCode="mmm\-yy">
                  <c:v>45931</c:v>
                </c:pt>
                <c:pt idx="5" c:formatCode="mmm\-yy">
                  <c:v>45962</c:v>
                </c:pt>
                <c:pt idx="6" c:formatCode="mmm\-yy">
                  <c:v>45992</c:v>
                </c:pt>
                <c:pt idx="7" c:formatCode="mmm\-yy">
                  <c:v>46023</c:v>
                </c:pt>
              </c:numCache>
            </c:numRef>
          </c:cat>
          <c:val>
            <c:numRef>
              <c:f>[2601月报数据V2.xlsx]作图!$BM$42:$BT$42</c:f>
              <c:numCache>
                <c:formatCode>0.0%</c:formatCode>
                <c:ptCount val="8"/>
                <c:pt idx="0">
                  <c:v>0.00345139944903025</c:v>
                </c:pt>
                <c:pt idx="1">
                  <c:v>0.00372409457779148</c:v>
                </c:pt>
                <c:pt idx="2">
                  <c:v>0.00377559261075619</c:v>
                </c:pt>
                <c:pt idx="3">
                  <c:v>0.00365752477398896</c:v>
                </c:pt>
                <c:pt idx="4">
                  <c:v>0.00176874686273804</c:v>
                </c:pt>
                <c:pt idx="5">
                  <c:v>0.00224963550906091</c:v>
                </c:pt>
                <c:pt idx="6">
                  <c:v>0.00226997693658243</c:v>
                </c:pt>
                <c:pt idx="7">
                  <c:v>0.00257111289090173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[2601月报数据V2.xlsx]作图!$BL$43</c:f>
              <c:strCache>
                <c:ptCount val="1"/>
                <c:pt idx="0">
                  <c:v>2Q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charset="-122"/>
                    <a:ea typeface="华文楷体" panose="02010600040101010101" charset="-122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[2601月报数据V2.xlsx]作图!$BM$41:$BT$41</c:f>
              <c:numCache>
                <c:formatCode>mmm\-yy</c:formatCode>
                <c:ptCount val="8"/>
                <c:pt idx="0" c:formatCode="mmm\-yy">
                  <c:v>45809</c:v>
                </c:pt>
                <c:pt idx="1" c:formatCode="mmm\-yy">
                  <c:v>45839</c:v>
                </c:pt>
                <c:pt idx="2" c:formatCode="mmm\-yy">
                  <c:v>45870</c:v>
                </c:pt>
                <c:pt idx="3" c:formatCode="mmm\-yy">
                  <c:v>45901</c:v>
                </c:pt>
                <c:pt idx="4" c:formatCode="mmm\-yy">
                  <c:v>45931</c:v>
                </c:pt>
                <c:pt idx="5" c:formatCode="mmm\-yy">
                  <c:v>45962</c:v>
                </c:pt>
                <c:pt idx="6" c:formatCode="mmm\-yy">
                  <c:v>45992</c:v>
                </c:pt>
                <c:pt idx="7" c:formatCode="mmm\-yy">
                  <c:v>46023</c:v>
                </c:pt>
              </c:numCache>
            </c:numRef>
          </c:cat>
          <c:val>
            <c:numRef>
              <c:f>[2601月报数据V2.xlsx]作图!$BM$43:$BT$43</c:f>
              <c:numCache>
                <c:formatCode>0.0%</c:formatCode>
                <c:ptCount val="8"/>
                <c:pt idx="0">
                  <c:v>0.00984505509017049</c:v>
                </c:pt>
                <c:pt idx="1">
                  <c:v>0.00890423993644085</c:v>
                </c:pt>
                <c:pt idx="2">
                  <c:v>0.00960493525835952</c:v>
                </c:pt>
                <c:pt idx="3">
                  <c:v>0.00965153817990935</c:v>
                </c:pt>
                <c:pt idx="4">
                  <c:v>0.00497991460067853</c:v>
                </c:pt>
                <c:pt idx="5">
                  <c:v>0.0063484822935014</c:v>
                </c:pt>
                <c:pt idx="6">
                  <c:v>0.00544068186185732</c:v>
                </c:pt>
                <c:pt idx="7">
                  <c:v>0.00497051674281794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[2601月报数据V2.xlsx]作图!$BL$44</c:f>
              <c:strCache>
                <c:ptCount val="1"/>
                <c:pt idx="0">
                  <c:v>3Q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charset="-122"/>
                    <a:ea typeface="华文楷体" panose="02010600040101010101" charset="-122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[2601月报数据V2.xlsx]作图!$BM$41:$BT$41</c:f>
              <c:numCache>
                <c:formatCode>mmm\-yy</c:formatCode>
                <c:ptCount val="8"/>
                <c:pt idx="0" c:formatCode="mmm\-yy">
                  <c:v>45809</c:v>
                </c:pt>
                <c:pt idx="1" c:formatCode="mmm\-yy">
                  <c:v>45839</c:v>
                </c:pt>
                <c:pt idx="2" c:formatCode="mmm\-yy">
                  <c:v>45870</c:v>
                </c:pt>
                <c:pt idx="3" c:formatCode="mmm\-yy">
                  <c:v>45901</c:v>
                </c:pt>
                <c:pt idx="4" c:formatCode="mmm\-yy">
                  <c:v>45931</c:v>
                </c:pt>
                <c:pt idx="5" c:formatCode="mmm\-yy">
                  <c:v>45962</c:v>
                </c:pt>
                <c:pt idx="6" c:formatCode="mmm\-yy">
                  <c:v>45992</c:v>
                </c:pt>
                <c:pt idx="7" c:formatCode="mmm\-yy">
                  <c:v>46023</c:v>
                </c:pt>
              </c:numCache>
            </c:numRef>
          </c:cat>
          <c:val>
            <c:numRef>
              <c:f>[2601月报数据V2.xlsx]作图!$BM$44:$BT$44</c:f>
              <c:numCache>
                <c:formatCode>0.0%</c:formatCode>
                <c:ptCount val="8"/>
                <c:pt idx="0">
                  <c:v>0.00937822524042958</c:v>
                </c:pt>
                <c:pt idx="1">
                  <c:v>0.00889035329102815</c:v>
                </c:pt>
                <c:pt idx="2">
                  <c:v>0.00955220525563589</c:v>
                </c:pt>
                <c:pt idx="3">
                  <c:v>0.0104857510291999</c:v>
                </c:pt>
                <c:pt idx="4">
                  <c:v>0.00534684253145604</c:v>
                </c:pt>
                <c:pt idx="5">
                  <c:v>0.00679768907557809</c:v>
                </c:pt>
                <c:pt idx="6">
                  <c:v>0.00615177546130029</c:v>
                </c:pt>
                <c:pt idx="7">
                  <c:v>0.00744795990133558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[2601月报数据V2.xlsx]作图!$BL$45</c:f>
              <c:strCache>
                <c:ptCount val="1"/>
                <c:pt idx="0">
                  <c:v>UNK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charset="-122"/>
                    <a:ea typeface="华文楷体" panose="02010600040101010101" charset="-122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[2601月报数据V2.xlsx]作图!$BM$41:$BT$41</c:f>
              <c:numCache>
                <c:formatCode>mmm\-yy</c:formatCode>
                <c:ptCount val="8"/>
                <c:pt idx="0" c:formatCode="mmm\-yy">
                  <c:v>45809</c:v>
                </c:pt>
                <c:pt idx="1" c:formatCode="mmm\-yy">
                  <c:v>45839</c:v>
                </c:pt>
                <c:pt idx="2" c:formatCode="mmm\-yy">
                  <c:v>45870</c:v>
                </c:pt>
                <c:pt idx="3" c:formatCode="mmm\-yy">
                  <c:v>45901</c:v>
                </c:pt>
                <c:pt idx="4" c:formatCode="mmm\-yy">
                  <c:v>45931</c:v>
                </c:pt>
                <c:pt idx="5" c:formatCode="mmm\-yy">
                  <c:v>45962</c:v>
                </c:pt>
                <c:pt idx="6" c:formatCode="mmm\-yy">
                  <c:v>45992</c:v>
                </c:pt>
                <c:pt idx="7" c:formatCode="mmm\-yy">
                  <c:v>46023</c:v>
                </c:pt>
              </c:numCache>
            </c:numRef>
          </c:cat>
          <c:val>
            <c:numRef>
              <c:f>[2601月报数据V2.xlsx]作图!$BM$45:$BT$45</c:f>
              <c:numCache>
                <c:formatCode>0.0%</c:formatCode>
                <c:ptCount val="8"/>
                <c:pt idx="0">
                  <c:v>0.00871099919739319</c:v>
                </c:pt>
                <c:pt idx="1">
                  <c:v>0.00586875097542196</c:v>
                </c:pt>
                <c:pt idx="2">
                  <c:v>0.00483963932636961</c:v>
                </c:pt>
                <c:pt idx="3">
                  <c:v>0.00453121082236312</c:v>
                </c:pt>
                <c:pt idx="4">
                  <c:v>0.00232565459679667</c:v>
                </c:pt>
                <c:pt idx="5">
                  <c:v>0.00272384656966872</c:v>
                </c:pt>
                <c:pt idx="6">
                  <c:v>0.00202866501902608</c:v>
                </c:pt>
                <c:pt idx="7">
                  <c:v>0.00128704335726926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0"/>
        <c:smooth val="0"/>
        <c:axId val="803522319"/>
        <c:axId val="803511279"/>
      </c:lineChart>
      <c:dateAx>
        <c:axId val="803522319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+mn-cs"/>
              </a:defRPr>
            </a:pPr>
          </a:p>
        </c:txPr>
        <c:crossAx val="803511279"/>
        <c:crosses val="autoZero"/>
        <c:auto val="1"/>
        <c:lblOffset val="100"/>
        <c:baseTimeUnit val="months"/>
      </c:dateAx>
      <c:valAx>
        <c:axId val="803511279"/>
        <c:scaling>
          <c:orientation val="minMax"/>
        </c:scaling>
        <c:delete val="0"/>
        <c:axPos val="l"/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+mn-cs"/>
              </a:defRPr>
            </a:pPr>
          </a:p>
        </c:txPr>
        <c:crossAx val="80352231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+mn-cs"/>
              </a:defRPr>
            </a:pPr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+mn-cs"/>
              </a:defRPr>
            </a:pPr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+mn-cs"/>
              </a:defRPr>
            </a:pPr>
          </a:p>
        </c:txPr>
      </c:legendEntry>
      <c:legendEntry>
        <c:idx val="3"/>
        <c:txPr>
          <a:bodyPr rot="0" spcFirstLastPara="1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+mn-cs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f9aabb18-702b-4791-a948-fd36a18dbe4c}"/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lang="zh-CN" sz="1200">
          <a:latin typeface="华文楷体" panose="02010600040101010101" charset="-122"/>
          <a:ea typeface="华文楷体" panose="02010600040101010101" charset="-122"/>
        </a:defRPr>
      </a:pPr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  <a:r>
              <a:rPr lang="en-US" altLang="zh-CN"/>
              <a:t>分环节转化</a:t>
            </a:r>
            <a:endParaRPr lang="en-US" altLang="zh-CN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[2601月报数据V2.xlsx]作图!$CD$46</c:f>
              <c:strCache>
                <c:ptCount val="1"/>
                <c:pt idx="0">
                  <c:v>曝光点击率（CTR)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  <a:sym typeface="华文楷体" panose="02010600040101010101" charset="-122"/>
                  </a:defRPr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[2601月报数据V2.xlsx]作图!$CE$45:$CL$45</c:f>
              <c:numCache>
                <c:formatCode>mmm\-yy</c:formatCode>
                <c:ptCount val="8"/>
                <c:pt idx="0" c:formatCode="mmm\-yy">
                  <c:v>45809</c:v>
                </c:pt>
                <c:pt idx="1" c:formatCode="mmm\-yy">
                  <c:v>45839</c:v>
                </c:pt>
                <c:pt idx="2" c:formatCode="mmm\-yy">
                  <c:v>45870</c:v>
                </c:pt>
                <c:pt idx="3" c:formatCode="mmm\-yy">
                  <c:v>45901</c:v>
                </c:pt>
                <c:pt idx="4" c:formatCode="mmm\-yy">
                  <c:v>45931</c:v>
                </c:pt>
                <c:pt idx="5" c:formatCode="mmm\-yy">
                  <c:v>45962</c:v>
                </c:pt>
                <c:pt idx="6" c:formatCode="mmm\-yy">
                  <c:v>45992</c:v>
                </c:pt>
                <c:pt idx="7" c:formatCode="mmm\-yy">
                  <c:v>46023</c:v>
                </c:pt>
              </c:numCache>
            </c:numRef>
          </c:cat>
          <c:val>
            <c:numRef>
              <c:f>[2601月报数据V2.xlsx]作图!$CE$46:$CL$46</c:f>
              <c:numCache>
                <c:formatCode>0.0%</c:formatCode>
                <c:ptCount val="8"/>
                <c:pt idx="0">
                  <c:v>0.0167602461582488</c:v>
                </c:pt>
                <c:pt idx="1">
                  <c:v>0.0115007634269</c:v>
                </c:pt>
                <c:pt idx="2">
                  <c:v>0.00963832077390856</c:v>
                </c:pt>
                <c:pt idx="3">
                  <c:v>0.0111333490924581</c:v>
                </c:pt>
                <c:pt idx="4">
                  <c:v>0.0113255336684623</c:v>
                </c:pt>
                <c:pt idx="5">
                  <c:v>0.00981446179856062</c:v>
                </c:pt>
                <c:pt idx="6">
                  <c:v>0.00846551516659585</c:v>
                </c:pt>
                <c:pt idx="7">
                  <c:v>0.00896968891575853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0"/>
        <c:smooth val="0"/>
        <c:axId val="542345207"/>
        <c:axId val="849393113"/>
      </c:lineChart>
      <c:lineChart>
        <c:grouping val="standard"/>
        <c:varyColors val="0"/>
        <c:ser>
          <c:idx val="1"/>
          <c:order val="1"/>
          <c:tx>
            <c:strRef>
              <c:f>[2601月报数据V2.xlsx]作图!$CD$47</c:f>
              <c:strCache>
                <c:ptCount val="1"/>
                <c:pt idx="0">
                  <c:v>点击授信率（CVR)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  <a:sym typeface="华文楷体" panose="02010600040101010101" charset="-122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[2601月报数据V2.xlsx]作图!$CE$45:$CL$45</c:f>
              <c:numCache>
                <c:formatCode>mmm\-yy</c:formatCode>
                <c:ptCount val="8"/>
                <c:pt idx="0" c:formatCode="mmm\-yy">
                  <c:v>45809</c:v>
                </c:pt>
                <c:pt idx="1" c:formatCode="mmm\-yy">
                  <c:v>45839</c:v>
                </c:pt>
                <c:pt idx="2" c:formatCode="mmm\-yy">
                  <c:v>45870</c:v>
                </c:pt>
                <c:pt idx="3" c:formatCode="mmm\-yy">
                  <c:v>45901</c:v>
                </c:pt>
                <c:pt idx="4" c:formatCode="mmm\-yy">
                  <c:v>45931</c:v>
                </c:pt>
                <c:pt idx="5" c:formatCode="mmm\-yy">
                  <c:v>45962</c:v>
                </c:pt>
                <c:pt idx="6" c:formatCode="mmm\-yy">
                  <c:v>45992</c:v>
                </c:pt>
                <c:pt idx="7" c:formatCode="mmm\-yy">
                  <c:v>46023</c:v>
                </c:pt>
              </c:numCache>
            </c:numRef>
          </c:cat>
          <c:val>
            <c:numRef>
              <c:f>[2601月报数据V2.xlsx]作图!$CE$47:$CL$47</c:f>
              <c:numCache>
                <c:formatCode>0.00%</c:formatCode>
                <c:ptCount val="8"/>
                <c:pt idx="0">
                  <c:v>0.000889614184501547</c:v>
                </c:pt>
                <c:pt idx="1">
                  <c:v>0.0013136240175314</c:v>
                </c:pt>
                <c:pt idx="2">
                  <c:v>0.00160871870656651</c:v>
                </c:pt>
                <c:pt idx="3">
                  <c:v>0.00137151952458339</c:v>
                </c:pt>
                <c:pt idx="4">
                  <c:v>0.00157649136082734</c:v>
                </c:pt>
                <c:pt idx="5">
                  <c:v>0.00185827392023145</c:v>
                </c:pt>
                <c:pt idx="6">
                  <c:v>0.00227803152674255</c:v>
                </c:pt>
                <c:pt idx="7">
                  <c:v>0.00216698764482269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0"/>
        <c:smooth val="0"/>
        <c:axId val="437935336"/>
        <c:axId val="775473796"/>
      </c:lineChart>
      <c:dateAx>
        <c:axId val="542345207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849393113"/>
        <c:crosses val="autoZero"/>
        <c:auto val="1"/>
        <c:lblOffset val="100"/>
        <c:baseTimeUnit val="months"/>
      </c:dateAx>
      <c:valAx>
        <c:axId val="849393113"/>
        <c:scaling>
          <c:orientation val="minMax"/>
        </c:scaling>
        <c:delete val="0"/>
        <c:axPos val="l"/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542345207"/>
        <c:crosses val="autoZero"/>
        <c:crossBetween val="between"/>
      </c:valAx>
      <c:dateAx>
        <c:axId val="437935336"/>
        <c:scaling>
          <c:orientation val="minMax"/>
        </c:scaling>
        <c:delete val="1"/>
        <c:axPos val="b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775473796"/>
        <c:crosses val="autoZero"/>
        <c:auto val="1"/>
        <c:lblOffset val="100"/>
        <c:baseTimeUnit val="months"/>
      </c:dateAx>
      <c:valAx>
        <c:axId val="775473796"/>
        <c:scaling>
          <c:orientation val="minMax"/>
        </c:scaling>
        <c:delete val="0"/>
        <c:axPos val="r"/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437935336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华文楷体" panose="02010600040101010101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a92c0415-3352-4fbf-bf9a-6ed50b722108}"/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lang="zh-CN">
          <a:latin typeface="华文楷体" panose="02010600040101010101" charset="-122"/>
          <a:ea typeface="华文楷体" panose="02010600040101010101" charset="-122"/>
          <a:cs typeface="华文楷体" panose="02010600040101010101" charset="-122"/>
          <a:sym typeface="华文楷体" panose="02010600040101010101" charset="-122"/>
        </a:defRPr>
      </a:pPr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4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  <a:r>
              <a:rPr sz="1440"/>
              <a:t>曝光-授信</a:t>
            </a:r>
            <a:r>
              <a:rPr lang="en-US" altLang="zh-CN" sz="1440"/>
              <a:t>率*1000</a:t>
            </a:r>
            <a:endParaRPr lang="en-US" altLang="zh-CN" sz="1440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[2601月报数据V2.xlsx]作图!$CD$40</c:f>
              <c:strCache>
                <c:ptCount val="1"/>
                <c:pt idx="0">
                  <c:v>曝光-授信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  <a:sym typeface="华文楷体" panose="02010600040101010101" charset="-122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[2601月报数据V2.xlsx]作图!$CE$39:$CL$39</c:f>
              <c:numCache>
                <c:formatCode>mmm\-yy</c:formatCode>
                <c:ptCount val="8"/>
                <c:pt idx="0" c:formatCode="mmm\-yy">
                  <c:v>45809</c:v>
                </c:pt>
                <c:pt idx="1" c:formatCode="mmm\-yy">
                  <c:v>45839</c:v>
                </c:pt>
                <c:pt idx="2" c:formatCode="mmm\-yy">
                  <c:v>45870</c:v>
                </c:pt>
                <c:pt idx="3" c:formatCode="mmm\-yy">
                  <c:v>45901</c:v>
                </c:pt>
                <c:pt idx="4" c:formatCode="mmm\-yy">
                  <c:v>45931</c:v>
                </c:pt>
                <c:pt idx="5" c:formatCode="mmm\-yy">
                  <c:v>45962</c:v>
                </c:pt>
                <c:pt idx="6" c:formatCode="mmm\-yy">
                  <c:v>45992</c:v>
                </c:pt>
                <c:pt idx="7" c:formatCode="mmm\-yy">
                  <c:v>46023</c:v>
                </c:pt>
              </c:numCache>
            </c:numRef>
          </c:cat>
          <c:val>
            <c:numRef>
              <c:f>[2601月报数据V2.xlsx]作图!$CE$40:$CL$40</c:f>
              <c:numCache>
                <c:formatCode>0.00%</c:formatCode>
                <c:ptCount val="8"/>
                <c:pt idx="0">
                  <c:v>0.0149101527181156</c:v>
                </c:pt>
                <c:pt idx="1">
                  <c:v>0.0151076790575225</c:v>
                </c:pt>
                <c:pt idx="2">
                  <c:v>0.0155053469288753</c:v>
                </c:pt>
                <c:pt idx="3">
                  <c:v>0.0152696056543089</c:v>
                </c:pt>
                <c:pt idx="4">
                  <c:v>0.01785460598509</c:v>
                </c:pt>
                <c:pt idx="5">
                  <c:v>0.0182379584013731</c:v>
                </c:pt>
                <c:pt idx="6">
                  <c:v>0.0192847104396225</c:v>
                </c:pt>
                <c:pt idx="7">
                  <c:v>0.0194372050583518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0"/>
        <c:smooth val="0"/>
        <c:axId val="542345207"/>
        <c:axId val="849393113"/>
      </c:lineChart>
      <c:dateAx>
        <c:axId val="542345207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849393113"/>
        <c:crosses val="autoZero"/>
        <c:auto val="1"/>
        <c:lblOffset val="100"/>
        <c:baseTimeUnit val="months"/>
      </c:dateAx>
      <c:valAx>
        <c:axId val="849393113"/>
        <c:scaling>
          <c:orientation val="minMax"/>
          <c:max val="0.025"/>
          <c:min val="0.01"/>
        </c:scaling>
        <c:delete val="0"/>
        <c:axPos val="l"/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54234520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华文楷体" panose="02010600040101010101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a92c0415-3352-4fbf-bf9a-6ed50b722108}"/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lang="zh-CN" sz="1200">
          <a:latin typeface="华文楷体" panose="02010600040101010101" charset="-122"/>
          <a:ea typeface="华文楷体" panose="02010600040101010101" charset="-122"/>
          <a:cs typeface="华文楷体" panose="02010600040101010101" charset="-122"/>
          <a:sym typeface="华文楷体" panose="02010600040101010101" charset="-122"/>
        </a:defRPr>
      </a:pPr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44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+mn-cs"/>
              </a:defRPr>
            </a:pPr>
            <a:r>
              <a:rPr lang="zh-CN" altLang="en-US" sz="1440"/>
              <a:t>抖音核心指标</a:t>
            </a:r>
            <a:endParaRPr lang="zh-CN" sz="1440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[2601月报数据.xlsx]作图!$B$6</c:f>
              <c:strCache>
                <c:ptCount val="1"/>
                <c:pt idx="0">
                  <c:v>日耗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charset="-122"/>
                    <a:ea typeface="华文楷体" panose="02010600040101010101" charset="-122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[2601月报数据.xlsx]作图!$C$5:$N$5</c:f>
              <c:numCache>
                <c:formatCode>mmm\-yy</c:formatCode>
                <c:ptCount val="8"/>
                <c:pt idx="0" c:formatCode="mmm\-yy">
                  <c:v>45809</c:v>
                </c:pt>
                <c:pt idx="1" c:formatCode="mmm\-yy">
                  <c:v>45839</c:v>
                </c:pt>
                <c:pt idx="2" c:formatCode="mmm\-yy">
                  <c:v>45870</c:v>
                </c:pt>
                <c:pt idx="3" c:formatCode="mmm\-yy">
                  <c:v>45901</c:v>
                </c:pt>
                <c:pt idx="4" c:formatCode="mmm\-yy">
                  <c:v>45931</c:v>
                </c:pt>
                <c:pt idx="5" c:formatCode="mmm\-yy">
                  <c:v>45962</c:v>
                </c:pt>
                <c:pt idx="6" c:formatCode="mmm\-yy">
                  <c:v>45992</c:v>
                </c:pt>
                <c:pt idx="7" c:formatCode="mmm\-yy">
                  <c:v>46023</c:v>
                </c:pt>
              </c:numCache>
            </c:numRef>
          </c:cat>
          <c:val>
            <c:numRef>
              <c:f>[2601月报数据.xlsx]作图!$C$6:$N$6</c:f>
              <c:numCache>
                <c:formatCode>#,##0</c:formatCode>
                <c:ptCount val="8"/>
                <c:pt idx="0">
                  <c:v>148.098038551943</c:v>
                </c:pt>
                <c:pt idx="1">
                  <c:v>132.614642234569</c:v>
                </c:pt>
                <c:pt idx="2">
                  <c:v>142.935512393626</c:v>
                </c:pt>
                <c:pt idx="3">
                  <c:v>110.75681747244</c:v>
                </c:pt>
                <c:pt idx="4">
                  <c:v>76.0719353845687</c:v>
                </c:pt>
                <c:pt idx="5">
                  <c:v>53.9734981207777</c:v>
                </c:pt>
                <c:pt idx="6">
                  <c:v>34.9055039110329</c:v>
                </c:pt>
                <c:pt idx="7">
                  <c:v>37.1979243005852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0529167"/>
        <c:axId val="120551727"/>
      </c:barChart>
      <c:lineChart>
        <c:grouping val="standard"/>
        <c:varyColors val="0"/>
        <c:ser>
          <c:idx val="2"/>
          <c:order val="1"/>
          <c:tx>
            <c:strRef>
              <c:f>[2601月报数据.xlsx]作图!$B$8</c:f>
              <c:strCache>
                <c:ptCount val="1"/>
                <c:pt idx="0">
                  <c:v>T0CPS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charset="-122"/>
                    <a:ea typeface="华文楷体" panose="02010600040101010101" charset="-122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[2601月报数据.xlsx]作图!$C$5:$N$5</c:f>
              <c:numCache>
                <c:formatCode>mmm\-yy</c:formatCode>
                <c:ptCount val="8"/>
                <c:pt idx="0" c:formatCode="mmm\-yy">
                  <c:v>45809</c:v>
                </c:pt>
                <c:pt idx="1" c:formatCode="mmm\-yy">
                  <c:v>45839</c:v>
                </c:pt>
                <c:pt idx="2" c:formatCode="mmm\-yy">
                  <c:v>45870</c:v>
                </c:pt>
                <c:pt idx="3" c:formatCode="mmm\-yy">
                  <c:v>45901</c:v>
                </c:pt>
                <c:pt idx="4" c:formatCode="mmm\-yy">
                  <c:v>45931</c:v>
                </c:pt>
                <c:pt idx="5" c:formatCode="mmm\-yy">
                  <c:v>45962</c:v>
                </c:pt>
                <c:pt idx="6" c:formatCode="mmm\-yy">
                  <c:v>45992</c:v>
                </c:pt>
                <c:pt idx="7" c:formatCode="mmm\-yy">
                  <c:v>46023</c:v>
                </c:pt>
              </c:numCache>
            </c:numRef>
          </c:cat>
          <c:val>
            <c:numRef>
              <c:f>[2601月报数据.xlsx]作图!$C$8:$N$8</c:f>
              <c:numCache>
                <c:formatCode>0%</c:formatCode>
                <c:ptCount val="8"/>
                <c:pt idx="0">
                  <c:v>0.315583687435631</c:v>
                </c:pt>
                <c:pt idx="1">
                  <c:v>0.292228595488362</c:v>
                </c:pt>
                <c:pt idx="2">
                  <c:v>0.297086022122372</c:v>
                </c:pt>
                <c:pt idx="3">
                  <c:v>0.280323199644751</c:v>
                </c:pt>
                <c:pt idx="4">
                  <c:v>0.275212194623222</c:v>
                </c:pt>
                <c:pt idx="5">
                  <c:v>0.297081655671694</c:v>
                </c:pt>
                <c:pt idx="6">
                  <c:v>0.272188895126582</c:v>
                </c:pt>
                <c:pt idx="7">
                  <c:v>0.313495007683553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120557007"/>
        <c:axId val="120544527"/>
      </c:lineChart>
      <c:dateAx>
        <c:axId val="120529167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+mn-cs"/>
              </a:defRPr>
            </a:pPr>
          </a:p>
        </c:txPr>
        <c:crossAx val="120551727"/>
        <c:crosses val="autoZero"/>
        <c:auto val="1"/>
        <c:lblOffset val="100"/>
        <c:baseTimeUnit val="months"/>
      </c:dateAx>
      <c:valAx>
        <c:axId val="120551727"/>
        <c:scaling>
          <c:orientation val="minMax"/>
        </c:scaling>
        <c:delete val="0"/>
        <c:axPos val="l"/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+mn-cs"/>
              </a:defRPr>
            </a:pPr>
          </a:p>
        </c:txPr>
        <c:crossAx val="120529167"/>
        <c:crosses val="autoZero"/>
        <c:crossBetween val="between"/>
      </c:valAx>
      <c:dateAx>
        <c:axId val="120557007"/>
        <c:scaling>
          <c:orientation val="minMax"/>
        </c:scaling>
        <c:delete val="1"/>
        <c:axPos val="b"/>
        <c:numFmt formatCode="mmm\-yy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+mn-cs"/>
              </a:defRPr>
            </a:pPr>
          </a:p>
        </c:txPr>
        <c:crossAx val="120544527"/>
        <c:crosses val="autoZero"/>
        <c:auto val="1"/>
        <c:lblOffset val="100"/>
        <c:baseTimeUnit val="months"/>
      </c:dateAx>
      <c:valAx>
        <c:axId val="120544527"/>
        <c:scaling>
          <c:orientation val="minMax"/>
          <c:min val="0"/>
        </c:scaling>
        <c:delete val="0"/>
        <c:axPos val="r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+mn-cs"/>
              </a:defRPr>
            </a:pPr>
          </a:p>
        </c:txPr>
        <c:crossAx val="120557007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+mn-cs"/>
              </a:defRPr>
            </a:pPr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+mn-cs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2ef12def-14b0-41be-b0b3-ae0b5ae6a395}"/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lang="zh-CN" sz="1200">
          <a:latin typeface="华文楷体" panose="02010600040101010101" charset="-122"/>
          <a:ea typeface="华文楷体" panose="02010600040101010101" charset="-122"/>
        </a:defRPr>
      </a:pPr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44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+mn-cs"/>
              </a:defRPr>
            </a:pPr>
            <a:r>
              <a:rPr lang="zh-CN" altLang="en-US" sz="1440"/>
              <a:t>抖音质量表现</a:t>
            </a:r>
            <a:endParaRPr lang="zh-CN" sz="1440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2"/>
          <c:order val="2"/>
          <c:tx>
            <c:strRef>
              <c:f>[2601月报数据V2.xlsx]作图!$Z$8</c:f>
              <c:strCache>
                <c:ptCount val="1"/>
                <c:pt idx="0">
                  <c:v>1-7额度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charset="-122"/>
                    <a:ea typeface="华文楷体" panose="02010600040101010101" charset="-122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[2601月报数据V2.xlsx]作图!$AA$5:$AL$5</c:f>
              <c:numCache>
                <c:formatCode>mmm\-yy</c:formatCode>
                <c:ptCount val="8"/>
                <c:pt idx="0" c:formatCode="mmm\-yy">
                  <c:v>45809</c:v>
                </c:pt>
                <c:pt idx="1" c:formatCode="mmm\-yy">
                  <c:v>45839</c:v>
                </c:pt>
                <c:pt idx="2" c:formatCode="mmm\-yy">
                  <c:v>45870</c:v>
                </c:pt>
                <c:pt idx="3" c:formatCode="mmm\-yy">
                  <c:v>45901</c:v>
                </c:pt>
                <c:pt idx="4" c:formatCode="mmm\-yy">
                  <c:v>45931</c:v>
                </c:pt>
                <c:pt idx="5" c:formatCode="mmm\-yy">
                  <c:v>45962</c:v>
                </c:pt>
                <c:pt idx="6" c:formatCode="mmm\-yy">
                  <c:v>45992</c:v>
                </c:pt>
                <c:pt idx="7" c:formatCode="mmm\-yy">
                  <c:v>46023</c:v>
                </c:pt>
              </c:numCache>
            </c:numRef>
          </c:cat>
          <c:val>
            <c:numRef>
              <c:f>[2601月报数据V2.xlsx]作图!$AA$8:$AL$8</c:f>
              <c:numCache>
                <c:formatCode>#,##0</c:formatCode>
                <c:ptCount val="8"/>
                <c:pt idx="0">
                  <c:v>18379.5090428775</c:v>
                </c:pt>
                <c:pt idx="1">
                  <c:v>19608.9663976656</c:v>
                </c:pt>
                <c:pt idx="2">
                  <c:v>20710.8230261116</c:v>
                </c:pt>
                <c:pt idx="3">
                  <c:v>21898.3148907487</c:v>
                </c:pt>
                <c:pt idx="4">
                  <c:v>22393.3784904617</c:v>
                </c:pt>
                <c:pt idx="5">
                  <c:v>23198.2651451897</c:v>
                </c:pt>
                <c:pt idx="6">
                  <c:v>20905.3674043282</c:v>
                </c:pt>
                <c:pt idx="7">
                  <c:v>20351.870251315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803524719"/>
        <c:axId val="803503119"/>
      </c:barChart>
      <c:lineChart>
        <c:grouping val="standard"/>
        <c:varyColors val="0"/>
        <c:ser>
          <c:idx val="0"/>
          <c:order val="0"/>
          <c:tx>
            <c:strRef>
              <c:f>[2601月报数据V2.xlsx]作图!$Z$6</c:f>
              <c:strCache>
                <c:ptCount val="1"/>
                <c:pt idx="0">
                  <c:v>过件率1-3_排年龄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charset="-122"/>
                    <a:ea typeface="华文楷体" panose="02010600040101010101" charset="-122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[2601月报数据V2.xlsx]作图!$AA$5:$AL$5</c:f>
              <c:numCache>
                <c:formatCode>mmm\-yy</c:formatCode>
                <c:ptCount val="8"/>
                <c:pt idx="0" c:formatCode="mmm\-yy">
                  <c:v>45809</c:v>
                </c:pt>
                <c:pt idx="1" c:formatCode="mmm\-yy">
                  <c:v>45839</c:v>
                </c:pt>
                <c:pt idx="2" c:formatCode="mmm\-yy">
                  <c:v>45870</c:v>
                </c:pt>
                <c:pt idx="3" c:formatCode="mmm\-yy">
                  <c:v>45901</c:v>
                </c:pt>
                <c:pt idx="4" c:formatCode="mmm\-yy">
                  <c:v>45931</c:v>
                </c:pt>
                <c:pt idx="5" c:formatCode="mmm\-yy">
                  <c:v>45962</c:v>
                </c:pt>
                <c:pt idx="6" c:formatCode="mmm\-yy">
                  <c:v>45992</c:v>
                </c:pt>
                <c:pt idx="7" c:formatCode="mmm\-yy">
                  <c:v>46023</c:v>
                </c:pt>
              </c:numCache>
            </c:numRef>
          </c:cat>
          <c:val>
            <c:numRef>
              <c:f>[2601月报数据V2.xlsx]作图!$AA$6:$AL$6</c:f>
              <c:numCache>
                <c:formatCode>0%</c:formatCode>
                <c:ptCount val="8"/>
                <c:pt idx="0">
                  <c:v>0.186152589297871</c:v>
                </c:pt>
                <c:pt idx="1">
                  <c:v>0.19703939759965</c:v>
                </c:pt>
                <c:pt idx="2">
                  <c:v>0.20767516959972</c:v>
                </c:pt>
                <c:pt idx="3">
                  <c:v>0.220038978881114</c:v>
                </c:pt>
                <c:pt idx="4">
                  <c:v>0.196994803042856</c:v>
                </c:pt>
                <c:pt idx="5">
                  <c:v>0.197616632860041</c:v>
                </c:pt>
                <c:pt idx="6">
                  <c:v>0.188068413193973</c:v>
                </c:pt>
                <c:pt idx="7">
                  <c:v>0.187067948069466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[2601月报数据V2.xlsx]作图!$Z$7</c:f>
              <c:strCache>
                <c:ptCount val="1"/>
                <c:pt idx="0">
                  <c:v>过件率1-7_排年龄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charset="-122"/>
                    <a:ea typeface="华文楷体" panose="02010600040101010101" charset="-122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[2601月报数据V2.xlsx]作图!$AA$5:$AL$5</c:f>
              <c:numCache>
                <c:formatCode>mmm\-yy</c:formatCode>
                <c:ptCount val="8"/>
                <c:pt idx="0" c:formatCode="mmm\-yy">
                  <c:v>45809</c:v>
                </c:pt>
                <c:pt idx="1" c:formatCode="mmm\-yy">
                  <c:v>45839</c:v>
                </c:pt>
                <c:pt idx="2" c:formatCode="mmm\-yy">
                  <c:v>45870</c:v>
                </c:pt>
                <c:pt idx="3" c:formatCode="mmm\-yy">
                  <c:v>45901</c:v>
                </c:pt>
                <c:pt idx="4" c:formatCode="mmm\-yy">
                  <c:v>45931</c:v>
                </c:pt>
                <c:pt idx="5" c:formatCode="mmm\-yy">
                  <c:v>45962</c:v>
                </c:pt>
                <c:pt idx="6" c:formatCode="mmm\-yy">
                  <c:v>45992</c:v>
                </c:pt>
                <c:pt idx="7" c:formatCode="mmm\-yy">
                  <c:v>46023</c:v>
                </c:pt>
              </c:numCache>
            </c:numRef>
          </c:cat>
          <c:val>
            <c:numRef>
              <c:f>[2601月报数据V2.xlsx]作图!$AA$7:$AL$7</c:f>
              <c:numCache>
                <c:formatCode>0%</c:formatCode>
                <c:ptCount val="8"/>
                <c:pt idx="0">
                  <c:v>0.558366994962102</c:v>
                </c:pt>
                <c:pt idx="1">
                  <c:v>0.563670941379044</c:v>
                </c:pt>
                <c:pt idx="2">
                  <c:v>0.564673191979373</c:v>
                </c:pt>
                <c:pt idx="3">
                  <c:v>0.568804115147449</c:v>
                </c:pt>
                <c:pt idx="4">
                  <c:v>0.544851999698727</c:v>
                </c:pt>
                <c:pt idx="5">
                  <c:v>0.546602434077079</c:v>
                </c:pt>
                <c:pt idx="6">
                  <c:v>0.555110628478349</c:v>
                </c:pt>
                <c:pt idx="7">
                  <c:v>0.576968470746923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0"/>
        <c:smooth val="0"/>
        <c:axId val="803494959"/>
        <c:axId val="803520399"/>
      </c:lineChart>
      <c:dateAx>
        <c:axId val="803494959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+mn-cs"/>
              </a:defRPr>
            </a:pPr>
          </a:p>
        </c:txPr>
        <c:crossAx val="803520399"/>
        <c:crosses val="autoZero"/>
        <c:auto val="1"/>
        <c:lblOffset val="100"/>
        <c:baseTimeUnit val="months"/>
      </c:dateAx>
      <c:valAx>
        <c:axId val="803520399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+mn-cs"/>
              </a:defRPr>
            </a:pPr>
          </a:p>
        </c:txPr>
        <c:crossAx val="803494959"/>
        <c:crosses val="autoZero"/>
        <c:crossBetween val="between"/>
      </c:valAx>
      <c:dateAx>
        <c:axId val="803524719"/>
        <c:scaling>
          <c:orientation val="minMax"/>
        </c:scaling>
        <c:delete val="1"/>
        <c:axPos val="b"/>
        <c:numFmt formatCode="mmm\-yy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+mn-cs"/>
              </a:defRPr>
            </a:pPr>
          </a:p>
        </c:txPr>
        <c:crossAx val="803503119"/>
        <c:crosses val="autoZero"/>
        <c:auto val="1"/>
        <c:lblOffset val="100"/>
        <c:baseTimeUnit val="months"/>
      </c:dateAx>
      <c:valAx>
        <c:axId val="803503119"/>
        <c:scaling>
          <c:orientation val="minMax"/>
        </c:scaling>
        <c:delete val="0"/>
        <c:axPos val="r"/>
        <c:numFmt formatCode="#,##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+mn-cs"/>
              </a:defRPr>
            </a:pPr>
          </a:p>
        </c:txPr>
        <c:crossAx val="803524719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+mn-cs"/>
              </a:defRPr>
            </a:pPr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+mn-cs"/>
              </a:defRPr>
            </a:pPr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+mn-cs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418e8578-fd47-4098-b9c9-a3262d7b64e6}"/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lang="zh-CN" sz="1200">
          <a:latin typeface="华文楷体" panose="02010600040101010101" charset="-122"/>
          <a:ea typeface="华文楷体" panose="02010600040101010101" charset="-122"/>
        </a:defRPr>
      </a:pPr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4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  <a:r>
              <a:rPr lang="en-US" altLang="zh-CN" sz="144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rPr>
              <a:t>请求及参竞</a:t>
            </a:r>
            <a:endParaRPr sz="144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华文楷体" panose="02010600040101010101" charset="-122"/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[2601月报数据V2.xlsx]作图!$CO$5</c:f>
              <c:strCache>
                <c:ptCount val="1"/>
                <c:pt idx="0">
                  <c:v>日请求量（亿）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  <a:sym typeface="华文楷体" panose="02010600040101010101" charset="-122"/>
                  </a:defRPr>
                </a:pPr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[2601月报数据V2.xlsx]作图!$CP$4:$CS$4</c:f>
              <c:numCache>
                <c:formatCode>mmm\-yy</c:formatCode>
                <c:ptCount val="4"/>
                <c:pt idx="0" c:formatCode="mmm\-yy">
                  <c:v>45931</c:v>
                </c:pt>
                <c:pt idx="1" c:formatCode="mmm\-yy">
                  <c:v>45962</c:v>
                </c:pt>
                <c:pt idx="2" c:formatCode="mmm\-yy">
                  <c:v>45992</c:v>
                </c:pt>
                <c:pt idx="3" c:formatCode="mmm\-yy">
                  <c:v>46023</c:v>
                </c:pt>
              </c:numCache>
            </c:numRef>
          </c:cat>
          <c:val>
            <c:numRef>
              <c:f>[2601月报数据V2.xlsx]作图!$CP$5:$CS$5</c:f>
              <c:numCache>
                <c:formatCode>#,##0</c:formatCode>
                <c:ptCount val="4"/>
                <c:pt idx="0">
                  <c:v>73.7969192654839</c:v>
                </c:pt>
                <c:pt idx="1">
                  <c:v>69.907251665</c:v>
                </c:pt>
                <c:pt idx="2">
                  <c:v>61.5429450532258</c:v>
                </c:pt>
                <c:pt idx="3">
                  <c:v>54.7252020903704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46"/>
        <c:overlap val="-28"/>
        <c:axId val="359182304"/>
        <c:axId val="831960783"/>
      </c:barChart>
      <c:lineChart>
        <c:grouping val="standard"/>
        <c:varyColors val="0"/>
        <c:ser>
          <c:idx val="1"/>
          <c:order val="1"/>
          <c:tx>
            <c:strRef>
              <c:f>[2601月报数据V2.xlsx]作图!$CO$6</c:f>
              <c:strCache>
                <c:ptCount val="1"/>
                <c:pt idx="0">
                  <c:v>参竞率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  <a:sym typeface="华文楷体" panose="02010600040101010101" charset="-122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[2601月报数据V2.xlsx]作图!$CP$4:$CS$4</c:f>
              <c:numCache>
                <c:formatCode>mmm\-yy</c:formatCode>
                <c:ptCount val="4"/>
                <c:pt idx="0" c:formatCode="mmm\-yy">
                  <c:v>45931</c:v>
                </c:pt>
                <c:pt idx="1" c:formatCode="mmm\-yy">
                  <c:v>45962</c:v>
                </c:pt>
                <c:pt idx="2" c:formatCode="mmm\-yy">
                  <c:v>45992</c:v>
                </c:pt>
                <c:pt idx="3" c:formatCode="mmm\-yy">
                  <c:v>46023</c:v>
                </c:pt>
              </c:numCache>
            </c:numRef>
          </c:cat>
          <c:val>
            <c:numRef>
              <c:f>[2601月报数据V2.xlsx]作图!$CP$6:$CS$6</c:f>
              <c:numCache>
                <c:formatCode>0%</c:formatCode>
                <c:ptCount val="4"/>
                <c:pt idx="0">
                  <c:v>0.832643933919972</c:v>
                </c:pt>
                <c:pt idx="1">
                  <c:v>0.75859548203663</c:v>
                </c:pt>
                <c:pt idx="2">
                  <c:v>0.63932504193203</c:v>
                </c:pt>
                <c:pt idx="3">
                  <c:v>0.640671802116814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0"/>
        <c:smooth val="0"/>
        <c:axId val="516999806"/>
        <c:axId val="554081530"/>
      </c:lineChart>
      <c:dateAx>
        <c:axId val="35918230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831960783"/>
        <c:crosses val="autoZero"/>
        <c:auto val="1"/>
        <c:lblOffset val="100"/>
        <c:baseTimeUnit val="months"/>
      </c:dateAx>
      <c:valAx>
        <c:axId val="831960783"/>
        <c:scaling>
          <c:orientation val="minMax"/>
        </c:scaling>
        <c:delete val="0"/>
        <c:axPos val="l"/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359182304"/>
        <c:crosses val="autoZero"/>
        <c:crossBetween val="between"/>
      </c:valAx>
      <c:dateAx>
        <c:axId val="516999806"/>
        <c:scaling>
          <c:orientation val="minMax"/>
        </c:scaling>
        <c:delete val="1"/>
        <c:axPos val="b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554081530"/>
        <c:crosses val="autoZero"/>
        <c:auto val="1"/>
        <c:lblOffset val="100"/>
        <c:baseTimeUnit val="months"/>
      </c:dateAx>
      <c:valAx>
        <c:axId val="554081530"/>
        <c:scaling>
          <c:orientation val="minMax"/>
        </c:scaling>
        <c:delete val="0"/>
        <c:axPos val="r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516999806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华文楷体" panose="02010600040101010101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8cba4841-b2e9-41ef-88ed-1587ed554d82}"/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lang="zh-CN" sz="1200">
          <a:latin typeface="华文楷体" panose="02010600040101010101" charset="-122"/>
          <a:ea typeface="华文楷体" panose="02010600040101010101" charset="-122"/>
          <a:cs typeface="华文楷体" panose="02010600040101010101" charset="-122"/>
          <a:sym typeface="华文楷体" panose="02010600040101010101" charset="-122"/>
        </a:defRPr>
      </a:pPr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  <a:r>
              <a:rPr lang="en-US" altLang="zh-CN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rPr>
              <a:t>抖音</a:t>
            </a:r>
            <a:r>
              <a:rPr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rPr>
              <a:t>竞得率</a:t>
            </a:r>
            <a:endParaRPr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华文楷体" panose="02010600040101010101" charset="-122"/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907241014799154"/>
          <c:y val="0.173893199452305"/>
          <c:w val="0.877827695560254"/>
          <c:h val="0.612825193975354"/>
        </c:manualLayout>
      </c:layout>
      <c:lineChart>
        <c:grouping val="standard"/>
        <c:varyColors val="0"/>
        <c:ser>
          <c:idx val="0"/>
          <c:order val="0"/>
          <c:tx>
            <c:strRef>
              <c:f>[2601月报数据V2.xlsx]作图!$BC$6</c:f>
              <c:strCache>
                <c:ptCount val="1"/>
                <c:pt idx="0">
                  <c:v>竞得率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  <a:sym typeface="华文楷体" panose="02010600040101010101" charset="-122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[2601月报数据V2.xlsx]作图!$BD$5:$BG$5</c:f>
              <c:numCache>
                <c:formatCode>mmm\-yy</c:formatCode>
                <c:ptCount val="4"/>
                <c:pt idx="0" c:formatCode="mmm\-yy">
                  <c:v>45931</c:v>
                </c:pt>
                <c:pt idx="1" c:formatCode="mmm\-yy">
                  <c:v>45962</c:v>
                </c:pt>
                <c:pt idx="2" c:formatCode="mmm\-yy">
                  <c:v>45992</c:v>
                </c:pt>
                <c:pt idx="3" c:formatCode="mmm\-yy">
                  <c:v>46023</c:v>
                </c:pt>
              </c:numCache>
            </c:numRef>
          </c:cat>
          <c:val>
            <c:numRef>
              <c:f>[2601月报数据V2.xlsx]作图!$BD$6:$BG$6</c:f>
              <c:numCache>
                <c:formatCode>0.00%</c:formatCode>
                <c:ptCount val="4"/>
                <c:pt idx="0">
                  <c:v>0.002744372955108</c:v>
                </c:pt>
                <c:pt idx="1">
                  <c:v>0.0026083929127466</c:v>
                </c:pt>
                <c:pt idx="2">
                  <c:v>0.00232804803081764</c:v>
                </c:pt>
                <c:pt idx="3">
                  <c:v>0.00269295267247554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0"/>
        <c:smooth val="0"/>
        <c:axId val="977772008"/>
        <c:axId val="19939664"/>
      </c:lineChart>
      <c:dateAx>
        <c:axId val="977772008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19939664"/>
        <c:crosses val="autoZero"/>
        <c:auto val="1"/>
        <c:lblOffset val="100"/>
        <c:baseTimeUnit val="months"/>
      </c:dateAx>
      <c:valAx>
        <c:axId val="19939664"/>
        <c:scaling>
          <c:orientation val="minMax"/>
          <c:max val="0.004"/>
          <c:min val="0.001"/>
        </c:scaling>
        <c:delete val="0"/>
        <c:axPos val="l"/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977772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华文楷体" panose="02010600040101010101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6df38081-0229-4678-8db8-4f1138c8ec8a}"/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lang="zh-CN">
          <a:latin typeface="华文楷体" panose="02010600040101010101" charset="-122"/>
          <a:ea typeface="华文楷体" panose="02010600040101010101" charset="-122"/>
          <a:cs typeface="华文楷体" panose="02010600040101010101" charset="-122"/>
          <a:sym typeface="华文楷体" panose="02010600040101010101" charset="-122"/>
        </a:defRPr>
      </a:pPr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+mn-cs"/>
              </a:defRPr>
            </a:pPr>
            <a:r>
              <a:rPr lang="zh-CN" altLang="en-US" sz="1600"/>
              <a:t>抖音竞得率</a:t>
            </a:r>
            <a:r>
              <a:rPr lang="en-US" altLang="zh-CN" sz="1600"/>
              <a:t>byV8preA</a:t>
            </a:r>
            <a:endParaRPr lang="zh-CN" sz="1600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'[2601月报数据V5(1).xlsx]抖音链路'!$AE$71</c:f>
              <c:strCache>
                <c:ptCount val="1"/>
                <c:pt idx="0">
                  <c:v>1Q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charset="-122"/>
                    <a:ea typeface="华文楷体" panose="02010600040101010101" charset="-122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'[2601月报数据V5(1).xlsx]抖音链路'!$AD$72:$AD$74</c:f>
              <c:numCache>
                <c:formatCode>mmm\-yy</c:formatCode>
                <c:ptCount val="3"/>
                <c:pt idx="0" c:formatCode="mmm\-yy">
                  <c:v>45962</c:v>
                </c:pt>
                <c:pt idx="1" c:formatCode="mmm\-yy">
                  <c:v>45992</c:v>
                </c:pt>
                <c:pt idx="2" c:formatCode="mmm\-yy">
                  <c:v>46023</c:v>
                </c:pt>
              </c:numCache>
            </c:numRef>
          </c:cat>
          <c:val>
            <c:numRef>
              <c:f>'[2601月报数据V5(1).xlsx]抖音链路'!$AE$72:$AE$74</c:f>
              <c:numCache>
                <c:formatCode>0.00%</c:formatCode>
                <c:ptCount val="3"/>
                <c:pt idx="0">
                  <c:v>0.00131392671360538</c:v>
                </c:pt>
                <c:pt idx="1">
                  <c:v>0.00119930010745793</c:v>
                </c:pt>
                <c:pt idx="2">
                  <c:v>0.00121582547681159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'[2601月报数据V5(1).xlsx]抖音链路'!$AF$71</c:f>
              <c:strCache>
                <c:ptCount val="1"/>
                <c:pt idx="0">
                  <c:v>2Q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charset="-122"/>
                    <a:ea typeface="华文楷体" panose="02010600040101010101" charset="-122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'[2601月报数据V5(1).xlsx]抖音链路'!$AD$72:$AD$74</c:f>
              <c:numCache>
                <c:formatCode>mmm\-yy</c:formatCode>
                <c:ptCount val="3"/>
                <c:pt idx="0" c:formatCode="mmm\-yy">
                  <c:v>45962</c:v>
                </c:pt>
                <c:pt idx="1" c:formatCode="mmm\-yy">
                  <c:v>45992</c:v>
                </c:pt>
                <c:pt idx="2" c:formatCode="mmm\-yy">
                  <c:v>46023</c:v>
                </c:pt>
              </c:numCache>
            </c:numRef>
          </c:cat>
          <c:val>
            <c:numRef>
              <c:f>'[2601月报数据V5(1).xlsx]抖音链路'!$AF$72:$AF$74</c:f>
              <c:numCache>
                <c:formatCode>0.00%</c:formatCode>
                <c:ptCount val="3"/>
                <c:pt idx="0">
                  <c:v>0.00282093377390092</c:v>
                </c:pt>
                <c:pt idx="1">
                  <c:v>0.00256283428371099</c:v>
                </c:pt>
                <c:pt idx="2">
                  <c:v>0.00293457374467746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'[2601月报数据V5(1).xlsx]抖音链路'!$AG$71</c:f>
              <c:strCache>
                <c:ptCount val="1"/>
                <c:pt idx="0">
                  <c:v>3Q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charset="-122"/>
                    <a:ea typeface="华文楷体" panose="02010600040101010101" charset="-122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'[2601月报数据V5(1).xlsx]抖音链路'!$AD$72:$AD$74</c:f>
              <c:numCache>
                <c:formatCode>mmm\-yy</c:formatCode>
                <c:ptCount val="3"/>
                <c:pt idx="0" c:formatCode="mmm\-yy">
                  <c:v>45962</c:v>
                </c:pt>
                <c:pt idx="1" c:formatCode="mmm\-yy">
                  <c:v>45992</c:v>
                </c:pt>
                <c:pt idx="2" c:formatCode="mmm\-yy">
                  <c:v>46023</c:v>
                </c:pt>
              </c:numCache>
            </c:numRef>
          </c:cat>
          <c:val>
            <c:numRef>
              <c:f>'[2601月报数据V5(1).xlsx]抖音链路'!$AG$72:$AG$74</c:f>
              <c:numCache>
                <c:formatCode>0.00%</c:formatCode>
                <c:ptCount val="3"/>
                <c:pt idx="0">
                  <c:v>0.00400219699223865</c:v>
                </c:pt>
                <c:pt idx="1">
                  <c:v>0.00330488500671636</c:v>
                </c:pt>
                <c:pt idx="2">
                  <c:v>0.00387594907957828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'[2601月报数据V5(1).xlsx]抖音链路'!$AH$71</c:f>
              <c:strCache>
                <c:ptCount val="1"/>
                <c:pt idx="0">
                  <c:v>UNK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charset="-122"/>
                    <a:ea typeface="华文楷体" panose="02010600040101010101" charset="-122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'[2601月报数据V5(1).xlsx]抖音链路'!$AD$72:$AD$74</c:f>
              <c:numCache>
                <c:formatCode>mmm\-yy</c:formatCode>
                <c:ptCount val="3"/>
                <c:pt idx="0" c:formatCode="mmm\-yy">
                  <c:v>45962</c:v>
                </c:pt>
                <c:pt idx="1" c:formatCode="mmm\-yy">
                  <c:v>45992</c:v>
                </c:pt>
                <c:pt idx="2" c:formatCode="mmm\-yy">
                  <c:v>46023</c:v>
                </c:pt>
              </c:numCache>
            </c:numRef>
          </c:cat>
          <c:val>
            <c:numRef>
              <c:f>'[2601月报数据V5(1).xlsx]抖音链路'!$AH$72:$AH$74</c:f>
              <c:numCache>
                <c:formatCode>0.00%</c:formatCode>
                <c:ptCount val="3"/>
                <c:pt idx="0">
                  <c:v>0.0012</c:v>
                </c:pt>
                <c:pt idx="1">
                  <c:v>0.00112219851910308</c:v>
                </c:pt>
                <c:pt idx="2">
                  <c:v>0.0012789847870562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0"/>
        <c:smooth val="0"/>
        <c:axId val="803522319"/>
        <c:axId val="803511279"/>
      </c:lineChart>
      <c:dateAx>
        <c:axId val="803522319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+mn-cs"/>
              </a:defRPr>
            </a:pPr>
          </a:p>
        </c:txPr>
        <c:crossAx val="803511279"/>
        <c:crosses val="autoZero"/>
        <c:auto val="1"/>
        <c:lblOffset val="100"/>
        <c:baseTimeUnit val="months"/>
      </c:dateAx>
      <c:valAx>
        <c:axId val="803511279"/>
        <c:scaling>
          <c:orientation val="minMax"/>
        </c:scaling>
        <c:delete val="0"/>
        <c:axPos val="l"/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+mn-cs"/>
              </a:defRPr>
            </a:pPr>
          </a:p>
        </c:txPr>
        <c:crossAx val="80352231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b5ed48c4-df87-4625-93f2-0a8195d33014}"/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lang="zh-CN">
          <a:latin typeface="华文楷体" panose="02010600040101010101" charset="-122"/>
          <a:ea typeface="华文楷体" panose="02010600040101010101" charset="-122"/>
        </a:defRPr>
      </a:pPr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  <a:r>
              <a:rPr lang="en-US" altLang="zh-CN"/>
              <a:t>分环节转化</a:t>
            </a:r>
            <a:endParaRPr lang="en-US" altLang="zh-CN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[2601月报数据V2.xlsx]作图!$DF$20</c:f>
              <c:strCache>
                <c:ptCount val="1"/>
                <c:pt idx="0">
                  <c:v>曝光点击率（CTR)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  <a:sym typeface="华文楷体" panose="02010600040101010101" charset="-122"/>
                  </a:defRPr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[2601月报数据V2.xlsx]作图!$DG$19:$DN$19</c:f>
              <c:numCache>
                <c:formatCode>mmm\-yy</c:formatCode>
                <c:ptCount val="8"/>
                <c:pt idx="0" c:formatCode="mmm\-yy">
                  <c:v>45809</c:v>
                </c:pt>
                <c:pt idx="1" c:formatCode="mmm\-yy">
                  <c:v>45839</c:v>
                </c:pt>
                <c:pt idx="2" c:formatCode="mmm\-yy">
                  <c:v>45870</c:v>
                </c:pt>
                <c:pt idx="3" c:formatCode="mmm\-yy">
                  <c:v>45901</c:v>
                </c:pt>
                <c:pt idx="4" c:formatCode="mmm\-yy">
                  <c:v>45931</c:v>
                </c:pt>
                <c:pt idx="5" c:formatCode="mmm\-yy">
                  <c:v>45962</c:v>
                </c:pt>
                <c:pt idx="6" c:formatCode="mmm\-yy">
                  <c:v>45992</c:v>
                </c:pt>
                <c:pt idx="7" c:formatCode="mmm\-yy">
                  <c:v>46023</c:v>
                </c:pt>
              </c:numCache>
            </c:numRef>
          </c:cat>
          <c:val>
            <c:numRef>
              <c:f>[2601月报数据V2.xlsx]作图!$DG$20:$DN$20</c:f>
              <c:numCache>
                <c:formatCode>0%</c:formatCode>
                <c:ptCount val="8"/>
                <c:pt idx="0">
                  <c:v>0.552382668895692</c:v>
                </c:pt>
                <c:pt idx="1">
                  <c:v>0.539222976240591</c:v>
                </c:pt>
                <c:pt idx="2">
                  <c:v>0.582370757811548</c:v>
                </c:pt>
                <c:pt idx="3">
                  <c:v>0.605839345390057</c:v>
                </c:pt>
                <c:pt idx="4">
                  <c:v>0.576177200169535</c:v>
                </c:pt>
                <c:pt idx="5">
                  <c:v>0.622199572273431</c:v>
                </c:pt>
                <c:pt idx="6">
                  <c:v>0.626494375406594</c:v>
                </c:pt>
                <c:pt idx="7">
                  <c:v>0.622200970368806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0"/>
        <c:smooth val="0"/>
        <c:axId val="542345207"/>
        <c:axId val="849393113"/>
      </c:lineChart>
      <c:lineChart>
        <c:grouping val="standard"/>
        <c:varyColors val="0"/>
        <c:ser>
          <c:idx val="1"/>
          <c:order val="1"/>
          <c:tx>
            <c:strRef>
              <c:f>[2601月报数据V2.xlsx]作图!$DF$21</c:f>
              <c:strCache>
                <c:ptCount val="1"/>
                <c:pt idx="0">
                  <c:v>点击授信率（CVR)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  <a:sym typeface="华文楷体" panose="02010600040101010101" charset="-122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[2601月报数据V2.xlsx]作图!$DG$19:$DN$19</c:f>
              <c:numCache>
                <c:formatCode>mmm\-yy</c:formatCode>
                <c:ptCount val="8"/>
                <c:pt idx="0" c:formatCode="mmm\-yy">
                  <c:v>45809</c:v>
                </c:pt>
                <c:pt idx="1" c:formatCode="mmm\-yy">
                  <c:v>45839</c:v>
                </c:pt>
                <c:pt idx="2" c:formatCode="mmm\-yy">
                  <c:v>45870</c:v>
                </c:pt>
                <c:pt idx="3" c:formatCode="mmm\-yy">
                  <c:v>45901</c:v>
                </c:pt>
                <c:pt idx="4" c:formatCode="mmm\-yy">
                  <c:v>45931</c:v>
                </c:pt>
                <c:pt idx="5" c:formatCode="mmm\-yy">
                  <c:v>45962</c:v>
                </c:pt>
                <c:pt idx="6" c:formatCode="mmm\-yy">
                  <c:v>45992</c:v>
                </c:pt>
                <c:pt idx="7" c:formatCode="mmm\-yy">
                  <c:v>46023</c:v>
                </c:pt>
              </c:numCache>
            </c:numRef>
          </c:cat>
          <c:val>
            <c:numRef>
              <c:f>[2601月报数据V2.xlsx]作图!$DG$21:$DN$21</c:f>
              <c:numCache>
                <c:formatCode>0.000%</c:formatCode>
                <c:ptCount val="8"/>
                <c:pt idx="0">
                  <c:v>4.53354897048473e-5</c:v>
                </c:pt>
                <c:pt idx="1">
                  <c:v>4.45332627737789e-5</c:v>
                </c:pt>
                <c:pt idx="2">
                  <c:v>3.54887462251206e-5</c:v>
                </c:pt>
                <c:pt idx="3">
                  <c:v>4.05656603882379e-5</c:v>
                </c:pt>
                <c:pt idx="4">
                  <c:v>4.74565035530907e-5</c:v>
                </c:pt>
                <c:pt idx="5">
                  <c:v>4.03059442313447e-5</c:v>
                </c:pt>
                <c:pt idx="6">
                  <c:v>4.53125104519227e-5</c:v>
                </c:pt>
                <c:pt idx="7">
                  <c:v>4.01032197993171e-5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0"/>
        <c:smooth val="0"/>
        <c:axId val="437935336"/>
        <c:axId val="775473796"/>
      </c:lineChart>
      <c:dateAx>
        <c:axId val="542345207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849393113"/>
        <c:crosses val="autoZero"/>
        <c:auto val="1"/>
        <c:lblOffset val="100"/>
        <c:baseTimeUnit val="months"/>
      </c:dateAx>
      <c:valAx>
        <c:axId val="849393113"/>
        <c:scaling>
          <c:orientation val="minMax"/>
          <c:max val="0.7"/>
          <c:min val="0.5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542345207"/>
        <c:crosses val="autoZero"/>
        <c:crossBetween val="between"/>
      </c:valAx>
      <c:dateAx>
        <c:axId val="437935336"/>
        <c:scaling>
          <c:orientation val="minMax"/>
        </c:scaling>
        <c:delete val="1"/>
        <c:axPos val="b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775473796"/>
        <c:crosses val="autoZero"/>
        <c:auto val="1"/>
        <c:lblOffset val="100"/>
        <c:baseTimeUnit val="months"/>
      </c:dateAx>
      <c:valAx>
        <c:axId val="775473796"/>
        <c:scaling>
          <c:orientation val="minMax"/>
        </c:scaling>
        <c:delete val="0"/>
        <c:axPos val="r"/>
        <c:numFmt formatCode="0.0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437935336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华文楷体" panose="02010600040101010101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a92c0415-3352-4fbf-bf9a-6ed50b722108}"/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lang="zh-CN">
          <a:latin typeface="华文楷体" panose="02010600040101010101" charset="-122"/>
          <a:ea typeface="华文楷体" panose="02010600040101010101" charset="-122"/>
          <a:cs typeface="华文楷体" panose="02010600040101010101" charset="-122"/>
          <a:sym typeface="华文楷体" panose="02010600040101010101" charset="-122"/>
        </a:defRPr>
      </a:pPr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400" b="1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华文楷体" panose="02010600040101010101" charset="-122"/>
            </a:defRPr>
          </a:pPr>
        </a:p>
      </c:txPr>
    </c:title>
    <c:autoTitleDeleted val="0"/>
    <c:plotArea>
      <c:layout>
        <c:manualLayout>
          <c:layoutTarget val="inner"/>
          <c:xMode val="edge"/>
          <c:yMode val="edge"/>
          <c:x val="0.0814660654410915"/>
          <c:y val="0.157325860688551"/>
          <c:w val="0.893097467915366"/>
          <c:h val="0.660408326661329"/>
        </c:manualLayout>
      </c:layout>
      <c:lineChart>
        <c:grouping val="standard"/>
        <c:varyColors val="0"/>
        <c:ser>
          <c:idx val="0"/>
          <c:order val="0"/>
          <c:tx>
            <c:strRef>
              <c:f>[2601月报数据V2.xlsx]作图!$DF$24</c:f>
              <c:strCache>
                <c:ptCount val="1"/>
                <c:pt idx="0">
                  <c:v>曝光授信率*1000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  <a:sym typeface="华文楷体" panose="02010600040101010101" charset="-122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[2601月报数据V2.xlsx]作图!$DG$23:$DN$23</c:f>
              <c:numCache>
                <c:formatCode>mmm\-yy</c:formatCode>
                <c:ptCount val="8"/>
                <c:pt idx="0" c:formatCode="mmm\-yy">
                  <c:v>45809</c:v>
                </c:pt>
                <c:pt idx="1" c:formatCode="mmm\-yy">
                  <c:v>45839</c:v>
                </c:pt>
                <c:pt idx="2" c:formatCode="mmm\-yy">
                  <c:v>45870</c:v>
                </c:pt>
                <c:pt idx="3" c:formatCode="mmm\-yy">
                  <c:v>45901</c:v>
                </c:pt>
                <c:pt idx="4" c:formatCode="mmm\-yy">
                  <c:v>45931</c:v>
                </c:pt>
                <c:pt idx="5" c:formatCode="mmm\-yy">
                  <c:v>45962</c:v>
                </c:pt>
                <c:pt idx="6" c:formatCode="mmm\-yy">
                  <c:v>45992</c:v>
                </c:pt>
                <c:pt idx="7" c:formatCode="mmm\-yy">
                  <c:v>46023</c:v>
                </c:pt>
              </c:numCache>
            </c:numRef>
          </c:cat>
          <c:val>
            <c:numRef>
              <c:f>[2601月报数据V2.xlsx]作图!$DG$24:$DN$24</c:f>
              <c:numCache>
                <c:formatCode>0.00%</c:formatCode>
                <c:ptCount val="8"/>
                <c:pt idx="0">
                  <c:v>0.0250425387988567</c:v>
                </c:pt>
                <c:pt idx="1">
                  <c:v>0.0240133584945813</c:v>
                </c:pt>
                <c:pt idx="2">
                  <c:v>0.0206676080329052</c:v>
                </c:pt>
                <c:pt idx="3">
                  <c:v>0.0245762731349254</c:v>
                </c:pt>
                <c:pt idx="4">
                  <c:v>0.0273433553470554</c:v>
                </c:pt>
                <c:pt idx="5">
                  <c:v>0.0250783412608194</c:v>
                </c:pt>
                <c:pt idx="6">
                  <c:v>0.0283880329336821</c:v>
                </c:pt>
                <c:pt idx="7">
                  <c:v>0.0249522622740486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0"/>
        <c:smooth val="0"/>
        <c:axId val="542345207"/>
        <c:axId val="849393113"/>
      </c:lineChart>
      <c:dateAx>
        <c:axId val="542345207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849393113"/>
        <c:crosses val="autoZero"/>
        <c:auto val="1"/>
        <c:lblOffset val="100"/>
        <c:baseTimeUnit val="months"/>
      </c:dateAx>
      <c:valAx>
        <c:axId val="849393113"/>
        <c:scaling>
          <c:orientation val="minMax"/>
          <c:max val="0.035"/>
          <c:min val="0.01"/>
        </c:scaling>
        <c:delete val="0"/>
        <c:axPos val="l"/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54234520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华文楷体" panose="02010600040101010101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a92c0415-3352-4fbf-bf9a-6ed50b722108}"/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lang="zh-CN">
          <a:latin typeface="华文楷体" panose="02010600040101010101" charset="-122"/>
          <a:ea typeface="华文楷体" panose="02010600040101010101" charset="-122"/>
          <a:cs typeface="华文楷体" panose="02010600040101010101" charset="-122"/>
          <a:sym typeface="华文楷体" panose="02010600040101010101" charset="-122"/>
        </a:defRPr>
      </a:pPr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6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+mn-cs"/>
              </a:defRPr>
            </a:pPr>
            <a:r>
              <a:rPr lang="zh-CN" altLang="en-US" sz="1600" b="1"/>
              <a:t>精准核心指标</a:t>
            </a:r>
            <a:endParaRPr lang="zh-CN" sz="1600" b="1"/>
          </a:p>
        </c:rich>
      </c:tx>
      <c:layout>
        <c:manualLayout>
          <c:xMode val="edge"/>
          <c:yMode val="edge"/>
          <c:x val="0.440435012018526"/>
          <c:y val="0.0224368962293549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28680307205253"/>
          <c:y val="0.203965236284628"/>
          <c:w val="0.932496922084775"/>
          <c:h val="0.6528788701792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[2601月报数据V1.xlsx]作图!$B$77</c:f>
              <c:strCache>
                <c:ptCount val="1"/>
                <c:pt idx="0">
                  <c:v>日耗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charset="-122"/>
                    <a:ea typeface="华文楷体" panose="02010600040101010101" charset="-122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[2601月报数据V1.xlsx]作图!$C$41:$N$41</c:f>
              <c:numCache>
                <c:formatCode>mmm\-yy</c:formatCode>
                <c:ptCount val="8"/>
                <c:pt idx="0" c:formatCode="mmm\-yy">
                  <c:v>45809</c:v>
                </c:pt>
                <c:pt idx="1" c:formatCode="mmm\-yy">
                  <c:v>45839</c:v>
                </c:pt>
                <c:pt idx="2" c:formatCode="mmm\-yy">
                  <c:v>45870</c:v>
                </c:pt>
                <c:pt idx="3" c:formatCode="mmm\-yy">
                  <c:v>45901</c:v>
                </c:pt>
                <c:pt idx="4" c:formatCode="mmm\-yy">
                  <c:v>45931</c:v>
                </c:pt>
                <c:pt idx="5" c:formatCode="mmm\-yy">
                  <c:v>45962</c:v>
                </c:pt>
                <c:pt idx="6" c:formatCode="mmm\-yy">
                  <c:v>45992</c:v>
                </c:pt>
                <c:pt idx="7" c:formatCode="mmm\-yy">
                  <c:v>46023</c:v>
                </c:pt>
              </c:numCache>
            </c:numRef>
          </c:cat>
          <c:val>
            <c:numRef>
              <c:f>[2601月报数据V1.xlsx]作图!$C$77:$N$77</c:f>
              <c:numCache>
                <c:formatCode>#,##0</c:formatCode>
                <c:ptCount val="8"/>
                <c:pt idx="0">
                  <c:v>40.9636666666667</c:v>
                </c:pt>
                <c:pt idx="1">
                  <c:v>25.5620967741935</c:v>
                </c:pt>
                <c:pt idx="2">
                  <c:v>43.9493548387097</c:v>
                </c:pt>
                <c:pt idx="3">
                  <c:v>56.3371666666667</c:v>
                </c:pt>
                <c:pt idx="4">
                  <c:v>47.3817741935484</c:v>
                </c:pt>
                <c:pt idx="5">
                  <c:v>39.484</c:v>
                </c:pt>
                <c:pt idx="6">
                  <c:v>28.6117741935484</c:v>
                </c:pt>
                <c:pt idx="7">
                  <c:v>31.1292592592593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20529167"/>
        <c:axId val="120551727"/>
      </c:barChart>
      <c:lineChart>
        <c:grouping val="standard"/>
        <c:varyColors val="0"/>
        <c:ser>
          <c:idx val="2"/>
          <c:order val="1"/>
          <c:tx>
            <c:strRef>
              <c:f>[2601月报数据V1.xlsx]作图!$B$79</c:f>
              <c:strCache>
                <c:ptCount val="1"/>
                <c:pt idx="0">
                  <c:v>T0CPS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charset="-122"/>
                    <a:ea typeface="华文楷体" panose="02010600040101010101" charset="-122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[2601月报数据V1.xlsx]作图!$C$41:$N$41</c:f>
              <c:numCache>
                <c:formatCode>mmm\-yy</c:formatCode>
                <c:ptCount val="8"/>
                <c:pt idx="0" c:formatCode="mmm\-yy">
                  <c:v>45809</c:v>
                </c:pt>
                <c:pt idx="1" c:formatCode="mmm\-yy">
                  <c:v>45839</c:v>
                </c:pt>
                <c:pt idx="2" c:formatCode="mmm\-yy">
                  <c:v>45870</c:v>
                </c:pt>
                <c:pt idx="3" c:formatCode="mmm\-yy">
                  <c:v>45901</c:v>
                </c:pt>
                <c:pt idx="4" c:formatCode="mmm\-yy">
                  <c:v>45931</c:v>
                </c:pt>
                <c:pt idx="5" c:formatCode="mmm\-yy">
                  <c:v>45962</c:v>
                </c:pt>
                <c:pt idx="6" c:formatCode="mmm\-yy">
                  <c:v>45992</c:v>
                </c:pt>
                <c:pt idx="7" c:formatCode="mmm\-yy">
                  <c:v>46023</c:v>
                </c:pt>
              </c:numCache>
            </c:numRef>
          </c:cat>
          <c:val>
            <c:numRef>
              <c:f>[2601月报数据V1.xlsx]作图!$C$79:$N$79</c:f>
              <c:numCache>
                <c:formatCode>0%</c:formatCode>
                <c:ptCount val="8"/>
                <c:pt idx="0">
                  <c:v>0.15127497273866</c:v>
                </c:pt>
                <c:pt idx="1">
                  <c:v>0.171229676165933</c:v>
                </c:pt>
                <c:pt idx="2">
                  <c:v>0.169979842785831</c:v>
                </c:pt>
                <c:pt idx="3">
                  <c:v>0.165599001378591</c:v>
                </c:pt>
                <c:pt idx="4">
                  <c:v>0.189990919768001</c:v>
                </c:pt>
                <c:pt idx="5">
                  <c:v>0.194478831800405</c:v>
                </c:pt>
                <c:pt idx="6">
                  <c:v>0.191388473514199</c:v>
                </c:pt>
                <c:pt idx="7">
                  <c:v>0.191469012120959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0"/>
        <c:smooth val="0"/>
        <c:axId val="120557007"/>
        <c:axId val="120544527"/>
      </c:lineChart>
      <c:dateAx>
        <c:axId val="120529167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+mn-cs"/>
              </a:defRPr>
            </a:pPr>
          </a:p>
        </c:txPr>
        <c:crossAx val="120551727"/>
        <c:crosses val="autoZero"/>
        <c:auto val="1"/>
        <c:lblOffset val="100"/>
        <c:baseTimeUnit val="months"/>
      </c:dateAx>
      <c:valAx>
        <c:axId val="120551727"/>
        <c:scaling>
          <c:orientation val="minMax"/>
        </c:scaling>
        <c:delete val="0"/>
        <c:axPos val="l"/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+mn-cs"/>
              </a:defRPr>
            </a:pPr>
          </a:p>
        </c:txPr>
        <c:crossAx val="120529167"/>
        <c:crosses val="autoZero"/>
        <c:crossBetween val="between"/>
      </c:valAx>
      <c:dateAx>
        <c:axId val="120557007"/>
        <c:scaling>
          <c:orientation val="minMax"/>
        </c:scaling>
        <c:delete val="1"/>
        <c:axPos val="b"/>
        <c:numFmt formatCode="mmm\-yy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+mn-cs"/>
              </a:defRPr>
            </a:pPr>
          </a:p>
        </c:txPr>
        <c:crossAx val="120544527"/>
        <c:crosses val="autoZero"/>
        <c:auto val="1"/>
        <c:lblOffset val="100"/>
        <c:baseTimeUnit val="months"/>
      </c:dateAx>
      <c:valAx>
        <c:axId val="120544527"/>
        <c:scaling>
          <c:orientation val="minMax"/>
        </c:scaling>
        <c:delete val="0"/>
        <c:axPos val="r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+mn-cs"/>
              </a:defRPr>
            </a:pPr>
          </a:p>
        </c:txPr>
        <c:crossAx val="120557007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ab237ed3-2754-422f-aac0-cf22d443be04}"/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lang="zh-CN">
          <a:latin typeface="华文楷体" panose="02010600040101010101" charset="-122"/>
          <a:ea typeface="华文楷体" panose="02010600040101010101" charset="-122"/>
        </a:defRPr>
      </a:pPr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+mn-cs"/>
              </a:defRPr>
            </a:pPr>
            <a:r>
              <a:rPr lang="zh-CN" altLang="en-US" sz="1600"/>
              <a:t>精准质量表现</a:t>
            </a:r>
            <a:endParaRPr lang="zh-CN" sz="1600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2"/>
          <c:order val="2"/>
          <c:tx>
            <c:strRef>
              <c:f>[2601月报数据V4.xlsx]作图!$Z$79</c:f>
              <c:strCache>
                <c:ptCount val="1"/>
                <c:pt idx="0">
                  <c:v>1-7额度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charset="-122"/>
                    <a:ea typeface="华文楷体" panose="02010600040101010101" charset="-122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[2601月报数据V4.xlsx]作图!$AA$76:$AL$76</c:f>
              <c:numCache>
                <c:formatCode>mmm\-yy</c:formatCode>
                <c:ptCount val="8"/>
                <c:pt idx="0" c:formatCode="mmm\-yy">
                  <c:v>45809</c:v>
                </c:pt>
                <c:pt idx="1" c:formatCode="mmm\-yy">
                  <c:v>45839</c:v>
                </c:pt>
                <c:pt idx="2" c:formatCode="mmm\-yy">
                  <c:v>45870</c:v>
                </c:pt>
                <c:pt idx="3" c:formatCode="mmm\-yy">
                  <c:v>45901</c:v>
                </c:pt>
                <c:pt idx="4" c:formatCode="mmm\-yy">
                  <c:v>45931</c:v>
                </c:pt>
                <c:pt idx="5" c:formatCode="mmm\-yy">
                  <c:v>45962</c:v>
                </c:pt>
                <c:pt idx="6" c:formatCode="mmm\-yy">
                  <c:v>45992</c:v>
                </c:pt>
                <c:pt idx="7" c:formatCode="mmm\-yy">
                  <c:v>46023</c:v>
                </c:pt>
              </c:numCache>
            </c:numRef>
          </c:cat>
          <c:val>
            <c:numRef>
              <c:f>[2601月报数据V4.xlsx]作图!$AA$79:$AL$79</c:f>
              <c:numCache>
                <c:formatCode>#,##0</c:formatCode>
                <c:ptCount val="8"/>
                <c:pt idx="0">
                  <c:v>19749.980474732</c:v>
                </c:pt>
                <c:pt idx="1">
                  <c:v>20349.3915205444</c:v>
                </c:pt>
                <c:pt idx="2">
                  <c:v>21078.8858651503</c:v>
                </c:pt>
                <c:pt idx="3">
                  <c:v>21862.9925017042</c:v>
                </c:pt>
                <c:pt idx="4">
                  <c:v>22421.3352227996</c:v>
                </c:pt>
                <c:pt idx="5">
                  <c:v>18370.2676319857</c:v>
                </c:pt>
                <c:pt idx="6">
                  <c:v>18681.203161893</c:v>
                </c:pt>
                <c:pt idx="7">
                  <c:v>20078.4370310516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803524719"/>
        <c:axId val="803503119"/>
      </c:barChart>
      <c:lineChart>
        <c:grouping val="standard"/>
        <c:varyColors val="0"/>
        <c:ser>
          <c:idx val="0"/>
          <c:order val="0"/>
          <c:tx>
            <c:strRef>
              <c:f>[2601月报数据V4.xlsx]作图!$Z$77</c:f>
              <c:strCache>
                <c:ptCount val="1"/>
                <c:pt idx="0">
                  <c:v>过件率1-3_排年龄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charset="-122"/>
                    <a:ea typeface="华文楷体" panose="02010600040101010101" charset="-122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[2601月报数据V4.xlsx]作图!$AA$76:$AL$76</c:f>
              <c:numCache>
                <c:formatCode>mmm\-yy</c:formatCode>
                <c:ptCount val="8"/>
                <c:pt idx="0" c:formatCode="mmm\-yy">
                  <c:v>45809</c:v>
                </c:pt>
                <c:pt idx="1" c:formatCode="mmm\-yy">
                  <c:v>45839</c:v>
                </c:pt>
                <c:pt idx="2" c:formatCode="mmm\-yy">
                  <c:v>45870</c:v>
                </c:pt>
                <c:pt idx="3" c:formatCode="mmm\-yy">
                  <c:v>45901</c:v>
                </c:pt>
                <c:pt idx="4" c:formatCode="mmm\-yy">
                  <c:v>45931</c:v>
                </c:pt>
                <c:pt idx="5" c:formatCode="mmm\-yy">
                  <c:v>45962</c:v>
                </c:pt>
                <c:pt idx="6" c:formatCode="mmm\-yy">
                  <c:v>45992</c:v>
                </c:pt>
                <c:pt idx="7" c:formatCode="mmm\-yy">
                  <c:v>46023</c:v>
                </c:pt>
              </c:numCache>
            </c:numRef>
          </c:cat>
          <c:val>
            <c:numRef>
              <c:f>[2601月报数据V4.xlsx]作图!$AA$77:$AL$77</c:f>
              <c:numCache>
                <c:formatCode>0%</c:formatCode>
                <c:ptCount val="8"/>
                <c:pt idx="0">
                  <c:v>0.0778584336426843</c:v>
                </c:pt>
                <c:pt idx="1">
                  <c:v>0.0860203180212014</c:v>
                </c:pt>
                <c:pt idx="2">
                  <c:v>0.0903370786516854</c:v>
                </c:pt>
                <c:pt idx="3">
                  <c:v>0.0918119620392849</c:v>
                </c:pt>
                <c:pt idx="4">
                  <c:v>0.0880579376382534</c:v>
                </c:pt>
                <c:pt idx="5">
                  <c:v>0.0913149215444581</c:v>
                </c:pt>
                <c:pt idx="6">
                  <c:v>0.104712759156087</c:v>
                </c:pt>
                <c:pt idx="7">
                  <c:v>0.155898081157597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[2601月报数据V4.xlsx]作图!$Z$78</c:f>
              <c:strCache>
                <c:ptCount val="1"/>
                <c:pt idx="0">
                  <c:v>过件率1-7_排年龄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charset="-122"/>
                    <a:ea typeface="华文楷体" panose="02010600040101010101" charset="-122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[2601月报数据V4.xlsx]作图!$AA$76:$AL$76</c:f>
              <c:numCache>
                <c:formatCode>mmm\-yy</c:formatCode>
                <c:ptCount val="8"/>
                <c:pt idx="0" c:formatCode="mmm\-yy">
                  <c:v>45809</c:v>
                </c:pt>
                <c:pt idx="1" c:formatCode="mmm\-yy">
                  <c:v>45839</c:v>
                </c:pt>
                <c:pt idx="2" c:formatCode="mmm\-yy">
                  <c:v>45870</c:v>
                </c:pt>
                <c:pt idx="3" c:formatCode="mmm\-yy">
                  <c:v>45901</c:v>
                </c:pt>
                <c:pt idx="4" c:formatCode="mmm\-yy">
                  <c:v>45931</c:v>
                </c:pt>
                <c:pt idx="5" c:formatCode="mmm\-yy">
                  <c:v>45962</c:v>
                </c:pt>
                <c:pt idx="6" c:formatCode="mmm\-yy">
                  <c:v>45992</c:v>
                </c:pt>
                <c:pt idx="7" c:formatCode="mmm\-yy">
                  <c:v>46023</c:v>
                </c:pt>
              </c:numCache>
            </c:numRef>
          </c:cat>
          <c:val>
            <c:numRef>
              <c:f>[2601月报数据V4.xlsx]作图!$AA$78:$AL$78</c:f>
              <c:numCache>
                <c:formatCode>0%</c:formatCode>
                <c:ptCount val="8"/>
                <c:pt idx="0">
                  <c:v>0.400012251523783</c:v>
                </c:pt>
                <c:pt idx="1">
                  <c:v>0.421930212014134</c:v>
                </c:pt>
                <c:pt idx="2">
                  <c:v>0.425583405358686</c:v>
                </c:pt>
                <c:pt idx="3">
                  <c:v>0.404711984109468</c:v>
                </c:pt>
                <c:pt idx="4">
                  <c:v>0.384897427350686</c:v>
                </c:pt>
                <c:pt idx="5">
                  <c:v>0.409534597061665</c:v>
                </c:pt>
                <c:pt idx="6">
                  <c:v>0.444835144762079</c:v>
                </c:pt>
                <c:pt idx="7">
                  <c:v>0.545014155394778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0"/>
        <c:smooth val="0"/>
        <c:axId val="803494959"/>
        <c:axId val="803520399"/>
      </c:lineChart>
      <c:dateAx>
        <c:axId val="803494959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+mn-cs"/>
              </a:defRPr>
            </a:pPr>
          </a:p>
        </c:txPr>
        <c:crossAx val="803520399"/>
        <c:crosses val="autoZero"/>
        <c:auto val="1"/>
        <c:lblOffset val="100"/>
        <c:baseTimeUnit val="months"/>
      </c:dateAx>
      <c:valAx>
        <c:axId val="803520399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+mn-cs"/>
              </a:defRPr>
            </a:pPr>
          </a:p>
        </c:txPr>
        <c:crossAx val="803494959"/>
        <c:crosses val="autoZero"/>
        <c:crossBetween val="between"/>
      </c:valAx>
      <c:dateAx>
        <c:axId val="803524719"/>
        <c:scaling>
          <c:orientation val="minMax"/>
        </c:scaling>
        <c:delete val="1"/>
        <c:axPos val="b"/>
        <c:numFmt formatCode="mmm\-yy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+mn-cs"/>
              </a:defRPr>
            </a:pPr>
          </a:p>
        </c:txPr>
        <c:crossAx val="803503119"/>
        <c:crosses val="autoZero"/>
        <c:auto val="1"/>
        <c:lblOffset val="100"/>
        <c:baseTimeUnit val="months"/>
      </c:dateAx>
      <c:valAx>
        <c:axId val="803503119"/>
        <c:scaling>
          <c:orientation val="minMax"/>
        </c:scaling>
        <c:delete val="0"/>
        <c:axPos val="r"/>
        <c:numFmt formatCode="#,##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+mn-cs"/>
              </a:defRPr>
            </a:pPr>
          </a:p>
        </c:txPr>
        <c:crossAx val="803524719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a7135efc-0ce5-4050-b940-0acd22388a95}"/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lang="zh-CN">
          <a:latin typeface="华文楷体" panose="02010600040101010101" charset="-122"/>
          <a:ea typeface="华文楷体" panose="02010600040101010101" charset="-122"/>
        </a:defRPr>
      </a:pPr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+mn-cs"/>
              </a:defRPr>
            </a:pPr>
            <a:r>
              <a:rPr lang="zh-CN" altLang="en-US" sz="1600"/>
              <a:t>精准撞库结果</a:t>
            </a:r>
            <a:endParaRPr lang="zh-CN" sz="1600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[2601月报数据V2.xlsx]作图!$AW$77</c:f>
              <c:strCache>
                <c:ptCount val="1"/>
                <c:pt idx="0">
                  <c:v>撞库量（亿）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charset="-122"/>
                    <a:ea typeface="华文楷体" panose="02010600040101010101" charset="-122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[2601月报数据V2.xlsx]作图!$AX$76:$BE$76</c:f>
              <c:numCache>
                <c:formatCode>mmm\-yy</c:formatCode>
                <c:ptCount val="8"/>
                <c:pt idx="0" c:formatCode="mmm\-yy">
                  <c:v>45809</c:v>
                </c:pt>
                <c:pt idx="1" c:formatCode="mmm\-yy">
                  <c:v>45839</c:v>
                </c:pt>
                <c:pt idx="2" c:formatCode="mmm\-yy">
                  <c:v>45870</c:v>
                </c:pt>
                <c:pt idx="3" c:formatCode="mmm\-yy">
                  <c:v>45901</c:v>
                </c:pt>
                <c:pt idx="4" c:formatCode="mmm\-yy">
                  <c:v>45931</c:v>
                </c:pt>
                <c:pt idx="5" c:formatCode="mmm\-yy">
                  <c:v>45962</c:v>
                </c:pt>
                <c:pt idx="6" c:formatCode="mmm\-yy">
                  <c:v>45992</c:v>
                </c:pt>
                <c:pt idx="7" c:formatCode="mmm\-yy">
                  <c:v>46023</c:v>
                </c:pt>
              </c:numCache>
            </c:numRef>
          </c:cat>
          <c:val>
            <c:numRef>
              <c:f>[2601月报数据V2.xlsx]作图!$AX$77:$BE$77</c:f>
              <c:numCache>
                <c:formatCode>#,##0.0</c:formatCode>
                <c:ptCount val="8"/>
                <c:pt idx="0">
                  <c:v>5.84563189433333</c:v>
                </c:pt>
                <c:pt idx="1">
                  <c:v>8.96294483064516</c:v>
                </c:pt>
                <c:pt idx="2">
                  <c:v>9.13700223225806</c:v>
                </c:pt>
                <c:pt idx="3">
                  <c:v>10.658659228</c:v>
                </c:pt>
                <c:pt idx="4">
                  <c:v>10.3873483206452</c:v>
                </c:pt>
                <c:pt idx="5">
                  <c:v>10.6624496733333</c:v>
                </c:pt>
                <c:pt idx="6">
                  <c:v>10.1934771712903</c:v>
                </c:pt>
                <c:pt idx="7">
                  <c:v>10.4046612674074</c:v>
                </c:pt>
              </c:numCache>
            </c:numRef>
          </c:val>
        </c:ser>
        <c:ser>
          <c:idx val="1"/>
          <c:order val="1"/>
          <c:tx>
            <c:strRef>
              <c:f>[2601月报数据V2.xlsx]作图!$AW$78</c:f>
              <c:strCache>
                <c:ptCount val="1"/>
                <c:pt idx="0">
                  <c:v>可营销量（亿）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charset="-122"/>
                    <a:ea typeface="华文楷体" panose="02010600040101010101" charset="-122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[2601月报数据V2.xlsx]作图!$AX$76:$BE$76</c:f>
              <c:numCache>
                <c:formatCode>mmm\-yy</c:formatCode>
                <c:ptCount val="8"/>
                <c:pt idx="0" c:formatCode="mmm\-yy">
                  <c:v>45809</c:v>
                </c:pt>
                <c:pt idx="1" c:formatCode="mmm\-yy">
                  <c:v>45839</c:v>
                </c:pt>
                <c:pt idx="2" c:formatCode="mmm\-yy">
                  <c:v>45870</c:v>
                </c:pt>
                <c:pt idx="3" c:formatCode="mmm\-yy">
                  <c:v>45901</c:v>
                </c:pt>
                <c:pt idx="4" c:formatCode="mmm\-yy">
                  <c:v>45931</c:v>
                </c:pt>
                <c:pt idx="5" c:formatCode="mmm\-yy">
                  <c:v>45962</c:v>
                </c:pt>
                <c:pt idx="6" c:formatCode="mmm\-yy">
                  <c:v>45992</c:v>
                </c:pt>
                <c:pt idx="7" c:formatCode="mmm\-yy">
                  <c:v>46023</c:v>
                </c:pt>
              </c:numCache>
            </c:numRef>
          </c:cat>
          <c:val>
            <c:numRef>
              <c:f>[2601月报数据V2.xlsx]作图!$AX$78:$BE$78</c:f>
              <c:numCache>
                <c:formatCode>#,##0.0</c:formatCode>
                <c:ptCount val="8"/>
                <c:pt idx="0">
                  <c:v>1.81304970633333</c:v>
                </c:pt>
                <c:pt idx="1">
                  <c:v>3.51351600419355</c:v>
                </c:pt>
                <c:pt idx="2">
                  <c:v>3.68257817419355</c:v>
                </c:pt>
                <c:pt idx="3">
                  <c:v>4.050579907</c:v>
                </c:pt>
                <c:pt idx="4">
                  <c:v>3.53339365903226</c:v>
                </c:pt>
                <c:pt idx="5">
                  <c:v>3.14579804866667</c:v>
                </c:pt>
                <c:pt idx="6">
                  <c:v>2.01223901096774</c:v>
                </c:pt>
                <c:pt idx="7">
                  <c:v>1.53756591851852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807350783"/>
        <c:axId val="807353663"/>
      </c:barChart>
      <c:lineChart>
        <c:grouping val="standard"/>
        <c:varyColors val="0"/>
        <c:ser>
          <c:idx val="2"/>
          <c:order val="2"/>
          <c:tx>
            <c:strRef>
              <c:f>[2601月报数据V2.xlsx]作图!$AW$79</c:f>
              <c:strCache>
                <c:ptCount val="1"/>
                <c:pt idx="0">
                  <c:v>可营销率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charset="-122"/>
                    <a:ea typeface="华文楷体" panose="02010600040101010101" charset="-122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[2601月报数据V2.xlsx]作图!$AX$76:$BE$76</c:f>
              <c:numCache>
                <c:formatCode>mmm\-yy</c:formatCode>
                <c:ptCount val="8"/>
                <c:pt idx="0" c:formatCode="mmm\-yy">
                  <c:v>45809</c:v>
                </c:pt>
                <c:pt idx="1" c:formatCode="mmm\-yy">
                  <c:v>45839</c:v>
                </c:pt>
                <c:pt idx="2" c:formatCode="mmm\-yy">
                  <c:v>45870</c:v>
                </c:pt>
                <c:pt idx="3" c:formatCode="mmm\-yy">
                  <c:v>45901</c:v>
                </c:pt>
                <c:pt idx="4" c:formatCode="mmm\-yy">
                  <c:v>45931</c:v>
                </c:pt>
                <c:pt idx="5" c:formatCode="mmm\-yy">
                  <c:v>45962</c:v>
                </c:pt>
                <c:pt idx="6" c:formatCode="mmm\-yy">
                  <c:v>45992</c:v>
                </c:pt>
                <c:pt idx="7" c:formatCode="mmm\-yy">
                  <c:v>46023</c:v>
                </c:pt>
              </c:numCache>
            </c:numRef>
          </c:cat>
          <c:val>
            <c:numRef>
              <c:f>[2601月报数据V2.xlsx]作图!$AX$79:$BE$79</c:f>
              <c:numCache>
                <c:formatCode>0%</c:formatCode>
                <c:ptCount val="8"/>
                <c:pt idx="0">
                  <c:v>0.310154614437983</c:v>
                </c:pt>
                <c:pt idx="1">
                  <c:v>0.392004644743601</c:v>
                </c:pt>
                <c:pt idx="2">
                  <c:v>0.403040086954587</c:v>
                </c:pt>
                <c:pt idx="3">
                  <c:v>0.380027151666435</c:v>
                </c:pt>
                <c:pt idx="4">
                  <c:v>0.340163201421631</c:v>
                </c:pt>
                <c:pt idx="5">
                  <c:v>0.295035207203301</c:v>
                </c:pt>
                <c:pt idx="6">
                  <c:v>0.197404573253488</c:v>
                </c:pt>
                <c:pt idx="7">
                  <c:v>0.147776643467956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0"/>
        <c:smooth val="0"/>
        <c:axId val="115209359"/>
        <c:axId val="115208879"/>
      </c:lineChart>
      <c:dateAx>
        <c:axId val="807350783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+mn-cs"/>
              </a:defRPr>
            </a:pPr>
          </a:p>
        </c:txPr>
        <c:crossAx val="807353663"/>
        <c:crosses val="autoZero"/>
        <c:auto val="1"/>
        <c:lblOffset val="100"/>
        <c:baseTimeUnit val="months"/>
      </c:dateAx>
      <c:valAx>
        <c:axId val="807353663"/>
        <c:scaling>
          <c:orientation val="minMax"/>
        </c:scaling>
        <c:delete val="0"/>
        <c:axPos val="l"/>
        <c:numFmt formatCode="#,##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+mn-cs"/>
              </a:defRPr>
            </a:pPr>
          </a:p>
        </c:txPr>
        <c:crossAx val="807350783"/>
        <c:crosses val="autoZero"/>
        <c:crossBetween val="between"/>
      </c:valAx>
      <c:dateAx>
        <c:axId val="115209359"/>
        <c:scaling>
          <c:orientation val="minMax"/>
        </c:scaling>
        <c:delete val="1"/>
        <c:axPos val="b"/>
        <c:numFmt formatCode="mmm\-yy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+mn-cs"/>
              </a:defRPr>
            </a:pPr>
          </a:p>
        </c:txPr>
        <c:crossAx val="115208879"/>
        <c:crosses val="autoZero"/>
        <c:auto val="1"/>
        <c:lblOffset val="100"/>
        <c:baseTimeUnit val="months"/>
      </c:dateAx>
      <c:valAx>
        <c:axId val="115208879"/>
        <c:scaling>
          <c:orientation val="minMax"/>
        </c:scaling>
        <c:delete val="0"/>
        <c:axPos val="r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+mn-cs"/>
              </a:defRPr>
            </a:pPr>
          </a:p>
        </c:txPr>
        <c:crossAx val="115209359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24a51320-1d50-4805-91e7-bce07515e30a}"/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lang="zh-CN">
          <a:latin typeface="华文楷体" panose="02010600040101010101" charset="-122"/>
          <a:ea typeface="华文楷体" panose="02010600040101010101" charset="-122"/>
        </a:defRPr>
      </a:pPr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400" b="1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华文楷体" panose="02010600040101010101" charset="-122"/>
            </a:defRPr>
          </a:pPr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[2601月报数据V5.xlsx]精准撞库!$G$22</c:f>
              <c:strCache>
                <c:ptCount val="1"/>
                <c:pt idx="0">
                  <c:v>可营销-授信率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  <a:sym typeface="华文楷体" panose="02010600040101010101" charset="-122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[2601月报数据V5.xlsx]精准撞库!$H$21:$O$21</c:f>
              <c:numCache>
                <c:formatCode>General</c:formatCode>
                <c:ptCount val="8"/>
                <c:pt idx="1" c:formatCode="mmm\-yy">
                  <c:v>45839</c:v>
                </c:pt>
                <c:pt idx="2" c:formatCode="mmm\-yy">
                  <c:v>45870</c:v>
                </c:pt>
                <c:pt idx="3" c:formatCode="mmm\-yy">
                  <c:v>45901</c:v>
                </c:pt>
                <c:pt idx="4" c:formatCode="mmm\-yy">
                  <c:v>45931</c:v>
                </c:pt>
                <c:pt idx="5" c:formatCode="mmm\-yy">
                  <c:v>45962</c:v>
                </c:pt>
                <c:pt idx="6" c:formatCode="mmm\-yy">
                  <c:v>45992</c:v>
                </c:pt>
                <c:pt idx="7" c:formatCode="mmm\-yy">
                  <c:v>46023</c:v>
                </c:pt>
              </c:numCache>
            </c:numRef>
          </c:cat>
          <c:val>
            <c:numRef>
              <c:f>[2601月报数据V5.xlsx]精准撞库!$H$22:$O$22</c:f>
              <c:numCache>
                <c:formatCode>General</c:formatCode>
                <c:ptCount val="8"/>
                <c:pt idx="1" c:formatCode="0.00%">
                  <c:v>0.000701622331413972</c:v>
                </c:pt>
                <c:pt idx="2" c:formatCode="0.00%">
                  <c:v>0.0010783118657909</c:v>
                </c:pt>
                <c:pt idx="3" c:formatCode="0.00%">
                  <c:v>0.00120723454721862</c:v>
                </c:pt>
                <c:pt idx="4" c:formatCode="0.00%">
                  <c:v>0.00115962718854285</c:v>
                </c:pt>
                <c:pt idx="5" c:formatCode="0.00%">
                  <c:v>0.0013025841466217</c:v>
                </c:pt>
                <c:pt idx="6" c:formatCode="0.00%">
                  <c:v>0.00156157297785661</c:v>
                </c:pt>
                <c:pt idx="7" c:formatCode="0.00%">
                  <c:v>0.0021539576365239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0"/>
        <c:smooth val="0"/>
        <c:axId val="779270442"/>
        <c:axId val="735039430"/>
      </c:lineChart>
      <c:dateAx>
        <c:axId val="779270442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735039430"/>
        <c:crosses val="autoZero"/>
        <c:auto val="1"/>
        <c:lblOffset val="100"/>
        <c:baseTimeUnit val="months"/>
      </c:dateAx>
      <c:valAx>
        <c:axId val="73503943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77927044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华文楷体" panose="02010600040101010101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92f91c19-c85b-4c45-addb-18cdf410bec4}"/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lang="zh-CN">
          <a:latin typeface="华文楷体" panose="02010600040101010101" charset="-122"/>
          <a:ea typeface="华文楷体" panose="02010600040101010101" charset="-122"/>
          <a:cs typeface="华文楷体" panose="02010600040101010101" charset="-122"/>
          <a:sym typeface="华文楷体" panose="02010600040101010101" charset="-122"/>
        </a:defRPr>
      </a:pPr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  <a:r>
              <a:rPr lang="en-US" altLang="zh-CN"/>
              <a:t>分环节转化</a:t>
            </a:r>
            <a:endParaRPr lang="en-US" altLang="zh-CN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[2601月报数据V5.xlsx]精准撞库!$H$16</c:f>
              <c:strCache>
                <c:ptCount val="1"/>
                <c:pt idx="0">
                  <c:v>可营销-首登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  <a:sym typeface="华文楷体" panose="02010600040101010101" charset="-122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[2601月报数据V5.xlsx]精准撞库!$I$15:$O$15</c:f>
              <c:numCache>
                <c:formatCode>mmm\-yy</c:formatCode>
                <c:ptCount val="7"/>
                <c:pt idx="0" c:formatCode="mmm\-yy">
                  <c:v>45839</c:v>
                </c:pt>
                <c:pt idx="1" c:formatCode="mmm\-yy">
                  <c:v>45870</c:v>
                </c:pt>
                <c:pt idx="2" c:formatCode="mmm\-yy">
                  <c:v>45901</c:v>
                </c:pt>
                <c:pt idx="3" c:formatCode="mmm\-yy">
                  <c:v>45931</c:v>
                </c:pt>
                <c:pt idx="4" c:formatCode="mmm\-yy">
                  <c:v>45962</c:v>
                </c:pt>
                <c:pt idx="5" c:formatCode="mmm\-yy">
                  <c:v>45992</c:v>
                </c:pt>
                <c:pt idx="6" c:formatCode="mmm\-yy">
                  <c:v>46023</c:v>
                </c:pt>
              </c:numCache>
            </c:numRef>
          </c:cat>
          <c:val>
            <c:numRef>
              <c:f>[2601月报数据V5.xlsx]精准撞库!$I$16:$O$16</c:f>
              <c:numCache>
                <c:formatCode>0.00%</c:formatCode>
                <c:ptCount val="7"/>
                <c:pt idx="0">
                  <c:v>0.0058844648112164</c:v>
                </c:pt>
                <c:pt idx="1">
                  <c:v>0.00840899302845888</c:v>
                </c:pt>
                <c:pt idx="2">
                  <c:v>0.00914288838889458</c:v>
                </c:pt>
                <c:pt idx="3">
                  <c:v>0.00870523786089799</c:v>
                </c:pt>
                <c:pt idx="4">
                  <c:v>0.00890002035525878</c:v>
                </c:pt>
                <c:pt idx="5">
                  <c:v>0.00994895601876182</c:v>
                </c:pt>
                <c:pt idx="6">
                  <c:v>0.0110773931817071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0"/>
        <c:smooth val="0"/>
        <c:axId val="542345207"/>
        <c:axId val="849393113"/>
      </c:lineChart>
      <c:lineChart>
        <c:grouping val="standard"/>
        <c:varyColors val="0"/>
        <c:ser>
          <c:idx val="1"/>
          <c:order val="1"/>
          <c:tx>
            <c:strRef>
              <c:f>[2601月报数据V5.xlsx]精准撞库!$H$17</c:f>
              <c:strCache>
                <c:ptCount val="1"/>
                <c:pt idx="0">
                  <c:v>首登-授信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  <a:sym typeface="华文楷体" panose="02010600040101010101" charset="-122"/>
                  </a:defRPr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[2601月报数据V5.xlsx]精准撞库!$I$15:$O$15</c:f>
              <c:numCache>
                <c:formatCode>mmm\-yy</c:formatCode>
                <c:ptCount val="7"/>
                <c:pt idx="0" c:formatCode="mmm\-yy">
                  <c:v>45839</c:v>
                </c:pt>
                <c:pt idx="1" c:formatCode="mmm\-yy">
                  <c:v>45870</c:v>
                </c:pt>
                <c:pt idx="2" c:formatCode="mmm\-yy">
                  <c:v>45901</c:v>
                </c:pt>
                <c:pt idx="3" c:formatCode="mmm\-yy">
                  <c:v>45931</c:v>
                </c:pt>
                <c:pt idx="4" c:formatCode="mmm\-yy">
                  <c:v>45962</c:v>
                </c:pt>
                <c:pt idx="5" c:formatCode="mmm\-yy">
                  <c:v>45992</c:v>
                </c:pt>
                <c:pt idx="6" c:formatCode="mmm\-yy">
                  <c:v>46023</c:v>
                </c:pt>
              </c:numCache>
            </c:numRef>
          </c:cat>
          <c:val>
            <c:numRef>
              <c:f>[2601月报数据V5.xlsx]精准撞库!$I$17:$O$17</c:f>
              <c:numCache>
                <c:formatCode>0.00%</c:formatCode>
                <c:ptCount val="7"/>
                <c:pt idx="0">
                  <c:v>0.119232989562043</c:v>
                </c:pt>
                <c:pt idx="1">
                  <c:v>0.128233173953353</c:v>
                </c:pt>
                <c:pt idx="2">
                  <c:v>0.132040827347843</c:v>
                </c:pt>
                <c:pt idx="3">
                  <c:v>0.133210281795014</c:v>
                </c:pt>
                <c:pt idx="4">
                  <c:v>0.146357434548117</c:v>
                </c:pt>
                <c:pt idx="5">
                  <c:v>0.156958476337797</c:v>
                </c:pt>
                <c:pt idx="6">
                  <c:v>0.194446256550764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0"/>
        <c:smooth val="0"/>
        <c:axId val="437935336"/>
        <c:axId val="775473796"/>
      </c:lineChart>
      <c:dateAx>
        <c:axId val="542345207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849393113"/>
        <c:crosses val="autoZero"/>
        <c:auto val="1"/>
        <c:lblOffset val="100"/>
        <c:baseTimeUnit val="months"/>
      </c:dateAx>
      <c:valAx>
        <c:axId val="849393113"/>
        <c:scaling>
          <c:orientation val="minMax"/>
        </c:scaling>
        <c:delete val="0"/>
        <c:axPos val="l"/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542345207"/>
        <c:crosses val="autoZero"/>
        <c:crossBetween val="between"/>
      </c:valAx>
      <c:dateAx>
        <c:axId val="437935336"/>
        <c:scaling>
          <c:orientation val="minMax"/>
        </c:scaling>
        <c:delete val="1"/>
        <c:axPos val="b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775473796"/>
        <c:crosses val="autoZero"/>
        <c:auto val="1"/>
        <c:lblOffset val="100"/>
        <c:baseTimeUnit val="months"/>
      </c:dateAx>
      <c:valAx>
        <c:axId val="775473796"/>
        <c:scaling>
          <c:orientation val="minMax"/>
        </c:scaling>
        <c:delete val="0"/>
        <c:axPos val="r"/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437935336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华文楷体" panose="02010600040101010101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a92c0415-3352-4fbf-bf9a-6ed50b722108}"/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lang="zh-CN">
          <a:latin typeface="华文楷体" panose="02010600040101010101" charset="-122"/>
          <a:ea typeface="华文楷体" panose="02010600040101010101" charset="-122"/>
          <a:cs typeface="华文楷体" panose="02010600040101010101" charset="-122"/>
          <a:sym typeface="华文楷体" panose="02010600040101010101" charset="-122"/>
        </a:defRPr>
      </a:pPr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4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  <a:r>
              <a:rPr lang="zh-CN" altLang="en-US" sz="144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rPr>
              <a:t>腾讯</a:t>
            </a:r>
            <a:r>
              <a:rPr lang="en-GB" altLang="zh-CN" sz="144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rPr>
              <a:t>by</a:t>
            </a:r>
            <a:r>
              <a:rPr lang="zh-CN" altLang="en-US" sz="144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rPr>
              <a:t>周核心指标</a:t>
            </a:r>
            <a:endParaRPr lang="zh-CN" altLang="en-US" sz="144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华文楷体" panose="02010600040101010101" charset="-122"/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374286076913314"/>
          <c:y val="0.230632235084595"/>
          <c:w val="0.902043406523671"/>
          <c:h val="0.594122885129118"/>
        </c:manualLayout>
      </c:layout>
      <c:areaChart>
        <c:grouping val="standard"/>
        <c:varyColors val="0"/>
        <c:ser>
          <c:idx val="0"/>
          <c:order val="0"/>
          <c:tx>
            <c:strRef>
              <c:f>'[2601月报数据准备(2).xlsx]总览数据'!$M$54</c:f>
              <c:strCache>
                <c:ptCount val="1"/>
                <c:pt idx="0">
                  <c:v>日均消耗</c:v>
                </c:pt>
              </c:strCache>
            </c:strRef>
          </c:tx>
          <c:spPr>
            <a:solidFill>
              <a:schemeClr val="bg1">
                <a:lumMod val="95000"/>
              </a:schemeClr>
            </a:solidFill>
            <a:ln>
              <a:noFill/>
            </a:ln>
            <a:effectLst/>
          </c:spPr>
          <c:dLbls>
            <c:delete val="1"/>
          </c:dLbls>
          <c:cat>
            <c:numRef>
              <c:f>'[2601月报数据准备(2).xlsx]总览数据'!$L$55:$L$71</c:f>
              <c:numCache>
                <c:formatCode>yyyy/m/d</c:formatCode>
                <c:ptCount val="17"/>
                <c:pt idx="0" c:formatCode="yyyy/m/d">
                  <c:v>45936</c:v>
                </c:pt>
                <c:pt idx="1" c:formatCode="yyyy/m/d">
                  <c:v>45943</c:v>
                </c:pt>
                <c:pt idx="2" c:formatCode="yyyy/m/d">
                  <c:v>45950</c:v>
                </c:pt>
                <c:pt idx="3" c:formatCode="yyyy/m/d">
                  <c:v>45957</c:v>
                </c:pt>
                <c:pt idx="4" c:formatCode="yyyy/m/d">
                  <c:v>45964</c:v>
                </c:pt>
                <c:pt idx="5" c:formatCode="yyyy/m/d">
                  <c:v>45971</c:v>
                </c:pt>
                <c:pt idx="6" c:formatCode="yyyy/m/d">
                  <c:v>45978</c:v>
                </c:pt>
                <c:pt idx="7" c:formatCode="yyyy/m/d">
                  <c:v>45985</c:v>
                </c:pt>
                <c:pt idx="8" c:formatCode="yyyy/m/d">
                  <c:v>45992</c:v>
                </c:pt>
                <c:pt idx="9" c:formatCode="yyyy/m/d">
                  <c:v>45999</c:v>
                </c:pt>
                <c:pt idx="10" c:formatCode="yyyy/m/d">
                  <c:v>46006</c:v>
                </c:pt>
                <c:pt idx="11" c:formatCode="yyyy/m/d">
                  <c:v>46013</c:v>
                </c:pt>
                <c:pt idx="12" c:formatCode="yyyy/m/d">
                  <c:v>46020</c:v>
                </c:pt>
                <c:pt idx="13" c:formatCode="yyyy/m/d">
                  <c:v>46027</c:v>
                </c:pt>
                <c:pt idx="14" c:formatCode="yyyy/m/d">
                  <c:v>46034</c:v>
                </c:pt>
                <c:pt idx="15" c:formatCode="yyyy/m/d">
                  <c:v>46041</c:v>
                </c:pt>
                <c:pt idx="16" c:formatCode="yyyy/m/d">
                  <c:v>46048</c:v>
                </c:pt>
              </c:numCache>
            </c:numRef>
          </c:cat>
          <c:val>
            <c:numRef>
              <c:f>'[2601月报数据准备(2).xlsx]总览数据'!$M$55:$M$71</c:f>
              <c:numCache>
                <c:formatCode>_ * #,##0_ ;_ * \-#,##0_ ;_ * "-"??_ ;_ @_ </c:formatCode>
                <c:ptCount val="17"/>
                <c:pt idx="0">
                  <c:v>84.2857142857143</c:v>
                </c:pt>
                <c:pt idx="1">
                  <c:v>62.8571428571429</c:v>
                </c:pt>
                <c:pt idx="2">
                  <c:v>44.1428571428571</c:v>
                </c:pt>
                <c:pt idx="3">
                  <c:v>68.5714285714286</c:v>
                </c:pt>
                <c:pt idx="4">
                  <c:v>91.5714285714286</c:v>
                </c:pt>
                <c:pt idx="5">
                  <c:v>84.4285714285714</c:v>
                </c:pt>
                <c:pt idx="6">
                  <c:v>71.2857142857143</c:v>
                </c:pt>
                <c:pt idx="7">
                  <c:v>67</c:v>
                </c:pt>
                <c:pt idx="8">
                  <c:v>81.1428571428571</c:v>
                </c:pt>
                <c:pt idx="9">
                  <c:v>69.7142857142857</c:v>
                </c:pt>
                <c:pt idx="10">
                  <c:v>59.1428571428571</c:v>
                </c:pt>
                <c:pt idx="11">
                  <c:v>51.1428571428571</c:v>
                </c:pt>
                <c:pt idx="12">
                  <c:v>70.7142857142857</c:v>
                </c:pt>
                <c:pt idx="13">
                  <c:v>71.7142857142857</c:v>
                </c:pt>
                <c:pt idx="14">
                  <c:v>46</c:v>
                </c:pt>
                <c:pt idx="15">
                  <c:v>38.5714285714286</c:v>
                </c:pt>
                <c:pt idx="16">
                  <c:v>35.5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55876079"/>
        <c:axId val="71443669"/>
      </c:areaChart>
      <c:lineChart>
        <c:grouping val="standard"/>
        <c:varyColors val="0"/>
        <c:ser>
          <c:idx val="1"/>
          <c:order val="1"/>
          <c:tx>
            <c:strRef>
              <c:f>'[2601月报数据准备(2).xlsx]总览数据'!$N$54</c:f>
              <c:strCache>
                <c:ptCount val="1"/>
                <c:pt idx="0">
                  <c:v>安全过件率</c:v>
                </c:pt>
              </c:strCache>
            </c:strRef>
          </c:tx>
          <c:spPr>
            <a:ln w="38100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layout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7"/>
              <c:layout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layout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2"/>
              <c:layout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3"/>
              <c:delete val="1"/>
            </c:dLbl>
            <c:dLbl>
              <c:idx val="14"/>
              <c:delete val="1"/>
            </c:dLbl>
            <c:dLbl>
              <c:idx val="15"/>
              <c:delete val="1"/>
            </c:dLbl>
            <c:dLbl>
              <c:idx val="16"/>
              <c:layout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  <a:sym typeface="华文楷体" panose="02010600040101010101" charset="-122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'[2601月报数据准备(2).xlsx]总览数据'!$L$55:$L$71</c:f>
              <c:numCache>
                <c:formatCode>yyyy/m/d</c:formatCode>
                <c:ptCount val="17"/>
                <c:pt idx="0" c:formatCode="yyyy/m/d">
                  <c:v>45936</c:v>
                </c:pt>
                <c:pt idx="1" c:formatCode="yyyy/m/d">
                  <c:v>45943</c:v>
                </c:pt>
                <c:pt idx="2" c:formatCode="yyyy/m/d">
                  <c:v>45950</c:v>
                </c:pt>
                <c:pt idx="3" c:formatCode="yyyy/m/d">
                  <c:v>45957</c:v>
                </c:pt>
                <c:pt idx="4" c:formatCode="yyyy/m/d">
                  <c:v>45964</c:v>
                </c:pt>
                <c:pt idx="5" c:formatCode="yyyy/m/d">
                  <c:v>45971</c:v>
                </c:pt>
                <c:pt idx="6" c:formatCode="yyyy/m/d">
                  <c:v>45978</c:v>
                </c:pt>
                <c:pt idx="7" c:formatCode="yyyy/m/d">
                  <c:v>45985</c:v>
                </c:pt>
                <c:pt idx="8" c:formatCode="yyyy/m/d">
                  <c:v>45992</c:v>
                </c:pt>
                <c:pt idx="9" c:formatCode="yyyy/m/d">
                  <c:v>45999</c:v>
                </c:pt>
                <c:pt idx="10" c:formatCode="yyyy/m/d">
                  <c:v>46006</c:v>
                </c:pt>
                <c:pt idx="11" c:formatCode="yyyy/m/d">
                  <c:v>46013</c:v>
                </c:pt>
                <c:pt idx="12" c:formatCode="yyyy/m/d">
                  <c:v>46020</c:v>
                </c:pt>
                <c:pt idx="13" c:formatCode="yyyy/m/d">
                  <c:v>46027</c:v>
                </c:pt>
                <c:pt idx="14" c:formatCode="yyyy/m/d">
                  <c:v>46034</c:v>
                </c:pt>
                <c:pt idx="15" c:formatCode="yyyy/m/d">
                  <c:v>46041</c:v>
                </c:pt>
                <c:pt idx="16" c:formatCode="yyyy/m/d">
                  <c:v>46048</c:v>
                </c:pt>
              </c:numCache>
            </c:numRef>
          </c:cat>
          <c:val>
            <c:numRef>
              <c:f>'[2601月报数据准备(2).xlsx]总览数据'!$N$55:$N$71</c:f>
              <c:numCache>
                <c:formatCode>0.00%</c:formatCode>
                <c:ptCount val="17"/>
                <c:pt idx="0">
                  <c:v>0.1984</c:v>
                </c:pt>
                <c:pt idx="1">
                  <c:v>0.2042</c:v>
                </c:pt>
                <c:pt idx="2">
                  <c:v>0.1764</c:v>
                </c:pt>
                <c:pt idx="3">
                  <c:v>0.2139</c:v>
                </c:pt>
                <c:pt idx="4">
                  <c:v>0.1954</c:v>
                </c:pt>
                <c:pt idx="5">
                  <c:v>0.2015</c:v>
                </c:pt>
                <c:pt idx="6">
                  <c:v>0.2076</c:v>
                </c:pt>
                <c:pt idx="7">
                  <c:v>0.2214</c:v>
                </c:pt>
                <c:pt idx="8">
                  <c:v>0.1796</c:v>
                </c:pt>
                <c:pt idx="9">
                  <c:v>0.1618</c:v>
                </c:pt>
                <c:pt idx="10">
                  <c:v>0.1686</c:v>
                </c:pt>
                <c:pt idx="11">
                  <c:v>0.1759</c:v>
                </c:pt>
                <c:pt idx="12">
                  <c:v>0.1834</c:v>
                </c:pt>
                <c:pt idx="13">
                  <c:v>0.1762</c:v>
                </c:pt>
                <c:pt idx="14">
                  <c:v>0.1928</c:v>
                </c:pt>
                <c:pt idx="15">
                  <c:v>0.2743</c:v>
                </c:pt>
                <c:pt idx="16">
                  <c:v>0.277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'[2601月报数据准备(2).xlsx]总览数据'!$O$54</c:f>
              <c:strCache>
                <c:ptCount val="1"/>
                <c:pt idx="0">
                  <c:v>T0CPS</c:v>
                </c:pt>
              </c:strCache>
            </c:strRef>
          </c:tx>
          <c:spPr>
            <a:ln w="28575" cap="rnd" cmpd="sng">
              <a:solidFill>
                <a:schemeClr val="tx2">
                  <a:lumMod val="50000"/>
                </a:schemeClr>
              </a:solidFill>
              <a:prstDash val="sysDash"/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'[2601月报数据准备(2).xlsx]总览数据'!$L$55:$L$71</c:f>
              <c:numCache>
                <c:formatCode>yyyy/m/d</c:formatCode>
                <c:ptCount val="17"/>
                <c:pt idx="0" c:formatCode="yyyy/m/d">
                  <c:v>45936</c:v>
                </c:pt>
                <c:pt idx="1" c:formatCode="yyyy/m/d">
                  <c:v>45943</c:v>
                </c:pt>
                <c:pt idx="2" c:formatCode="yyyy/m/d">
                  <c:v>45950</c:v>
                </c:pt>
                <c:pt idx="3" c:formatCode="yyyy/m/d">
                  <c:v>45957</c:v>
                </c:pt>
                <c:pt idx="4" c:formatCode="yyyy/m/d">
                  <c:v>45964</c:v>
                </c:pt>
                <c:pt idx="5" c:formatCode="yyyy/m/d">
                  <c:v>45971</c:v>
                </c:pt>
                <c:pt idx="6" c:formatCode="yyyy/m/d">
                  <c:v>45978</c:v>
                </c:pt>
                <c:pt idx="7" c:formatCode="yyyy/m/d">
                  <c:v>45985</c:v>
                </c:pt>
                <c:pt idx="8" c:formatCode="yyyy/m/d">
                  <c:v>45992</c:v>
                </c:pt>
                <c:pt idx="9" c:formatCode="yyyy/m/d">
                  <c:v>45999</c:v>
                </c:pt>
                <c:pt idx="10" c:formatCode="yyyy/m/d">
                  <c:v>46006</c:v>
                </c:pt>
                <c:pt idx="11" c:formatCode="yyyy/m/d">
                  <c:v>46013</c:v>
                </c:pt>
                <c:pt idx="12" c:formatCode="yyyy/m/d">
                  <c:v>46020</c:v>
                </c:pt>
                <c:pt idx="13" c:formatCode="yyyy/m/d">
                  <c:v>46027</c:v>
                </c:pt>
                <c:pt idx="14" c:formatCode="yyyy/m/d">
                  <c:v>46034</c:v>
                </c:pt>
                <c:pt idx="15" c:formatCode="yyyy/m/d">
                  <c:v>46041</c:v>
                </c:pt>
                <c:pt idx="16" c:formatCode="yyyy/m/d">
                  <c:v>46048</c:v>
                </c:pt>
              </c:numCache>
            </c:numRef>
          </c:cat>
          <c:val>
            <c:numRef>
              <c:f>'[2601月报数据准备(2).xlsx]总览数据'!$O$55:$O$71</c:f>
              <c:numCache>
                <c:formatCode>0.00%</c:formatCode>
                <c:ptCount val="17"/>
                <c:pt idx="0">
                  <c:v>0.2288</c:v>
                </c:pt>
                <c:pt idx="1">
                  <c:v>0.2145</c:v>
                </c:pt>
                <c:pt idx="2">
                  <c:v>0.2227</c:v>
                </c:pt>
                <c:pt idx="3">
                  <c:v>0.2547</c:v>
                </c:pt>
                <c:pt idx="4">
                  <c:v>0.2693</c:v>
                </c:pt>
                <c:pt idx="5">
                  <c:v>0.2761</c:v>
                </c:pt>
                <c:pt idx="6">
                  <c:v>0.2636</c:v>
                </c:pt>
                <c:pt idx="7">
                  <c:v>0.279</c:v>
                </c:pt>
                <c:pt idx="8">
                  <c:v>0.2879</c:v>
                </c:pt>
                <c:pt idx="9">
                  <c:v>0.2705</c:v>
                </c:pt>
                <c:pt idx="10">
                  <c:v>0.2536</c:v>
                </c:pt>
                <c:pt idx="11">
                  <c:v>0.2572</c:v>
                </c:pt>
                <c:pt idx="12">
                  <c:v>0.2802</c:v>
                </c:pt>
                <c:pt idx="13">
                  <c:v>0.2446</c:v>
                </c:pt>
                <c:pt idx="14">
                  <c:v>0.2214</c:v>
                </c:pt>
                <c:pt idx="15">
                  <c:v>0.2329</c:v>
                </c:pt>
                <c:pt idx="16">
                  <c:v>0.2519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182685944"/>
        <c:axId val="196082313"/>
      </c:lineChart>
      <c:dateAx>
        <c:axId val="255876079"/>
        <c:scaling>
          <c:orientation val="minMax"/>
        </c:scaling>
        <c:delete val="0"/>
        <c:axPos val="b"/>
        <c:numFmt formatCode="m/dd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71443669"/>
        <c:crosses val="autoZero"/>
        <c:auto val="1"/>
        <c:lblOffset val="100"/>
        <c:baseTimeUnit val="days"/>
      </c:dateAx>
      <c:valAx>
        <c:axId val="71443669"/>
        <c:scaling>
          <c:orientation val="minMax"/>
          <c:min val="0"/>
        </c:scaling>
        <c:delete val="0"/>
        <c:axPos val="l"/>
        <c:numFmt formatCode="_ * #,##0_ ;_ * \-#,##0_ ;_ * &quot;-&quot;??_ ;_ @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255876079"/>
        <c:crosses val="autoZero"/>
        <c:crossBetween val="between"/>
      </c:valAx>
      <c:dateAx>
        <c:axId val="182685944"/>
        <c:scaling>
          <c:orientation val="minMax"/>
        </c:scaling>
        <c:delete val="1"/>
        <c:axPos val="b"/>
        <c:majorTickMark val="none"/>
        <c:minorTickMark val="none"/>
        <c:tickLblPos val="nextTo"/>
        <c:txPr>
          <a:bodyPr rot="-60000000" spcFirstLastPara="0" vertOverflow="ellipsis" vert="horz" wrap="square" anchor="ctr" anchorCtr="1" forceAA="0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196082313"/>
        <c:crosses val="autoZero"/>
        <c:auto val="1"/>
        <c:lblOffset val="100"/>
        <c:baseTimeUnit val="days"/>
      </c:dateAx>
      <c:valAx>
        <c:axId val="196082313"/>
        <c:scaling>
          <c:orientation val="minMax"/>
          <c:min val="0.1"/>
        </c:scaling>
        <c:delete val="0"/>
        <c:axPos val="r"/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182685944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</c:legendEntry>
      <c:layout>
        <c:manualLayout>
          <c:xMode val="edge"/>
          <c:yMode val="edge"/>
          <c:x val="0.338521631197029"/>
          <c:y val="0.930707862923238"/>
          <c:w val="0.322956636031951"/>
          <c:h val="0.0510588781459506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华文楷体" panose="02010600040101010101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462201ce-1b3e-4edf-99fb-1c84964ee836}"/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lang="zh-CN" sz="1200">
          <a:latin typeface="华文楷体" panose="02010600040101010101" charset="-122"/>
          <a:ea typeface="华文楷体" panose="02010600040101010101" charset="-122"/>
          <a:cs typeface="华文楷体" panose="02010600040101010101" charset="-122"/>
          <a:sym typeface="华文楷体" panose="02010600040101010101" charset="-122"/>
        </a:defRPr>
      </a:pPr>
    </a:p>
  </c:tx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6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STKaiti" panose="02010600040101010101" pitchFamily="2" charset="-122"/>
                <a:ea typeface="STKaiti" panose="02010600040101010101" pitchFamily="2" charset="-122"/>
                <a:cs typeface="+mn-cs"/>
              </a:defRPr>
            </a:pPr>
            <a:r>
              <a:rPr lang="zh-CN" sz="1600" b="0"/>
              <a:t>对照组应排除客群质量与结构占比情况</a:t>
            </a:r>
            <a:endParaRPr lang="zh-CN" sz="1600" b="0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'[2601月报数据准备(2).xlsx]原始数据 -对照组加排除'!$B$6</c:f>
              <c:strCache>
                <c:ptCount val="1"/>
                <c:pt idx="0">
                  <c:v>申完占比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900" b="0" i="0" u="none" strike="noStrike" kern="1200" baseline="0">
                    <a:solidFill>
                      <a:schemeClr val="bg1">
                        <a:lumMod val="50000"/>
                      </a:schemeClr>
                    </a:solidFill>
                    <a:latin typeface="STKaiti" panose="02010600040101010101" pitchFamily="2" charset="-122"/>
                    <a:ea typeface="STKaiti" panose="02010600040101010101" pitchFamily="2" charset="-122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'[2601月报数据准备(2).xlsx]原始数据 -对照组加排除'!$C$5:$J$5</c:f>
              <c:strCache>
                <c:ptCount val="8"/>
                <c:pt idx="0" c:formatCode="mmm\-yy">
                  <c:v>5月</c:v>
                </c:pt>
                <c:pt idx="1" c:formatCode="mmm\-yy">
                  <c:v>6月</c:v>
                </c:pt>
                <c:pt idx="2" c:formatCode="mmm\-yy">
                  <c:v>7月</c:v>
                </c:pt>
                <c:pt idx="3" c:formatCode="mmm\-yy">
                  <c:v>8月</c:v>
                </c:pt>
                <c:pt idx="4" c:formatCode="mmm\-yy">
                  <c:v>9月</c:v>
                </c:pt>
                <c:pt idx="5" c:formatCode="mmm\-yy">
                  <c:v>10月</c:v>
                </c:pt>
                <c:pt idx="6" c:formatCode="mmm\-yy">
                  <c:v>11月</c:v>
                </c:pt>
                <c:pt idx="7" c:formatCode="mmm\-yy">
                  <c:v>12月</c:v>
                </c:pt>
              </c:strCache>
            </c:strRef>
          </c:cat>
          <c:val>
            <c:numRef>
              <c:f>'[2601月报数据准备(2).xlsx]原始数据 -对照组加排除'!$C$6:$J$6</c:f>
              <c:numCache>
                <c:formatCode>0.00%</c:formatCode>
                <c:ptCount val="8"/>
                <c:pt idx="0">
                  <c:v>0.521</c:v>
                </c:pt>
                <c:pt idx="1">
                  <c:v>0.5296</c:v>
                </c:pt>
                <c:pt idx="2">
                  <c:v>0.5322</c:v>
                </c:pt>
                <c:pt idx="3">
                  <c:v>0.4876</c:v>
                </c:pt>
                <c:pt idx="4">
                  <c:v>0.4453</c:v>
                </c:pt>
                <c:pt idx="5">
                  <c:v>0.4026</c:v>
                </c:pt>
                <c:pt idx="6">
                  <c:v>0.39</c:v>
                </c:pt>
                <c:pt idx="7">
                  <c:v>0.4212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1601227040"/>
        <c:axId val="1605223936"/>
      </c:barChart>
      <c:lineChart>
        <c:grouping val="standard"/>
        <c:varyColors val="0"/>
        <c:ser>
          <c:idx val="2"/>
          <c:order val="2"/>
          <c:tx>
            <c:strRef>
              <c:f>'[2601月报数据准备(2).xlsx]原始数据 -对照组加排除'!$B$9</c:f>
              <c:strCache>
                <c:ptCount val="1"/>
                <c:pt idx="0">
                  <c:v>安-授信率t3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TKaiti" panose="02010600040101010101" pitchFamily="2" charset="-122"/>
                    <a:ea typeface="STKaiti" panose="02010600040101010101" pitchFamily="2" charset="-122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'[2601月报数据准备(2).xlsx]原始数据 -对照组加排除'!$C$5:$J$5</c:f>
              <c:numCache>
                <c:ptCount val="0"/>
              </c:numCache>
            </c:numRef>
          </c:cat>
          <c:val>
            <c:numRef>
              <c:f>'[2601月报数据准备(2).xlsx]原始数据 -对照组加排除'!$C$9:$J$9</c:f>
              <c:numCache>
                <c:formatCode>0%</c:formatCode>
                <c:ptCount val="8"/>
                <c:pt idx="0">
                  <c:v>0.061849</c:v>
                </c:pt>
                <c:pt idx="1">
                  <c:v>0.065689</c:v>
                </c:pt>
                <c:pt idx="2">
                  <c:v>0.057299</c:v>
                </c:pt>
                <c:pt idx="3">
                  <c:v>0.057863</c:v>
                </c:pt>
                <c:pt idx="4">
                  <c:v>0.068702</c:v>
                </c:pt>
                <c:pt idx="5">
                  <c:v>0.060764</c:v>
                </c:pt>
                <c:pt idx="6">
                  <c:v>0.070732</c:v>
                </c:pt>
                <c:pt idx="7">
                  <c:v>0.055431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0"/>
        <c:smooth val="0"/>
        <c:axId val="404301311"/>
        <c:axId val="205560847"/>
        <c:extLst>
          <c:ext xmlns:c15="http://schemas.microsoft.com/office/drawing/2012/chart" uri="{02D57815-91ED-43cb-92C2-25804820EDAC}">
            <c15:filteredLine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'[2601月报数据准备(2).xlsx]原始数据 -对照组加排除'!$B$7</c15:sqref>
                        </c15:formulaRef>
                      </c:ext>
                    </c:extLst>
                    <c:strCache>
                      <c:ptCount val="1"/>
                      <c:pt idx="0">
                        <c:v>花费占比</c:v>
                      </c:pt>
                    </c:strCache>
                  </c:strRef>
                </c:tx>
                <c:spPr>
                  <a:ln w="28575" cap="rnd">
                    <a:solidFill>
                      <a:schemeClr val="accent2"/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numFmt formatCode="0%" sourceLinked="0"/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lang="zh-CN" sz="900" b="0" i="0" u="none" strike="noStrike" kern="1200" baseline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TKaiti" panose="02010600040101010101" pitchFamily="2" charset="-122"/>
                          <a:ea typeface="STKaiti" panose="02010600040101010101" pitchFamily="2" charset="-122"/>
                          <a:cs typeface="+mn-cs"/>
                        </a:defRPr>
                      </a:pPr>
                    </a:p>
                  </c:txPr>
                  <c:dLblPos val="b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layout/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num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'[2601月报数据准备(2).xlsx]原始数据 -对照组加排除'!$C$5:$J$5</c15:sqref>
                        </c15:formulaRef>
                      </c:ext>
                    </c:extLst>
                    <c:numCache>
                      <c:ptCount val="0"/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{0.3043,0.2877,0.2721,0.2471,0.2288,0.1959,0.1877,0.2084}</c15:sqref>
                        </c15:formulaRef>
                      </c:ext>
                    </c:extLst>
                    <c:numCache>
                      <c:formatCode>0.00%</c:formatCode>
                      <c:ptCount val="8"/>
                      <c:pt idx="0">
                        <c:v>0.3043</c:v>
                      </c:pt>
                      <c:pt idx="1">
                        <c:v>0.2877</c:v>
                      </c:pt>
                      <c:pt idx="2">
                        <c:v>0.2721</c:v>
                      </c:pt>
                      <c:pt idx="3">
                        <c:v>0.2471</c:v>
                      </c:pt>
                      <c:pt idx="4">
                        <c:v>0.2288</c:v>
                      </c:pt>
                      <c:pt idx="5">
                        <c:v>0.1959</c:v>
                      </c:pt>
                      <c:pt idx="6">
                        <c:v>0.1877</c:v>
                      </c:pt>
                      <c:pt idx="7">
                        <c:v>0.2084</c:v>
                      </c:pt>
                    </c:numCache>
                  </c:numRef>
                </c:val>
                <c:smooth val="0"/>
              </c15:ser>
            </c15:filteredLineSeries>
          </c:ext>
        </c:extLst>
      </c:lineChart>
      <c:catAx>
        <c:axId val="4043013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TKaiti" panose="02010600040101010101" pitchFamily="2" charset="-122"/>
                <a:ea typeface="STKaiti" panose="02010600040101010101" pitchFamily="2" charset="-122"/>
                <a:cs typeface="+mn-cs"/>
              </a:defRPr>
            </a:pPr>
          </a:p>
        </c:txPr>
        <c:crossAx val="205560847"/>
        <c:crosses val="autoZero"/>
        <c:auto val="1"/>
        <c:lblAlgn val="ctr"/>
        <c:lblOffset val="100"/>
        <c:noMultiLvlLbl val="0"/>
      </c:catAx>
      <c:valAx>
        <c:axId val="205560847"/>
        <c:scaling>
          <c:orientation val="minMax"/>
          <c:max val="0.1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TKaiti" panose="02010600040101010101" pitchFamily="2" charset="-122"/>
                <a:ea typeface="STKaiti" panose="02010600040101010101" pitchFamily="2" charset="-122"/>
                <a:cs typeface="+mn-cs"/>
              </a:defRPr>
            </a:pPr>
          </a:p>
        </c:txPr>
        <c:crossAx val="404301311"/>
        <c:crosses val="autoZero"/>
        <c:crossBetween val="between"/>
        <c:majorUnit val="0.02"/>
      </c:valAx>
      <c:catAx>
        <c:axId val="160122704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TKaiti" panose="02010600040101010101" pitchFamily="2" charset="-122"/>
                <a:ea typeface="STKaiti" panose="02010600040101010101" pitchFamily="2" charset="-122"/>
                <a:cs typeface="+mn-cs"/>
              </a:defRPr>
            </a:pPr>
          </a:p>
        </c:txPr>
        <c:crossAx val="1605223936"/>
        <c:crosses val="autoZero"/>
        <c:auto val="1"/>
        <c:lblAlgn val="ctr"/>
        <c:lblOffset val="100"/>
        <c:noMultiLvlLbl val="0"/>
      </c:catAx>
      <c:valAx>
        <c:axId val="1605223936"/>
        <c:scaling>
          <c:orientation val="minMax"/>
          <c:max val="1"/>
        </c:scaling>
        <c:delete val="0"/>
        <c:axPos val="r"/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TKaiti" panose="02010600040101010101" pitchFamily="2" charset="-122"/>
                <a:ea typeface="STKaiti" panose="02010600040101010101" pitchFamily="2" charset="-122"/>
                <a:cs typeface="+mn-cs"/>
              </a:defRPr>
            </a:pPr>
          </a:p>
        </c:txPr>
        <c:crossAx val="1601227040"/>
        <c:crosses val="max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STKaiti" panose="02010600040101010101" pitchFamily="2" charset="-122"/>
              <a:ea typeface="STKaiti" panose="02010600040101010101" pitchFamily="2" charset="-122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86ca8d4a-550a-4f7b-938a-7debb6130f3b}"/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lang="zh-CN">
          <a:latin typeface="STKaiti" panose="02010600040101010101" pitchFamily="2" charset="-122"/>
          <a:ea typeface="STKaiti" panose="02010600040101010101" pitchFamily="2" charset="-122"/>
        </a:defRPr>
      </a:pPr>
    </a:p>
  </c:tx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STKaiti" panose="02010600040101010101" pitchFamily="2" charset="-122"/>
                <a:ea typeface="STKaiti" panose="02010600040101010101" pitchFamily="2" charset="-122"/>
                <a:cs typeface="+mn-cs"/>
              </a:defRPr>
            </a:pPr>
            <a:r>
              <a:rPr lang="en-US" altLang="zh-CN" sz="1600"/>
              <a:t>preA</a:t>
            </a:r>
            <a:r>
              <a:rPr lang="zh-CN" sz="1600"/>
              <a:t>安全过件率区分度</a:t>
            </a:r>
            <a:endParaRPr lang="en-GB" sz="1600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'[2601月报数据准备(2).xlsx]原始数据 -对照组加排除'!$C$15</c:f>
              <c:strCache>
                <c:ptCount val="1"/>
                <c:pt idx="0">
                  <c:v>安-授信率t3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TKaiti" panose="02010600040101010101" pitchFamily="2" charset="-122"/>
                    <a:ea typeface="STKaiti" panose="02010600040101010101" pitchFamily="2" charset="-122"/>
                    <a:cs typeface="+mn-c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'[2601月报数据准备(2).xlsx]原始数据 -对照组加排除'!$B$16:$B$25</c:f>
              <c:strCache>
                <c:ptCount val="10"/>
                <c:pt idx="0">
                  <c:v>1Q</c:v>
                </c:pt>
                <c:pt idx="1">
                  <c:v>2Q</c:v>
                </c:pt>
                <c:pt idx="2">
                  <c:v>3Q</c:v>
                </c:pt>
                <c:pt idx="3">
                  <c:v>4Q</c:v>
                </c:pt>
                <c:pt idx="4">
                  <c:v>5Q</c:v>
                </c:pt>
                <c:pt idx="5">
                  <c:v>6Q</c:v>
                </c:pt>
                <c:pt idx="6">
                  <c:v>7Q</c:v>
                </c:pt>
                <c:pt idx="7">
                  <c:v>8Q</c:v>
                </c:pt>
                <c:pt idx="8">
                  <c:v>9Q</c:v>
                </c:pt>
                <c:pt idx="9">
                  <c:v>10Q</c:v>
                </c:pt>
              </c:strCache>
            </c:strRef>
          </c:cat>
          <c:val>
            <c:numRef>
              <c:f>'[2601月报数据准备(2).xlsx]原始数据 -对照组加排除'!$C$16:$C$25</c:f>
              <c:numCache>
                <c:formatCode>General</c:formatCode>
                <c:ptCount val="10"/>
                <c:pt idx="0">
                  <c:v>0.01902</c:v>
                </c:pt>
                <c:pt idx="1">
                  <c:v>0.066986</c:v>
                </c:pt>
                <c:pt idx="2">
                  <c:v>0.108604</c:v>
                </c:pt>
                <c:pt idx="3">
                  <c:v>0.136752</c:v>
                </c:pt>
                <c:pt idx="4">
                  <c:v>0.18264</c:v>
                </c:pt>
                <c:pt idx="5">
                  <c:v>0.216092</c:v>
                </c:pt>
                <c:pt idx="6">
                  <c:v>0.259542</c:v>
                </c:pt>
                <c:pt idx="7">
                  <c:v>0.33871</c:v>
                </c:pt>
                <c:pt idx="8">
                  <c:v>0.394286</c:v>
                </c:pt>
                <c:pt idx="9">
                  <c:v>0.555556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186434959"/>
        <c:axId val="190611807"/>
      </c:lineChart>
      <c:catAx>
        <c:axId val="1864349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TKaiti" panose="02010600040101010101" pitchFamily="2" charset="-122"/>
                <a:ea typeface="STKaiti" panose="02010600040101010101" pitchFamily="2" charset="-122"/>
                <a:cs typeface="+mn-cs"/>
              </a:defRPr>
            </a:pPr>
          </a:p>
        </c:txPr>
        <c:crossAx val="190611807"/>
        <c:crosses val="autoZero"/>
        <c:auto val="1"/>
        <c:lblAlgn val="ctr"/>
        <c:lblOffset val="100"/>
        <c:noMultiLvlLbl val="0"/>
      </c:catAx>
      <c:valAx>
        <c:axId val="190611807"/>
        <c:scaling>
          <c:orientation val="minMax"/>
          <c:max val="0.7"/>
        </c:scaling>
        <c:delete val="0"/>
        <c:axPos val="l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TKaiti" panose="02010600040101010101" pitchFamily="2" charset="-122"/>
                <a:ea typeface="STKaiti" panose="02010600040101010101" pitchFamily="2" charset="-122"/>
                <a:cs typeface="+mn-cs"/>
              </a:defRPr>
            </a:pPr>
          </a:p>
        </c:txPr>
        <c:crossAx val="186434959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73f42bc9-818e-40b9-9100-ee722097cc22}"/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lang="zh-CN">
          <a:latin typeface="STKaiti" panose="02010600040101010101" pitchFamily="2" charset="-122"/>
          <a:ea typeface="STKaiti" panose="02010600040101010101" pitchFamily="2" charset="-122"/>
        </a:defRPr>
      </a:pPr>
    </a:p>
  </c:tx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  <a:r>
              <a:rPr lang="en-US" altLang="zh-CN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rPr>
              <a:t>1-3过件率</a:t>
            </a:r>
            <a:endParaRPr lang="en-US" altLang="zh-CN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华文楷体" panose="02010600040101010101" charset="-122"/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'[2601月报数据准备(2).xlsx]对照组增加排除数据'!$L$39</c:f>
              <c:strCache>
                <c:ptCount val="1"/>
                <c:pt idx="0">
                  <c:v>对照组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  <a:sym typeface="华文楷体" panose="02010600040101010101" charset="-122"/>
                  </a:defRPr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'[2601月报数据准备(2).xlsx]对照组增加排除数据'!$M$38:$N$38</c:f>
              <c:strCache>
                <c:ptCount val="2"/>
                <c:pt idx="0">
                  <c:v>before（1201-1226）</c:v>
                </c:pt>
                <c:pt idx="1">
                  <c:v>after（1226-0125）</c:v>
                </c:pt>
              </c:strCache>
            </c:strRef>
          </c:cat>
          <c:val>
            <c:numRef>
              <c:f>'[2601月报数据准备(2).xlsx]对照组增加排除数据'!$M$39:$N$39</c:f>
              <c:numCache>
                <c:formatCode>0.0%</c:formatCode>
                <c:ptCount val="2"/>
                <c:pt idx="0">
                  <c:v>0.144671826103845</c:v>
                </c:pt>
                <c:pt idx="1">
                  <c:v>0.188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'[2601月报数据准备(2).xlsx]对照组增加排除数据'!$L$40</c:f>
              <c:strCache>
                <c:ptCount val="1"/>
                <c:pt idx="0">
                  <c:v>实验组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  <a:sym typeface="华文楷体" panose="02010600040101010101" charset="-122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'[2601月报数据准备(2).xlsx]对照组增加排除数据'!$M$38:$N$38</c:f>
              <c:strCache>
                <c:ptCount val="2"/>
                <c:pt idx="0">
                  <c:v>before（1201-1226）</c:v>
                </c:pt>
                <c:pt idx="1">
                  <c:v>after（1226-0125）</c:v>
                </c:pt>
              </c:strCache>
            </c:strRef>
          </c:cat>
          <c:val>
            <c:numRef>
              <c:f>'[2601月报数据准备(2).xlsx]对照组增加排除数据'!$M$40:$N$40</c:f>
              <c:numCache>
                <c:formatCode>0.0%</c:formatCode>
                <c:ptCount val="2"/>
                <c:pt idx="0">
                  <c:v>0.172757949431807</c:v>
                </c:pt>
                <c:pt idx="1">
                  <c:v>0.201301997416681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0"/>
        <c:smooth val="0"/>
        <c:axId val="382135908"/>
        <c:axId val="921306208"/>
      </c:lineChart>
      <c:catAx>
        <c:axId val="382135908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921306208"/>
        <c:crosses val="autoZero"/>
        <c:auto val="1"/>
        <c:lblAlgn val="ctr"/>
        <c:lblOffset val="100"/>
        <c:noMultiLvlLbl val="0"/>
      </c:catAx>
      <c:valAx>
        <c:axId val="921306208"/>
        <c:scaling>
          <c:orientation val="minMax"/>
          <c:min val="0.1"/>
        </c:scaling>
        <c:delete val="0"/>
        <c:axPos val="l"/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3821359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华文楷体" panose="02010600040101010101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195d72f3-5337-48b1-b30d-153da6ce27f4}"/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lang="zh-CN">
          <a:latin typeface="华文楷体" panose="02010600040101010101" charset="-122"/>
          <a:ea typeface="华文楷体" panose="02010600040101010101" charset="-122"/>
          <a:cs typeface="华文楷体" panose="02010600040101010101" charset="-122"/>
          <a:sym typeface="华文楷体" panose="02010600040101010101" charset="-122"/>
        </a:defRPr>
      </a:pPr>
    </a:p>
  </c:tx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  <a:r>
              <a:rPr lang="en-US" altLang="zh-CN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rPr>
              <a:t>T0CPS</a:t>
            </a:r>
            <a:endParaRPr lang="en-US" altLang="zh-CN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华文楷体" panose="02010600040101010101" charset="-122"/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'[2601月报数据准备(2).xlsx]对照组增加排除数据'!$L$45</c:f>
              <c:strCache>
                <c:ptCount val="1"/>
                <c:pt idx="0">
                  <c:v>对照组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  <a:sym typeface="华文楷体" panose="02010600040101010101" charset="-122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'[2601月报数据准备(2).xlsx]对照组增加排除数据'!$M$44:$N$44</c:f>
              <c:strCache>
                <c:ptCount val="2"/>
                <c:pt idx="0">
                  <c:v>before（1201-1226）</c:v>
                </c:pt>
                <c:pt idx="1">
                  <c:v>after（1226-0125）</c:v>
                </c:pt>
              </c:strCache>
            </c:strRef>
          </c:cat>
          <c:val>
            <c:numRef>
              <c:f>'[2601月报数据准备(2).xlsx]对照组增加排除数据'!$M$45:$N$45</c:f>
              <c:numCache>
                <c:formatCode>0.0%</c:formatCode>
                <c:ptCount val="2"/>
                <c:pt idx="0">
                  <c:v>0.266436664851632</c:v>
                </c:pt>
                <c:pt idx="1">
                  <c:v>0.240723853751292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'[2601月报数据准备(2).xlsx]对照组增加排除数据'!$L$46</c:f>
              <c:strCache>
                <c:ptCount val="1"/>
                <c:pt idx="0">
                  <c:v>实验组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  <a:sym typeface="华文楷体" panose="02010600040101010101" charset="-122"/>
                  </a:defRPr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'[2601月报数据准备(2).xlsx]对照组增加排除数据'!$M$44:$N$44</c:f>
              <c:strCache>
                <c:ptCount val="2"/>
                <c:pt idx="0">
                  <c:v>before（1201-1226）</c:v>
                </c:pt>
                <c:pt idx="1">
                  <c:v>after（1226-0125）</c:v>
                </c:pt>
              </c:strCache>
            </c:strRef>
          </c:cat>
          <c:val>
            <c:numRef>
              <c:f>'[2601月报数据准备(2).xlsx]对照组增加排除数据'!$M$46:$N$46</c:f>
              <c:numCache>
                <c:formatCode>0.0%</c:formatCode>
                <c:ptCount val="2"/>
                <c:pt idx="0">
                  <c:v>0.243279926390758</c:v>
                </c:pt>
                <c:pt idx="1">
                  <c:v>0.225712455654984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0"/>
        <c:smooth val="0"/>
        <c:axId val="382135908"/>
        <c:axId val="921306208"/>
      </c:lineChart>
      <c:catAx>
        <c:axId val="382135908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921306208"/>
        <c:crosses val="autoZero"/>
        <c:auto val="1"/>
        <c:lblAlgn val="ctr"/>
        <c:lblOffset val="100"/>
        <c:noMultiLvlLbl val="0"/>
      </c:catAx>
      <c:valAx>
        <c:axId val="921306208"/>
        <c:scaling>
          <c:orientation val="minMax"/>
          <c:max val="0.3"/>
          <c:min val="0.15"/>
        </c:scaling>
        <c:delete val="0"/>
        <c:axPos val="l"/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3821359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华文楷体" panose="02010600040101010101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9ed378d0-24dc-4a5d-af83-acba8184797a}"/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lang="zh-CN">
          <a:latin typeface="华文楷体" panose="02010600040101010101" charset="-122"/>
          <a:ea typeface="华文楷体" panose="02010600040101010101" charset="-122"/>
          <a:cs typeface="华文楷体" panose="02010600040101010101" charset="-122"/>
          <a:sym typeface="华文楷体" panose="02010600040101010101" charset="-122"/>
        </a:defRPr>
      </a:pPr>
    </a:p>
  </c:tx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  <a:r>
              <a:rPr lang="en-US" altLang="zh-CN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rPr>
              <a:t>桶均交易</a:t>
            </a:r>
            <a:endParaRPr lang="en-US" altLang="zh-CN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华文楷体" panose="02010600040101010101" charset="-122"/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'[2601月报数据准备(2).xlsx]对照组增加排除数据'!$L$56</c:f>
              <c:strCache>
                <c:ptCount val="1"/>
                <c:pt idx="0">
                  <c:v>对照组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  <a:sym typeface="华文楷体" panose="02010600040101010101" charset="-122"/>
                  </a:defRPr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'[2601月报数据准备(2).xlsx]对照组增加排除数据'!$M$55:$N$55</c:f>
              <c:strCache>
                <c:ptCount val="2"/>
                <c:pt idx="0">
                  <c:v>before（1201-1226）</c:v>
                </c:pt>
                <c:pt idx="1">
                  <c:v>after（1226-0125）</c:v>
                </c:pt>
              </c:strCache>
            </c:strRef>
          </c:cat>
          <c:val>
            <c:numRef>
              <c:f>'[2601月报数据准备(2).xlsx]对照组增加排除数据'!$M$56:$N$56</c:f>
              <c:numCache>
                <c:formatCode>_ * #,##0_ ;_ * \-#,##0_ ;_ * "-"??_ ;_ @_ </c:formatCode>
                <c:ptCount val="2"/>
                <c:pt idx="0">
                  <c:v>260.399</c:v>
                </c:pt>
                <c:pt idx="1">
                  <c:v>255.781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'[2601月报数据准备(2).xlsx]对照组增加排除数据'!$L$57</c:f>
              <c:strCache>
                <c:ptCount val="1"/>
                <c:pt idx="0">
                  <c:v>实验组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  <a:sym typeface="华文楷体" panose="02010600040101010101" charset="-122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'[2601月报数据准备(2).xlsx]对照组增加排除数据'!$M$55:$N$55</c:f>
              <c:strCache>
                <c:ptCount val="2"/>
                <c:pt idx="0">
                  <c:v>before（1201-1226）</c:v>
                </c:pt>
                <c:pt idx="1">
                  <c:v>after（1226-0125）</c:v>
                </c:pt>
              </c:strCache>
            </c:strRef>
          </c:cat>
          <c:val>
            <c:numRef>
              <c:f>'[2601月报数据准备(2).xlsx]对照组增加排除数据'!$M$57:$N$57</c:f>
              <c:numCache>
                <c:formatCode>_ * #,##0_ ;_ * \-#,##0_ ;_ * "-"??_ ;_ @_ </c:formatCode>
                <c:ptCount val="2"/>
                <c:pt idx="0">
                  <c:v>270.8235</c:v>
                </c:pt>
                <c:pt idx="1">
                  <c:v>267.4465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0"/>
        <c:smooth val="0"/>
        <c:axId val="382135908"/>
        <c:axId val="921306208"/>
      </c:lineChart>
      <c:catAx>
        <c:axId val="382135908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921306208"/>
        <c:crosses val="autoZero"/>
        <c:auto val="1"/>
        <c:lblAlgn val="ctr"/>
        <c:lblOffset val="100"/>
        <c:noMultiLvlLbl val="0"/>
      </c:catAx>
      <c:valAx>
        <c:axId val="921306208"/>
        <c:scaling>
          <c:orientation val="minMax"/>
          <c:max val="290"/>
          <c:min val="230"/>
        </c:scaling>
        <c:delete val="0"/>
        <c:axPos val="l"/>
        <c:numFmt formatCode="_ * #,##0_ ;_ * \-#,##0_ ;_ * &quot;-&quot;??_ ;_ @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3821359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华文楷体" panose="02010600040101010101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9ed378d0-24dc-4a5d-af83-acba8184797a}"/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lang="zh-CN">
          <a:latin typeface="华文楷体" panose="02010600040101010101" charset="-122"/>
          <a:ea typeface="华文楷体" panose="02010600040101010101" charset="-122"/>
          <a:cs typeface="华文楷体" panose="02010600040101010101" charset="-122"/>
          <a:sym typeface="华文楷体" panose="02010600040101010101" charset="-122"/>
        </a:defRPr>
      </a:pPr>
    </a:p>
  </c:tx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4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  <a:r>
              <a:rPr sz="1440"/>
              <a:t>腾讯实验组竞得率</a:t>
            </a:r>
            <a:endParaRPr sz="1440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131594083812654"/>
          <c:y val="0.276532137518685"/>
          <c:w val="0.823212818405916"/>
          <c:h val="0.54884155455904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[2025Q4竞得率情况.xlsx]Sheet1!$C$9</c:f>
              <c:strCache>
                <c:ptCount val="1"/>
                <c:pt idx="0">
                  <c:v>实验组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  <a:sym typeface="华文楷体" panose="02010600040101010101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[2025Q4竞得率情况.xlsx]Sheet1!$B$10:$B$13</c:f>
              <c:strCache>
                <c:ptCount val="4"/>
                <c:pt idx="0">
                  <c:v>1Q</c:v>
                </c:pt>
                <c:pt idx="1">
                  <c:v>2Q</c:v>
                </c:pt>
                <c:pt idx="2">
                  <c:v>3Q</c:v>
                </c:pt>
                <c:pt idx="3">
                  <c:v>UNK</c:v>
                </c:pt>
              </c:strCache>
            </c:strRef>
          </c:cat>
          <c:val>
            <c:numRef>
              <c:f>[2025Q4竞得率情况.xlsx]Sheet1!$C$10:$C$13</c:f>
              <c:numCache>
                <c:formatCode>General</c:formatCode>
                <c:ptCount val="4"/>
                <c:pt idx="1" c:formatCode="0.00%">
                  <c:v>0.005786</c:v>
                </c:pt>
                <c:pt idx="2" c:formatCode="0.00%">
                  <c:v>0.00603</c:v>
                </c:pt>
                <c:pt idx="3" c:formatCode="0.00%">
                  <c:v>0.003286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46"/>
        <c:overlap val="-28"/>
        <c:axId val="900315812"/>
        <c:axId val="603019269"/>
      </c:barChart>
      <c:catAx>
        <c:axId val="900315812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603019269"/>
        <c:crosses val="autoZero"/>
        <c:auto val="1"/>
        <c:lblAlgn val="ctr"/>
        <c:lblOffset val="100"/>
        <c:noMultiLvlLbl val="0"/>
      </c:catAx>
      <c:valAx>
        <c:axId val="603019269"/>
        <c:scaling>
          <c:orientation val="minMax"/>
          <c:max val="0.007"/>
        </c:scaling>
        <c:delete val="0"/>
        <c:axPos val="l"/>
        <c:numFmt formatCode="0.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9003158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华文楷体" panose="02010600040101010101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e9c1eaa7-28b2-4162-8ab8-0015ee9e673a}"/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lang="zh-CN" sz="1200">
          <a:latin typeface="华文楷体" panose="02010600040101010101" charset="-122"/>
          <a:ea typeface="华文楷体" panose="02010600040101010101" charset="-122"/>
          <a:cs typeface="华文楷体" panose="02010600040101010101" charset="-122"/>
          <a:sym typeface="华文楷体" panose="02010600040101010101" charset="-122"/>
        </a:defRPr>
      </a:pPr>
    </a:p>
  </c:txPr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4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  <a:r>
              <a:rPr sz="1440"/>
              <a:t>腾讯对照组竞得率</a:t>
            </a:r>
            <a:endParaRPr sz="1440"/>
          </a:p>
        </c:rich>
      </c:tx>
      <c:layout>
        <c:manualLayout>
          <c:xMode val="edge"/>
          <c:yMode val="edge"/>
          <c:x val="0.284511092851274"/>
          <c:y val="0.0225352112676056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127485620377979"/>
          <c:y val="0.24"/>
          <c:w val="0.827321281840592"/>
          <c:h val="0.56815023474178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[2025Q4竞得率情况.xlsx]Sheet1!$G$11</c:f>
              <c:strCache>
                <c:ptCount val="1"/>
                <c:pt idx="0">
                  <c:v>对照组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  <a:sym typeface="华文楷体" panose="02010600040101010101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[2025Q4竞得率情况.xlsx]Sheet1!$F$12:$F$15</c:f>
              <c:strCache>
                <c:ptCount val="4"/>
                <c:pt idx="0">
                  <c:v>1Q</c:v>
                </c:pt>
                <c:pt idx="1">
                  <c:v>2Q</c:v>
                </c:pt>
                <c:pt idx="2">
                  <c:v>3Q</c:v>
                </c:pt>
                <c:pt idx="3">
                  <c:v>UNK</c:v>
                </c:pt>
              </c:strCache>
            </c:strRef>
          </c:cat>
          <c:val>
            <c:numRef>
              <c:f>[2025Q4竞得率情况.xlsx]Sheet1!$G$12:$G$15</c:f>
              <c:numCache>
                <c:formatCode>0.00%</c:formatCode>
                <c:ptCount val="4"/>
                <c:pt idx="0">
                  <c:v>0.001346</c:v>
                </c:pt>
                <c:pt idx="1">
                  <c:v>0.004878</c:v>
                </c:pt>
                <c:pt idx="2">
                  <c:v>0.006286</c:v>
                </c:pt>
                <c:pt idx="3">
                  <c:v>0.002788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46"/>
        <c:overlap val="-28"/>
        <c:axId val="900315812"/>
        <c:axId val="603019269"/>
      </c:barChart>
      <c:catAx>
        <c:axId val="900315812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603019269"/>
        <c:crosses val="autoZero"/>
        <c:auto val="1"/>
        <c:lblAlgn val="ctr"/>
        <c:lblOffset val="100"/>
        <c:noMultiLvlLbl val="0"/>
      </c:catAx>
      <c:valAx>
        <c:axId val="603019269"/>
        <c:scaling>
          <c:orientation val="minMax"/>
          <c:max val="0.007"/>
        </c:scaling>
        <c:delete val="0"/>
        <c:axPos val="l"/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9003158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华文楷体" panose="02010600040101010101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6356659a-57d7-463b-a447-f541a7ad7bad}"/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lang="zh-CN" sz="1200">
          <a:latin typeface="华文楷体" panose="02010600040101010101" charset="-122"/>
          <a:ea typeface="华文楷体" panose="02010600040101010101" charset="-122"/>
          <a:cs typeface="华文楷体" panose="02010600040101010101" charset="-122"/>
          <a:sym typeface="华文楷体" panose="02010600040101010101" charset="-122"/>
        </a:defRPr>
      </a:pPr>
    </a:p>
  </c:txPr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4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  <a:r>
              <a:rPr sz="1440"/>
              <a:t>抖音竞得率</a:t>
            </a:r>
            <a:endParaRPr sz="1440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132621199671323"/>
          <c:y val="0.229820627802691"/>
          <c:w val="0.827321281840592"/>
          <c:h val="0.57817638266068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'[2601月报数据准备(3).xlsx]出价策略调整数据'!$T$34</c:f>
              <c:strCache>
                <c:ptCount val="1"/>
                <c:pt idx="0">
                  <c:v>竞得率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  <a:sym typeface="华文楷体" panose="02010600040101010101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'[2601月报数据准备(3).xlsx]出价策略调整数据'!$S$35:$S$38</c:f>
              <c:strCache>
                <c:ptCount val="4"/>
                <c:pt idx="0" c:formatCode="0%">
                  <c:v>1Q</c:v>
                </c:pt>
                <c:pt idx="1" c:formatCode="0%">
                  <c:v>2Q</c:v>
                </c:pt>
                <c:pt idx="2" c:formatCode="0%">
                  <c:v>3Q</c:v>
                </c:pt>
                <c:pt idx="3" c:formatCode="0%">
                  <c:v>UNK</c:v>
                </c:pt>
              </c:strCache>
            </c:strRef>
          </c:cat>
          <c:val>
            <c:numRef>
              <c:f>'[2601月报数据准备(3).xlsx]出价策略调整数据'!$T$35:$T$38</c:f>
              <c:numCache>
                <c:formatCode>0.0%</c:formatCode>
                <c:ptCount val="4"/>
                <c:pt idx="0">
                  <c:v>0.00233333333333333</c:v>
                </c:pt>
                <c:pt idx="1">
                  <c:v>0.00316666666666667</c:v>
                </c:pt>
                <c:pt idx="2">
                  <c:v>0.00423333333333333</c:v>
                </c:pt>
                <c:pt idx="3">
                  <c:v>0.000866666666666667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46"/>
        <c:overlap val="-28"/>
        <c:axId val="900315812"/>
        <c:axId val="603019269"/>
      </c:barChart>
      <c:catAx>
        <c:axId val="900315812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603019269"/>
        <c:crosses val="autoZero"/>
        <c:auto val="1"/>
        <c:lblAlgn val="ctr"/>
        <c:lblOffset val="100"/>
        <c:noMultiLvlLbl val="0"/>
      </c:catAx>
      <c:valAx>
        <c:axId val="603019269"/>
        <c:scaling>
          <c:orientation val="minMax"/>
        </c:scaling>
        <c:delete val="0"/>
        <c:axPos val="l"/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9003158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华文楷体" panose="02010600040101010101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6356659a-57d7-463b-a447-f541a7ad7bad}"/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lang="zh-CN" sz="1200">
          <a:latin typeface="华文楷体" panose="02010600040101010101" charset="-122"/>
          <a:ea typeface="华文楷体" panose="02010600040101010101" charset="-122"/>
          <a:cs typeface="华文楷体" panose="02010600040101010101" charset="-122"/>
          <a:sym typeface="华文楷体" panose="02010600040101010101" charset="-122"/>
        </a:defRPr>
      </a:pPr>
    </a:p>
  </c:txPr>
  <c:externalData r:id="rId1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4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  <a:r>
              <a:rPr lang="en-US" altLang="zh-CN" sz="144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rPr>
              <a:t>byPreA出价系数</a:t>
            </a:r>
            <a:endParaRPr sz="144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华文楷体" panose="02010600040101010101" charset="-122"/>
            </a:endParaRPr>
          </a:p>
        </c:rich>
      </c:tx>
      <c:layout>
        <c:manualLayout>
          <c:xMode val="edge"/>
          <c:yMode val="edge"/>
          <c:x val="0.380732753020657"/>
          <c:y val="0.0322201317027281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'[2601月报数据准备(3).xlsx]出价策略调整数据'!$G$48</c:f>
              <c:strCache>
                <c:ptCount val="1"/>
                <c:pt idx="0">
                  <c:v>v8.2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Lbl>
              <c:idx val="8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  <a:sym typeface="华文楷体" panose="02010600040101010101" charset="-122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'[2601月报数据准备(3).xlsx]出价策略调整数据'!$F$49:$F$58</c:f>
              <c:strCache>
                <c:ptCount val="10"/>
                <c:pt idx="0">
                  <c:v>2q</c:v>
                </c:pt>
                <c:pt idx="1">
                  <c:v>3q</c:v>
                </c:pt>
                <c:pt idx="2">
                  <c:v>4q</c:v>
                </c:pt>
                <c:pt idx="3">
                  <c:v>5q</c:v>
                </c:pt>
                <c:pt idx="4">
                  <c:v>6q</c:v>
                </c:pt>
                <c:pt idx="5">
                  <c:v>7q</c:v>
                </c:pt>
                <c:pt idx="6">
                  <c:v>8q</c:v>
                </c:pt>
                <c:pt idx="7">
                  <c:v>9q</c:v>
                </c:pt>
                <c:pt idx="8">
                  <c:v>10q</c:v>
                </c:pt>
                <c:pt idx="9">
                  <c:v>11q</c:v>
                </c:pt>
              </c:strCache>
            </c:strRef>
          </c:cat>
          <c:val>
            <c:numRef>
              <c:f>'[2601月报数据准备(3).xlsx]出价策略调整数据'!$G$49:$G$58</c:f>
              <c:numCache>
                <c:formatCode>0.00_);[Red]\(0.00\)</c:formatCode>
                <c:ptCount val="10"/>
                <c:pt idx="0">
                  <c:v>0.753827329724687</c:v>
                </c:pt>
                <c:pt idx="1">
                  <c:v>0.757389084383185</c:v>
                </c:pt>
                <c:pt idx="2">
                  <c:v>0.778211140424999</c:v>
                </c:pt>
                <c:pt idx="3">
                  <c:v>0.785015490579448</c:v>
                </c:pt>
                <c:pt idx="4">
                  <c:v>0.776588184823157</c:v>
                </c:pt>
                <c:pt idx="5">
                  <c:v>0.748284666042218</c:v>
                </c:pt>
                <c:pt idx="6">
                  <c:v>1.22986807136312</c:v>
                </c:pt>
                <c:pt idx="7">
                  <c:v>1.21143618477335</c:v>
                </c:pt>
                <c:pt idx="8">
                  <c:v>1.19737084050331</c:v>
                </c:pt>
                <c:pt idx="9">
                  <c:v>1.15672538638599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'[2601月报数据准备(3).xlsx]出价策略调整数据'!$H$48</c:f>
              <c:strCache>
                <c:ptCount val="1"/>
                <c:pt idx="0">
                  <c:v>V8.3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  <a:sym typeface="华文楷体" panose="02010600040101010101" charset="-122"/>
                  </a:defRPr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'[2601月报数据准备(3).xlsx]出价策略调整数据'!$F$49:$F$58</c:f>
              <c:strCache>
                <c:ptCount val="10"/>
                <c:pt idx="0">
                  <c:v>2q</c:v>
                </c:pt>
                <c:pt idx="1">
                  <c:v>3q</c:v>
                </c:pt>
                <c:pt idx="2">
                  <c:v>4q</c:v>
                </c:pt>
                <c:pt idx="3">
                  <c:v>5q</c:v>
                </c:pt>
                <c:pt idx="4">
                  <c:v>6q</c:v>
                </c:pt>
                <c:pt idx="5">
                  <c:v>7q</c:v>
                </c:pt>
                <c:pt idx="6">
                  <c:v>8q</c:v>
                </c:pt>
                <c:pt idx="7">
                  <c:v>9q</c:v>
                </c:pt>
                <c:pt idx="8">
                  <c:v>10q</c:v>
                </c:pt>
                <c:pt idx="9">
                  <c:v>11q</c:v>
                </c:pt>
              </c:strCache>
            </c:strRef>
          </c:cat>
          <c:val>
            <c:numRef>
              <c:f>'[2601月报数据准备(3).xlsx]出价策略调整数据'!$H$49:$H$58</c:f>
              <c:numCache>
                <c:formatCode>0.00_);[Red]\(0.00\)</c:formatCode>
                <c:ptCount val="10"/>
                <c:pt idx="0">
                  <c:v>0.4</c:v>
                </c:pt>
                <c:pt idx="1">
                  <c:v>0.4</c:v>
                </c:pt>
                <c:pt idx="2">
                  <c:v>0.4</c:v>
                </c:pt>
                <c:pt idx="3">
                  <c:v>0.4</c:v>
                </c:pt>
                <c:pt idx="4">
                  <c:v>0.7</c:v>
                </c:pt>
                <c:pt idx="5">
                  <c:v>0.7</c:v>
                </c:pt>
                <c:pt idx="6">
                  <c:v>1</c:v>
                </c:pt>
                <c:pt idx="7">
                  <c:v>1</c:v>
                </c:pt>
                <c:pt idx="8">
                  <c:v>1.5</c:v>
                </c:pt>
                <c:pt idx="9">
                  <c:v>2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0"/>
        <c:smooth val="0"/>
        <c:axId val="975010796"/>
        <c:axId val="882666975"/>
      </c:lineChart>
      <c:catAx>
        <c:axId val="97501079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882666975"/>
        <c:crosses val="autoZero"/>
        <c:auto val="1"/>
        <c:lblAlgn val="ctr"/>
        <c:lblOffset val="100"/>
        <c:noMultiLvlLbl val="0"/>
      </c:catAx>
      <c:valAx>
        <c:axId val="882666975"/>
        <c:scaling>
          <c:orientation val="minMax"/>
        </c:scaling>
        <c:delete val="0"/>
        <c:axPos val="l"/>
        <c:numFmt formatCode="0.00_);[Red]\(0.0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9750107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华文楷体" panose="02010600040101010101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8d6ca378-98bc-49c6-b8ec-a795d80fda71}"/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lang="zh-CN" sz="1200">
          <a:latin typeface="华文楷体" panose="02010600040101010101" charset="-122"/>
          <a:ea typeface="华文楷体" panose="02010600040101010101" charset="-122"/>
          <a:cs typeface="华文楷体" panose="02010600040101010101" charset="-122"/>
          <a:sym typeface="华文楷体" panose="02010600040101010101" charset="-122"/>
        </a:defRPr>
      </a:pPr>
    </a:p>
  </c:txPr>
  <c:externalData r:id="rId1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4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  <a:r>
              <a:rPr lang="en-US" altLang="zh-CN" sz="144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rPr>
              <a:t>byPreG出价系数</a:t>
            </a:r>
            <a:endParaRPr sz="144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华文楷体" panose="02010600040101010101" charset="-122"/>
            </a:endParaRPr>
          </a:p>
        </c:rich>
      </c:tx>
      <c:layout>
        <c:manualLayout>
          <c:xMode val="edge"/>
          <c:yMode val="edge"/>
          <c:x val="0.380732753020657"/>
          <c:y val="0.0322201317027281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'[2601月报数据准备(3).xlsx]出价策略调整数据'!$G$60</c:f>
              <c:strCache>
                <c:ptCount val="1"/>
                <c:pt idx="0">
                  <c:v>v8.2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  <a:sym typeface="华文楷体" panose="02010600040101010101" charset="-122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'[2601月报数据准备(3).xlsx]出价策略调整数据'!$F$61:$F$70</c:f>
              <c:strCache>
                <c:ptCount val="10"/>
                <c:pt idx="0">
                  <c:v>1w</c:v>
                </c:pt>
                <c:pt idx="1">
                  <c:v>2w</c:v>
                </c:pt>
                <c:pt idx="2">
                  <c:v>3w</c:v>
                </c:pt>
                <c:pt idx="3">
                  <c:v>4w</c:v>
                </c:pt>
                <c:pt idx="4">
                  <c:v>5w</c:v>
                </c:pt>
                <c:pt idx="5">
                  <c:v>6w</c:v>
                </c:pt>
                <c:pt idx="6">
                  <c:v>7w</c:v>
                </c:pt>
                <c:pt idx="7">
                  <c:v>8w</c:v>
                </c:pt>
                <c:pt idx="8">
                  <c:v>9w</c:v>
                </c:pt>
                <c:pt idx="9">
                  <c:v>10w</c:v>
                </c:pt>
              </c:strCache>
            </c:strRef>
          </c:cat>
          <c:val>
            <c:numRef>
              <c:f>'[2601月报数据准备(3).xlsx]出价策略调整数据'!$G$61:$G$70</c:f>
              <c:numCache>
                <c:formatCode>0.00_);[Red]\(0.00\)</c:formatCode>
                <c:ptCount val="10"/>
                <c:pt idx="0">
                  <c:v>0.507934553652352</c:v>
                </c:pt>
                <c:pt idx="1">
                  <c:v>0.552724269916851</c:v>
                </c:pt>
                <c:pt idx="2">
                  <c:v>0.613745093672209</c:v>
                </c:pt>
                <c:pt idx="3">
                  <c:v>0.635107058489733</c:v>
                </c:pt>
                <c:pt idx="4">
                  <c:v>0.716793741985755</c:v>
                </c:pt>
                <c:pt idx="5">
                  <c:v>0.796225928379249</c:v>
                </c:pt>
                <c:pt idx="6">
                  <c:v>1.05637061809194</c:v>
                </c:pt>
                <c:pt idx="7">
                  <c:v>1.22679883064292</c:v>
                </c:pt>
                <c:pt idx="8">
                  <c:v>1.38154935974854</c:v>
                </c:pt>
                <c:pt idx="9">
                  <c:v>1.60302173833664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'[2601月报数据准备(3).xlsx]出价策略调整数据'!$H$60</c:f>
              <c:strCache>
                <c:ptCount val="1"/>
                <c:pt idx="0">
                  <c:v>V8.3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Lbl>
              <c:idx val="6"/>
              <c:delete val="1"/>
            </c:dLbl>
            <c:dLbl>
              <c:idx val="7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  <a:sym typeface="华文楷体" panose="02010600040101010101" charset="-122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'[2601月报数据准备(3).xlsx]出价策略调整数据'!$F$61:$F$70</c:f>
              <c:strCache>
                <c:ptCount val="10"/>
                <c:pt idx="0">
                  <c:v>1w</c:v>
                </c:pt>
                <c:pt idx="1">
                  <c:v>2w</c:v>
                </c:pt>
                <c:pt idx="2">
                  <c:v>3w</c:v>
                </c:pt>
                <c:pt idx="3">
                  <c:v>4w</c:v>
                </c:pt>
                <c:pt idx="4">
                  <c:v>5w</c:v>
                </c:pt>
                <c:pt idx="5">
                  <c:v>6w</c:v>
                </c:pt>
                <c:pt idx="6">
                  <c:v>7w</c:v>
                </c:pt>
                <c:pt idx="7">
                  <c:v>8w</c:v>
                </c:pt>
                <c:pt idx="8">
                  <c:v>9w</c:v>
                </c:pt>
                <c:pt idx="9">
                  <c:v>10w</c:v>
                </c:pt>
              </c:strCache>
            </c:strRef>
          </c:cat>
          <c:val>
            <c:numRef>
              <c:f>'[2601月报数据准备(3).xlsx]出价策略调整数据'!$H$61:$H$70</c:f>
              <c:numCache>
                <c:formatCode>0.00_);[Red]\(0.00\)</c:formatCode>
                <c:ptCount val="10"/>
                <c:pt idx="0">
                  <c:v>1.45303148371815</c:v>
                </c:pt>
                <c:pt idx="1">
                  <c:v>1.34527043512116</c:v>
                </c:pt>
                <c:pt idx="2">
                  <c:v>1.26905593036328</c:v>
                </c:pt>
                <c:pt idx="3">
                  <c:v>1.22190663738683</c:v>
                </c:pt>
                <c:pt idx="4">
                  <c:v>1.21430857618745</c:v>
                </c:pt>
                <c:pt idx="5">
                  <c:v>1.18582536051605</c:v>
                </c:pt>
                <c:pt idx="6">
                  <c:v>1.156158398736</c:v>
                </c:pt>
                <c:pt idx="7">
                  <c:v>1.13601701631268</c:v>
                </c:pt>
                <c:pt idx="8">
                  <c:v>1.11038167235377</c:v>
                </c:pt>
                <c:pt idx="9">
                  <c:v>1.13068399565207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0"/>
        <c:smooth val="0"/>
        <c:axId val="975010796"/>
        <c:axId val="882666975"/>
      </c:lineChart>
      <c:catAx>
        <c:axId val="97501079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882666975"/>
        <c:crosses val="autoZero"/>
        <c:auto val="1"/>
        <c:lblAlgn val="ctr"/>
        <c:lblOffset val="100"/>
        <c:noMultiLvlLbl val="0"/>
      </c:catAx>
      <c:valAx>
        <c:axId val="882666975"/>
        <c:scaling>
          <c:orientation val="minMax"/>
          <c:max val="2.5"/>
        </c:scaling>
        <c:delete val="0"/>
        <c:axPos val="l"/>
        <c:numFmt formatCode="0.00_);[Red]\(0.0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9750107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华文楷体" panose="02010600040101010101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13e33db0-392f-4ab3-9e42-2da304e09c43}"/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lang="zh-CN" sz="1200">
          <a:latin typeface="华文楷体" panose="02010600040101010101" charset="-122"/>
          <a:ea typeface="华文楷体" panose="02010600040101010101" charset="-122"/>
          <a:cs typeface="华文楷体" panose="02010600040101010101" charset="-122"/>
          <a:sym typeface="华文楷体" panose="02010600040101010101" charset="-122"/>
        </a:defRPr>
      </a:pPr>
    </a:p>
  </c:txPr>
  <c:externalData r:id="rId1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4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  <a:r>
              <a:rPr lang="en-US" altLang="zh-CN" sz="144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rPr>
              <a:t>两版本竞得率对比</a:t>
            </a:r>
            <a:endParaRPr sz="144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华文楷体" panose="02010600040101010101" charset="-122"/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[竞得率二维vs单维.xlsx]Sheet1!$B$2</c:f>
              <c:strCache>
                <c:ptCount val="1"/>
                <c:pt idx="0">
                  <c:v>V8.2-转化加权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[竞得率二维vs单维.xlsx]Sheet1!$A$3:$A$12</c:f>
              <c:strCache>
                <c:ptCount val="10"/>
                <c:pt idx="0">
                  <c:v>02q</c:v>
                </c:pt>
                <c:pt idx="1">
                  <c:v>03q</c:v>
                </c:pt>
                <c:pt idx="2">
                  <c:v>04q</c:v>
                </c:pt>
                <c:pt idx="3">
                  <c:v>05q</c:v>
                </c:pt>
                <c:pt idx="4">
                  <c:v>06q</c:v>
                </c:pt>
                <c:pt idx="5">
                  <c:v>07q</c:v>
                </c:pt>
                <c:pt idx="6">
                  <c:v>08q</c:v>
                </c:pt>
                <c:pt idx="7">
                  <c:v>09q</c:v>
                </c:pt>
                <c:pt idx="8">
                  <c:v>10q</c:v>
                </c:pt>
                <c:pt idx="9">
                  <c:v>11q</c:v>
                </c:pt>
              </c:strCache>
            </c:strRef>
          </c:cat>
          <c:val>
            <c:numRef>
              <c:f>[竞得率二维vs单维.xlsx]Sheet1!$B$3:$B$12</c:f>
              <c:numCache>
                <c:formatCode>0.00%</c:formatCode>
                <c:ptCount val="10"/>
                <c:pt idx="0">
                  <c:v>0.001342</c:v>
                </c:pt>
                <c:pt idx="1">
                  <c:v>0.00171</c:v>
                </c:pt>
                <c:pt idx="2">
                  <c:v>0.002218</c:v>
                </c:pt>
                <c:pt idx="3">
                  <c:v>0.002654</c:v>
                </c:pt>
                <c:pt idx="4">
                  <c:v>0.003004</c:v>
                </c:pt>
                <c:pt idx="5">
                  <c:v>0.003124</c:v>
                </c:pt>
                <c:pt idx="6">
                  <c:v>0.005466</c:v>
                </c:pt>
                <c:pt idx="7">
                  <c:v>0.005722</c:v>
                </c:pt>
                <c:pt idx="8">
                  <c:v>0.005358</c:v>
                </c:pt>
                <c:pt idx="9">
                  <c:v>0.003646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[竞得率二维vs单维.xlsx]Sheet1!$C$2</c:f>
              <c:strCache>
                <c:ptCount val="1"/>
                <c:pt idx="0">
                  <c:v>V8.3-质量加权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[竞得率二维vs单维.xlsx]Sheet1!$A$3:$A$12</c:f>
              <c:strCache>
                <c:ptCount val="10"/>
                <c:pt idx="0">
                  <c:v>02q</c:v>
                </c:pt>
                <c:pt idx="1">
                  <c:v>03q</c:v>
                </c:pt>
                <c:pt idx="2">
                  <c:v>04q</c:v>
                </c:pt>
                <c:pt idx="3">
                  <c:v>05q</c:v>
                </c:pt>
                <c:pt idx="4">
                  <c:v>06q</c:v>
                </c:pt>
                <c:pt idx="5">
                  <c:v>07q</c:v>
                </c:pt>
                <c:pt idx="6">
                  <c:v>08q</c:v>
                </c:pt>
                <c:pt idx="7">
                  <c:v>09q</c:v>
                </c:pt>
                <c:pt idx="8">
                  <c:v>10q</c:v>
                </c:pt>
                <c:pt idx="9">
                  <c:v>11q</c:v>
                </c:pt>
              </c:strCache>
            </c:strRef>
          </c:cat>
          <c:val>
            <c:numRef>
              <c:f>[竞得率二维vs单维.xlsx]Sheet1!$C$3:$C$12</c:f>
              <c:numCache>
                <c:formatCode>0.00%</c:formatCode>
                <c:ptCount val="10"/>
                <c:pt idx="0">
                  <c:v>0.000756</c:v>
                </c:pt>
                <c:pt idx="1">
                  <c:v>0.000958</c:v>
                </c:pt>
                <c:pt idx="2">
                  <c:v>0.001218</c:v>
                </c:pt>
                <c:pt idx="3">
                  <c:v>0.001434</c:v>
                </c:pt>
                <c:pt idx="4">
                  <c:v>0.002602</c:v>
                </c:pt>
                <c:pt idx="5">
                  <c:v>0.002764</c:v>
                </c:pt>
                <c:pt idx="6">
                  <c:v>0.004786</c:v>
                </c:pt>
                <c:pt idx="7">
                  <c:v>0.00519</c:v>
                </c:pt>
                <c:pt idx="8">
                  <c:v>0.010108</c:v>
                </c:pt>
                <c:pt idx="9">
                  <c:v>0.01223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568596657"/>
        <c:axId val="553361100"/>
      </c:lineChart>
      <c:catAx>
        <c:axId val="568596657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553361100"/>
        <c:crosses val="autoZero"/>
        <c:auto val="1"/>
        <c:lblAlgn val="ctr"/>
        <c:lblOffset val="100"/>
        <c:noMultiLvlLbl val="0"/>
      </c:catAx>
      <c:valAx>
        <c:axId val="553361100"/>
        <c:scaling>
          <c:orientation val="minMax"/>
        </c:scaling>
        <c:delete val="0"/>
        <c:axPos val="l"/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56859665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华文楷体" panose="02010600040101010101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7e024051-da70-4a2c-a362-ad03a8bcf886}"/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lang="zh-CN" sz="1200">
          <a:latin typeface="华文楷体" panose="02010600040101010101" charset="-122"/>
          <a:ea typeface="华文楷体" panose="02010600040101010101" charset="-122"/>
          <a:cs typeface="华文楷体" panose="02010600040101010101" charset="-122"/>
          <a:sym typeface="华文楷体" panose="02010600040101010101" charset="-122"/>
        </a:defRPr>
      </a:pPr>
    </a:p>
  </c:txPr>
  <c:externalData r:id="rId1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440" b="1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华文楷体" panose="02010600040101010101" charset="-122"/>
            </a:defRPr>
          </a:pPr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'[2601月报数据准备(3).xlsx]出价策略调整数据'!$O$92</c:f>
              <c:strCache>
                <c:ptCount val="1"/>
                <c:pt idx="0">
                  <c:v>T3CPS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  <a:sym typeface="华文楷体" panose="02010600040101010101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'[2601月报数据准备(3).xlsx]出价策略调整数据'!$N$93:$N$94</c:f>
              <c:strCache>
                <c:ptCount val="2"/>
                <c:pt idx="0">
                  <c:v>V8.2-转化加权</c:v>
                </c:pt>
                <c:pt idx="1">
                  <c:v>v8.3-质量加权</c:v>
                </c:pt>
              </c:strCache>
            </c:strRef>
          </c:cat>
          <c:val>
            <c:numRef>
              <c:f>'[2601月报数据准备(3).xlsx]出价策略调整数据'!$O$93:$O$94</c:f>
              <c:numCache>
                <c:formatCode>0%</c:formatCode>
                <c:ptCount val="2"/>
                <c:pt idx="0">
                  <c:v>0.16</c:v>
                </c:pt>
                <c:pt idx="1">
                  <c:v>0.19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46"/>
        <c:overlap val="-28"/>
        <c:axId val="347854393"/>
        <c:axId val="922050365"/>
      </c:barChart>
      <c:catAx>
        <c:axId val="347854393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922050365"/>
        <c:crosses val="autoZero"/>
        <c:auto val="1"/>
        <c:lblAlgn val="ctr"/>
        <c:lblOffset val="100"/>
        <c:noMultiLvlLbl val="0"/>
      </c:catAx>
      <c:valAx>
        <c:axId val="922050365"/>
        <c:scaling>
          <c:orientation val="minMax"/>
          <c:max val="0.25"/>
          <c:min val="0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34785439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华文楷体" panose="02010600040101010101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a1331f13-ee5d-4ee6-a6fb-85a7620aa316}"/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lang="zh-CN" sz="1200">
          <a:latin typeface="华文楷体" panose="02010600040101010101" charset="-122"/>
          <a:ea typeface="华文楷体" panose="02010600040101010101" charset="-122"/>
          <a:cs typeface="华文楷体" panose="02010600040101010101" charset="-122"/>
          <a:sym typeface="华文楷体" panose="02010600040101010101" charset="-122"/>
        </a:defRPr>
      </a:pPr>
    </a:p>
  </c:txPr>
  <c:externalData r:id="rId1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440" b="1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华文楷体" panose="02010600040101010101" charset="-122"/>
            </a:defRPr>
          </a:pPr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'[2601月报数据准备(3).xlsx]出价策略调整数据'!$O$99</c:f>
              <c:strCache>
                <c:ptCount val="1"/>
                <c:pt idx="0">
                  <c:v>1-3过件率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  <a:sym typeface="华文楷体" panose="02010600040101010101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'[2601月报数据准备(3).xlsx]出价策略调整数据'!$N$100:$N$101</c:f>
              <c:strCache>
                <c:ptCount val="2"/>
                <c:pt idx="0">
                  <c:v>V8.2-转化加权</c:v>
                </c:pt>
                <c:pt idx="1">
                  <c:v>v8.3-质量加权</c:v>
                </c:pt>
              </c:strCache>
            </c:strRef>
          </c:cat>
          <c:val>
            <c:numRef>
              <c:f>'[2601月报数据准备(3).xlsx]出价策略调整数据'!$O$100:$O$101</c:f>
              <c:numCache>
                <c:formatCode>0%</c:formatCode>
                <c:ptCount val="2"/>
                <c:pt idx="0">
                  <c:v>0.17</c:v>
                </c:pt>
                <c:pt idx="1">
                  <c:v>0.2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46"/>
        <c:overlap val="-28"/>
        <c:axId val="347854393"/>
        <c:axId val="922050365"/>
      </c:barChart>
      <c:catAx>
        <c:axId val="347854393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922050365"/>
        <c:crosses val="autoZero"/>
        <c:auto val="1"/>
        <c:lblAlgn val="ctr"/>
        <c:lblOffset val="100"/>
        <c:noMultiLvlLbl val="0"/>
      </c:catAx>
      <c:valAx>
        <c:axId val="922050365"/>
        <c:scaling>
          <c:orientation val="minMax"/>
          <c:max val="0.25"/>
          <c:min val="0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34785439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华文楷体" panose="02010600040101010101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a4986636-243a-4511-aea2-4507837cb114}"/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lang="zh-CN" sz="1200">
          <a:latin typeface="华文楷体" panose="02010600040101010101" charset="-122"/>
          <a:ea typeface="华文楷体" panose="02010600040101010101" charset="-122"/>
          <a:cs typeface="华文楷体" panose="02010600040101010101" charset="-122"/>
          <a:sym typeface="华文楷体" panose="02010600040101010101" charset="-122"/>
        </a:defRPr>
      </a:pPr>
    </a:p>
  </c:txPr>
  <c:externalData r:id="rId1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  <a:r>
              <a:rPr altLang="en-US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rPr>
              <a:t>申</a:t>
            </a:r>
            <a:r>
              <a:rPr lang="en-US" altLang="zh-CN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rPr>
              <a:t>完占比</a:t>
            </a:r>
            <a:endParaRPr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华文楷体" panose="02010600040101010101" charset="-122"/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76095773910768"/>
          <c:y val="0.178587699316629"/>
          <c:w val="0.89511971738846"/>
          <c:h val="0.61353075170842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'[20260116_腾讯RTAV9策略开发_林福民.xlsx]1.模型选择'!$AC$119</c:f>
              <c:strCache>
                <c:ptCount val="1"/>
                <c:pt idx="0">
                  <c:v>ato_safe_rn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'[20260116_腾讯RTAV9策略开发_林福民.xlsx]1.模型选择'!$AB$120:$AB$132</c:f>
              <c:strCache>
                <c:ptCount val="13"/>
                <c:pt idx="0">
                  <c:v>1-8q</c:v>
                </c:pt>
                <c:pt idx="1">
                  <c:v>09q</c:v>
                </c:pt>
                <c:pt idx="2">
                  <c:v>10q</c:v>
                </c:pt>
                <c:pt idx="3">
                  <c:v>11q</c:v>
                </c:pt>
                <c:pt idx="4">
                  <c:v>12q</c:v>
                </c:pt>
                <c:pt idx="5">
                  <c:v>13q</c:v>
                </c:pt>
                <c:pt idx="6">
                  <c:v>14q</c:v>
                </c:pt>
                <c:pt idx="7">
                  <c:v>15q</c:v>
                </c:pt>
                <c:pt idx="8">
                  <c:v>16q</c:v>
                </c:pt>
                <c:pt idx="9">
                  <c:v>17q</c:v>
                </c:pt>
                <c:pt idx="10">
                  <c:v>18q</c:v>
                </c:pt>
                <c:pt idx="11">
                  <c:v>19q</c:v>
                </c:pt>
                <c:pt idx="12">
                  <c:v>20q</c:v>
                </c:pt>
              </c:strCache>
            </c:strRef>
          </c:cat>
          <c:val>
            <c:numRef>
              <c:f>'[20260116_腾讯RTAV9策略开发_林福民.xlsx]1.模型选择'!$AC$120:$AC$132</c:f>
              <c:numCache>
                <c:formatCode>0%</c:formatCode>
                <c:ptCount val="13"/>
                <c:pt idx="0">
                  <c:v>0.347251585623679</c:v>
                </c:pt>
                <c:pt idx="1">
                  <c:v>0.0346194503171247</c:v>
                </c:pt>
                <c:pt idx="2">
                  <c:v>0.0290697674418605</c:v>
                </c:pt>
                <c:pt idx="3">
                  <c:v>0.0380549682875264</c:v>
                </c:pt>
                <c:pt idx="4">
                  <c:v>0.0459830866807611</c:v>
                </c:pt>
                <c:pt idx="5">
                  <c:v>0.0433403805496829</c:v>
                </c:pt>
                <c:pt idx="6">
                  <c:v>0.0404334038054968</c:v>
                </c:pt>
                <c:pt idx="7">
                  <c:v>0.0465116279069767</c:v>
                </c:pt>
                <c:pt idx="8">
                  <c:v>0.03276955602537</c:v>
                </c:pt>
                <c:pt idx="9">
                  <c:v>0.0383192389006342</c:v>
                </c:pt>
                <c:pt idx="10">
                  <c:v>0.0298625792811839</c:v>
                </c:pt>
                <c:pt idx="11">
                  <c:v>0.0243128964059197</c:v>
                </c:pt>
                <c:pt idx="12">
                  <c:v>0.0150634249471459</c:v>
                </c:pt>
              </c:numCache>
            </c:numRef>
          </c:val>
        </c:ser>
        <c:ser>
          <c:idx val="1"/>
          <c:order val="1"/>
          <c:tx>
            <c:strRef>
              <c:f>'[20260116_腾讯RTAV9策略开发_林福民.xlsx]1.模型选择'!$AD$119</c:f>
              <c:strCache>
                <c:ptCount val="1"/>
                <c:pt idx="0">
                  <c:v>V8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'[20260116_腾讯RTAV9策略开发_林福民.xlsx]1.模型选择'!$AB$120:$AB$132</c:f>
              <c:strCache>
                <c:ptCount val="13"/>
                <c:pt idx="0">
                  <c:v>1-8q</c:v>
                </c:pt>
                <c:pt idx="1">
                  <c:v>09q</c:v>
                </c:pt>
                <c:pt idx="2">
                  <c:v>10q</c:v>
                </c:pt>
                <c:pt idx="3">
                  <c:v>11q</c:v>
                </c:pt>
                <c:pt idx="4">
                  <c:v>12q</c:v>
                </c:pt>
                <c:pt idx="5">
                  <c:v>13q</c:v>
                </c:pt>
                <c:pt idx="6">
                  <c:v>14q</c:v>
                </c:pt>
                <c:pt idx="7">
                  <c:v>15q</c:v>
                </c:pt>
                <c:pt idx="8">
                  <c:v>16q</c:v>
                </c:pt>
                <c:pt idx="9">
                  <c:v>17q</c:v>
                </c:pt>
                <c:pt idx="10">
                  <c:v>18q</c:v>
                </c:pt>
                <c:pt idx="11">
                  <c:v>19q</c:v>
                </c:pt>
                <c:pt idx="12">
                  <c:v>20q</c:v>
                </c:pt>
              </c:strCache>
            </c:strRef>
          </c:cat>
          <c:val>
            <c:numRef>
              <c:f>'[20260116_腾讯RTAV9策略开发_林福民.xlsx]1.模型选择'!$AD$120:$AD$132</c:f>
              <c:numCache>
                <c:formatCode>0%</c:formatCode>
                <c:ptCount val="13"/>
                <c:pt idx="0">
                  <c:v>0.254492600422833</c:v>
                </c:pt>
                <c:pt idx="1">
                  <c:v>0.037262156448203</c:v>
                </c:pt>
                <c:pt idx="2">
                  <c:v>0.0428118393234672</c:v>
                </c:pt>
                <c:pt idx="3">
                  <c:v>0.0436046511627907</c:v>
                </c:pt>
                <c:pt idx="4">
                  <c:v>0.0364693446088795</c:v>
                </c:pt>
                <c:pt idx="5">
                  <c:v>0.0539112050739958</c:v>
                </c:pt>
                <c:pt idx="6">
                  <c:v>0.0552325581395349</c:v>
                </c:pt>
                <c:pt idx="7">
                  <c:v>0.0525898520084567</c:v>
                </c:pt>
                <c:pt idx="8">
                  <c:v>0.0544397463002114</c:v>
                </c:pt>
                <c:pt idx="9">
                  <c:v>0.0465116279069767</c:v>
                </c:pt>
                <c:pt idx="10">
                  <c:v>0.0388477801268499</c:v>
                </c:pt>
                <c:pt idx="11">
                  <c:v>0.0301268498942918</c:v>
                </c:pt>
                <c:pt idx="12">
                  <c:v>0.019291754756871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46"/>
        <c:overlap val="-28"/>
        <c:axId val="329951334"/>
        <c:axId val="908513335"/>
      </c:barChart>
      <c:catAx>
        <c:axId val="32995133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908513335"/>
        <c:crosses val="autoZero"/>
        <c:auto val="1"/>
        <c:lblAlgn val="ctr"/>
        <c:lblOffset val="100"/>
        <c:noMultiLvlLbl val="0"/>
      </c:catAx>
      <c:valAx>
        <c:axId val="908513335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32995133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华文楷体" panose="02010600040101010101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68d0dbdd-0220-4dc1-8e28-f41689c8b60b}"/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lang="zh-CN">
          <a:latin typeface="华文楷体" panose="02010600040101010101" charset="-122"/>
          <a:ea typeface="华文楷体" panose="02010600040101010101" charset="-122"/>
          <a:cs typeface="华文楷体" panose="02010600040101010101" charset="-122"/>
          <a:sym typeface="华文楷体" panose="02010600040101010101" charset="-122"/>
        </a:defRPr>
      </a:pPr>
    </a:p>
  </c:txPr>
  <c:externalData r:id="rId1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  <a:r>
              <a:rPr lang="en-US" altLang="zh-CN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rPr>
              <a:t>过件率排序</a:t>
            </a:r>
            <a:endParaRPr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华文楷体" panose="02010600040101010101" charset="-122"/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'[20260116_腾讯RTAV9策略开发_林福民.xlsx]1.模型选择'!$AD$120</c:f>
              <c:strCache>
                <c:ptCount val="1"/>
                <c:pt idx="0">
                  <c:v>V9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'[20260116_腾讯RTAV9策略开发_林福民.xlsx]1.模型选择'!$AC$121:$AC$133</c:f>
              <c:strCache>
                <c:ptCount val="13"/>
                <c:pt idx="0">
                  <c:v>1-8q</c:v>
                </c:pt>
                <c:pt idx="1">
                  <c:v>09q</c:v>
                </c:pt>
                <c:pt idx="2">
                  <c:v>10q</c:v>
                </c:pt>
                <c:pt idx="3">
                  <c:v>11q</c:v>
                </c:pt>
                <c:pt idx="4">
                  <c:v>12q</c:v>
                </c:pt>
                <c:pt idx="5">
                  <c:v>13q</c:v>
                </c:pt>
                <c:pt idx="6">
                  <c:v>14q</c:v>
                </c:pt>
                <c:pt idx="7">
                  <c:v>15q</c:v>
                </c:pt>
                <c:pt idx="8">
                  <c:v>16q</c:v>
                </c:pt>
                <c:pt idx="9">
                  <c:v>17q</c:v>
                </c:pt>
                <c:pt idx="10">
                  <c:v>18q</c:v>
                </c:pt>
                <c:pt idx="11">
                  <c:v>19q</c:v>
                </c:pt>
                <c:pt idx="12">
                  <c:v>20q</c:v>
                </c:pt>
              </c:strCache>
            </c:strRef>
          </c:cat>
          <c:val>
            <c:numRef>
              <c:f>'[20260116_腾讯RTAV9策略开发_林福民.xlsx]1.模型选择'!$AD$121:$AD$133</c:f>
              <c:numCache>
                <c:formatCode>0.00%</c:formatCode>
                <c:ptCount val="13"/>
                <c:pt idx="0">
                  <c:v>0.015</c:v>
                </c:pt>
                <c:pt idx="1">
                  <c:v>0.023</c:v>
                </c:pt>
                <c:pt idx="2">
                  <c:v>0.064</c:v>
                </c:pt>
                <c:pt idx="3">
                  <c:v>0.076</c:v>
                </c:pt>
                <c:pt idx="4">
                  <c:v>0.103</c:v>
                </c:pt>
                <c:pt idx="5">
                  <c:v>0.122</c:v>
                </c:pt>
                <c:pt idx="6">
                  <c:v>0.183</c:v>
                </c:pt>
                <c:pt idx="7">
                  <c:v>0.216</c:v>
                </c:pt>
                <c:pt idx="8">
                  <c:v>0.347</c:v>
                </c:pt>
                <c:pt idx="9">
                  <c:v>0.386</c:v>
                </c:pt>
                <c:pt idx="10">
                  <c:v>0.46</c:v>
                </c:pt>
                <c:pt idx="11">
                  <c:v>0.478</c:v>
                </c:pt>
                <c:pt idx="12">
                  <c:v>0.702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'[20260116_腾讯RTAV9策略开发_林福民.xlsx]1.模型选择'!$AE$120</c:f>
              <c:strCache>
                <c:ptCount val="1"/>
                <c:pt idx="0">
                  <c:v>V8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'[20260116_腾讯RTAV9策略开发_林福民.xlsx]1.模型选择'!$AC$121:$AC$133</c:f>
              <c:strCache>
                <c:ptCount val="13"/>
                <c:pt idx="0">
                  <c:v>1-8q</c:v>
                </c:pt>
                <c:pt idx="1">
                  <c:v>09q</c:v>
                </c:pt>
                <c:pt idx="2">
                  <c:v>10q</c:v>
                </c:pt>
                <c:pt idx="3">
                  <c:v>11q</c:v>
                </c:pt>
                <c:pt idx="4">
                  <c:v>12q</c:v>
                </c:pt>
                <c:pt idx="5">
                  <c:v>13q</c:v>
                </c:pt>
                <c:pt idx="6">
                  <c:v>14q</c:v>
                </c:pt>
                <c:pt idx="7">
                  <c:v>15q</c:v>
                </c:pt>
                <c:pt idx="8">
                  <c:v>16q</c:v>
                </c:pt>
                <c:pt idx="9">
                  <c:v>17q</c:v>
                </c:pt>
                <c:pt idx="10">
                  <c:v>18q</c:v>
                </c:pt>
                <c:pt idx="11">
                  <c:v>19q</c:v>
                </c:pt>
                <c:pt idx="12">
                  <c:v>20q</c:v>
                </c:pt>
              </c:strCache>
            </c:strRef>
          </c:cat>
          <c:val>
            <c:numRef>
              <c:f>'[20260116_腾讯RTAV9策略开发_林福民.xlsx]1.模型选择'!$AE$121:$AE$133</c:f>
              <c:numCache>
                <c:formatCode>0.00%</c:formatCode>
                <c:ptCount val="13"/>
                <c:pt idx="0">
                  <c:v>0.013</c:v>
                </c:pt>
                <c:pt idx="1">
                  <c:v>0.064</c:v>
                </c:pt>
                <c:pt idx="2">
                  <c:v>0.099</c:v>
                </c:pt>
                <c:pt idx="3">
                  <c:v>0.067</c:v>
                </c:pt>
                <c:pt idx="4">
                  <c:v>0.101</c:v>
                </c:pt>
                <c:pt idx="5">
                  <c:v>0.137</c:v>
                </c:pt>
                <c:pt idx="6">
                  <c:v>0.144</c:v>
                </c:pt>
                <c:pt idx="7">
                  <c:v>0.226</c:v>
                </c:pt>
                <c:pt idx="8">
                  <c:v>0.155</c:v>
                </c:pt>
                <c:pt idx="9">
                  <c:v>0.278</c:v>
                </c:pt>
                <c:pt idx="10">
                  <c:v>0.272</c:v>
                </c:pt>
                <c:pt idx="11">
                  <c:v>0.421</c:v>
                </c:pt>
                <c:pt idx="12">
                  <c:v>0.616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566220433"/>
        <c:axId val="464296011"/>
      </c:lineChart>
      <c:catAx>
        <c:axId val="566220433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464296011"/>
        <c:crosses val="autoZero"/>
        <c:auto val="1"/>
        <c:lblAlgn val="ctr"/>
        <c:lblOffset val="100"/>
        <c:noMultiLvlLbl val="0"/>
      </c:catAx>
      <c:valAx>
        <c:axId val="464296011"/>
        <c:scaling>
          <c:orientation val="minMax"/>
        </c:scaling>
        <c:delete val="0"/>
        <c:axPos val="l"/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56622043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华文楷体" panose="02010600040101010101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0fbefca8-51e0-4556-83b0-850f4bdda749}"/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lang="zh-CN">
          <a:latin typeface="华文楷体" panose="02010600040101010101" charset="-122"/>
          <a:ea typeface="华文楷体" panose="02010600040101010101" charset="-122"/>
          <a:cs typeface="华文楷体" panose="02010600040101010101" charset="-122"/>
          <a:sym typeface="华文楷体" panose="02010600040101010101" charset="-122"/>
        </a:defRPr>
      </a:pPr>
    </a:p>
  </c:txPr>
  <c:externalData r:id="rId1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  <a:r>
              <a:rPr lang="en-US" altLang="zh-CN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rPr>
              <a:t>曝光单产排序</a:t>
            </a:r>
            <a:endParaRPr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华文楷体" panose="02010600040101010101" charset="-122"/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'[20260116_腾讯RTAV9策略开发_林福民.xlsx]1.模型选择'!$AT$155</c:f>
              <c:strCache>
                <c:ptCount val="1"/>
                <c:pt idx="0">
                  <c:v>V9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'[20260116_腾讯RTAV9策略开发_林福民.xlsx]1.模型选择'!$AS$156:$AS$158</c:f>
              <c:strCache>
                <c:ptCount val="3"/>
                <c:pt idx="0">
                  <c:v>1W</c:v>
                </c:pt>
                <c:pt idx="1">
                  <c:v>2W</c:v>
                </c:pt>
                <c:pt idx="2">
                  <c:v>3W</c:v>
                </c:pt>
              </c:strCache>
            </c:strRef>
          </c:cat>
          <c:val>
            <c:numRef>
              <c:f>'[20260116_腾讯RTAV9策略开发_林福民.xlsx]1.模型选择'!$AT$156:$AT$158</c:f>
              <c:numCache>
                <c:formatCode>0%</c:formatCode>
                <c:ptCount val="3"/>
                <c:pt idx="0">
                  <c:v>0.04</c:v>
                </c:pt>
                <c:pt idx="1">
                  <c:v>0.13</c:v>
                </c:pt>
                <c:pt idx="2">
                  <c:v>0.26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'[20260116_腾讯RTAV9策略开发_林福民.xlsx]1.模型选择'!$AU$155</c:f>
              <c:strCache>
                <c:ptCount val="1"/>
                <c:pt idx="0">
                  <c:v>V8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'[20260116_腾讯RTAV9策略开发_林福民.xlsx]1.模型选择'!$AS$156:$AS$158</c:f>
              <c:strCache>
                <c:ptCount val="3"/>
                <c:pt idx="0">
                  <c:v>1W</c:v>
                </c:pt>
                <c:pt idx="1">
                  <c:v>2W</c:v>
                </c:pt>
                <c:pt idx="2">
                  <c:v>3W</c:v>
                </c:pt>
              </c:strCache>
            </c:strRef>
          </c:cat>
          <c:val>
            <c:numRef>
              <c:f>'[20260116_腾讯RTAV9策略开发_林福民.xlsx]1.模型选择'!$AU$156:$AU$158</c:f>
              <c:numCache>
                <c:formatCode>0%</c:formatCode>
                <c:ptCount val="3"/>
                <c:pt idx="0">
                  <c:v>0.06</c:v>
                </c:pt>
                <c:pt idx="1">
                  <c:v>0.16</c:v>
                </c:pt>
                <c:pt idx="2">
                  <c:v>0.21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566220433"/>
        <c:axId val="464296011"/>
      </c:lineChart>
      <c:catAx>
        <c:axId val="566220433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464296011"/>
        <c:crosses val="autoZero"/>
        <c:auto val="1"/>
        <c:lblAlgn val="ctr"/>
        <c:lblOffset val="100"/>
        <c:noMultiLvlLbl val="0"/>
      </c:catAx>
      <c:valAx>
        <c:axId val="464296011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56622043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华文楷体" panose="02010600040101010101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4d2ce70f-80c2-48e1-8c00-0b1bc5e9447d}"/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lang="zh-CN">
          <a:latin typeface="华文楷体" panose="02010600040101010101" charset="-122"/>
          <a:ea typeface="华文楷体" panose="02010600040101010101" charset="-122"/>
          <a:cs typeface="华文楷体" panose="02010600040101010101" charset="-122"/>
          <a:sym typeface="华文楷体" panose="02010600040101010101" charset="-122"/>
        </a:defRPr>
      </a:pPr>
    </a:p>
  </c:txPr>
  <c:externalData r:id="rId1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  <a:r>
              <a:rPr lang="en-US" altLang="zh-CN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rPr>
              <a:t>CPS</a:t>
            </a:r>
            <a:r>
              <a:rPr altLang="en-US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rPr>
              <a:t>排序</a:t>
            </a:r>
            <a:endParaRPr altLang="en-US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华文楷体" panose="02010600040101010101" charset="-122"/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'[20260116_腾讯RTAV9策略开发_林福民.xlsx]1.模型选择'!$AX$155</c:f>
              <c:strCache>
                <c:ptCount val="1"/>
                <c:pt idx="0">
                  <c:v>V9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'[20260116_腾讯RTAV9策略开发_林福民.xlsx]1.模型选择'!$AW$156:$AW$158</c:f>
              <c:strCache>
                <c:ptCount val="3"/>
                <c:pt idx="0">
                  <c:v>1W</c:v>
                </c:pt>
                <c:pt idx="1">
                  <c:v>2W</c:v>
                </c:pt>
                <c:pt idx="2">
                  <c:v>3W</c:v>
                </c:pt>
              </c:strCache>
            </c:strRef>
          </c:cat>
          <c:val>
            <c:numRef>
              <c:f>'[20260116_腾讯RTAV9策略开发_林福民.xlsx]1.模型选择'!$AX$156:$AX$158</c:f>
              <c:numCache>
                <c:formatCode>0%</c:formatCode>
                <c:ptCount val="3"/>
                <c:pt idx="0">
                  <c:v>0.43</c:v>
                </c:pt>
                <c:pt idx="1">
                  <c:v>0.19</c:v>
                </c:pt>
                <c:pt idx="2">
                  <c:v>0.15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'[20260116_腾讯RTAV9策略开发_林福民.xlsx]1.模型选择'!$AY$155</c:f>
              <c:strCache>
                <c:ptCount val="1"/>
                <c:pt idx="0">
                  <c:v>V8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'[20260116_腾讯RTAV9策略开发_林福民.xlsx]1.模型选择'!$AW$156:$AW$158</c:f>
              <c:strCache>
                <c:ptCount val="3"/>
                <c:pt idx="0">
                  <c:v>1W</c:v>
                </c:pt>
                <c:pt idx="1">
                  <c:v>2W</c:v>
                </c:pt>
                <c:pt idx="2">
                  <c:v>3W</c:v>
                </c:pt>
              </c:strCache>
            </c:strRef>
          </c:cat>
          <c:val>
            <c:numRef>
              <c:f>'[20260116_腾讯RTAV9策略开发_林福民.xlsx]1.模型选择'!$AY$156:$AY$158</c:f>
              <c:numCache>
                <c:formatCode>0%</c:formatCode>
                <c:ptCount val="3"/>
                <c:pt idx="0">
                  <c:v>0.32</c:v>
                </c:pt>
                <c:pt idx="1">
                  <c:v>0.16</c:v>
                </c:pt>
                <c:pt idx="2">
                  <c:v>0.18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566220433"/>
        <c:axId val="464296011"/>
      </c:lineChart>
      <c:catAx>
        <c:axId val="566220433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464296011"/>
        <c:crosses val="autoZero"/>
        <c:auto val="1"/>
        <c:lblAlgn val="ctr"/>
        <c:lblOffset val="100"/>
        <c:noMultiLvlLbl val="0"/>
      </c:catAx>
      <c:valAx>
        <c:axId val="464296011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56622043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华文楷体" panose="02010600040101010101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4d2ce70f-80c2-48e1-8c00-0b1bc5e9447d}"/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lang="zh-CN">
          <a:latin typeface="华文楷体" panose="02010600040101010101" charset="-122"/>
          <a:ea typeface="华文楷体" panose="02010600040101010101" charset="-122"/>
          <a:cs typeface="华文楷体" panose="02010600040101010101" charset="-122"/>
          <a:sym typeface="华文楷体" panose="02010600040101010101" charset="-122"/>
        </a:defRPr>
      </a:pPr>
    </a:p>
  </c:txPr>
  <c:externalData r:id="rId1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2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  <a:r>
              <a:rPr sz="12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rPr>
              <a:t>安全过件率</a:t>
            </a:r>
            <a:endParaRPr sz="12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华文楷体" panose="02010600040101010101" charset="-122"/>
            </a:endParaRPr>
          </a:p>
        </c:rich>
      </c:tx>
      <c:layout>
        <c:manualLayout>
          <c:xMode val="edge"/>
          <c:yMode val="edge"/>
          <c:x val="0.416395151831096"/>
          <c:y val="0.0224026883225987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758503844650072"/>
          <c:y val="0.1318958274993"/>
          <c:w val="0.895477648898736"/>
          <c:h val="0.66003920470456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[工作簿1]Sheet1!$F$293</c:f>
              <c:strCache>
                <c:ptCount val="1"/>
                <c:pt idx="0">
                  <c:v>上线前</c:v>
                </c:pt>
              </c:strCache>
            </c:strRef>
          </c:tx>
          <c:spPr>
            <a:solidFill>
              <a:schemeClr val="bg2">
                <a:lumMod val="9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  <a:sym typeface="华文楷体" panose="02010600040101010101" charset="-122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[工作簿1]Sheet1!$G$292:$H$292</c:f>
              <c:strCache>
                <c:ptCount val="2"/>
                <c:pt idx="0">
                  <c:v>实验组</c:v>
                </c:pt>
                <c:pt idx="1">
                  <c:v>策略不变组</c:v>
                </c:pt>
              </c:strCache>
            </c:strRef>
          </c:cat>
          <c:val>
            <c:numRef>
              <c:f>[工作簿1]Sheet1!$G$293:$H$293</c:f>
              <c:numCache>
                <c:formatCode>0%</c:formatCode>
                <c:ptCount val="2"/>
                <c:pt idx="0">
                  <c:v>0.1729</c:v>
                </c:pt>
                <c:pt idx="1">
                  <c:v>0.2139</c:v>
                </c:pt>
              </c:numCache>
            </c:numRef>
          </c:val>
        </c:ser>
        <c:ser>
          <c:idx val="1"/>
          <c:order val="1"/>
          <c:tx>
            <c:strRef>
              <c:f>[工作簿1]Sheet1!$F$294</c:f>
              <c:strCache>
                <c:ptCount val="1"/>
                <c:pt idx="0">
                  <c:v>上线后</c:v>
                </c:pt>
              </c:strCache>
            </c:strRef>
          </c:tx>
          <c:spPr>
            <a:solidFill>
              <a:schemeClr val="bg2">
                <a:lumMod val="1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bg1"/>
                    </a:solidFill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  <a:sym typeface="华文楷体" panose="02010600040101010101" charset="-122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[工作簿1]Sheet1!$G$292:$H$292</c:f>
              <c:strCache>
                <c:ptCount val="2"/>
                <c:pt idx="0">
                  <c:v>实验组</c:v>
                </c:pt>
                <c:pt idx="1">
                  <c:v>策略不变组</c:v>
                </c:pt>
              </c:strCache>
            </c:strRef>
          </c:cat>
          <c:val>
            <c:numRef>
              <c:f>[工作簿1]Sheet1!$G$294:$H$294</c:f>
              <c:numCache>
                <c:formatCode>0%</c:formatCode>
                <c:ptCount val="2"/>
                <c:pt idx="0">
                  <c:v>0.2584</c:v>
                </c:pt>
                <c:pt idx="1">
                  <c:v>0.2717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46"/>
        <c:overlap val="-28"/>
        <c:axId val="794020785"/>
        <c:axId val="206752366"/>
      </c:barChart>
      <c:catAx>
        <c:axId val="794020785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206752366"/>
        <c:crosses val="autoZero"/>
        <c:auto val="1"/>
        <c:lblAlgn val="ctr"/>
        <c:lblOffset val="100"/>
        <c:noMultiLvlLbl val="0"/>
      </c:catAx>
      <c:valAx>
        <c:axId val="206752366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79402078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华文楷体" panose="02010600040101010101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8de1e764-755a-4fe6-b4fa-681e221551d5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zh-CN" sz="1000">
          <a:latin typeface="华文楷体" panose="02010600040101010101" charset="-122"/>
          <a:ea typeface="华文楷体" panose="02010600040101010101" charset="-122"/>
          <a:cs typeface="华文楷体" panose="02010600040101010101" charset="-122"/>
          <a:sym typeface="华文楷体" panose="02010600040101010101" charset="-122"/>
        </a:defRPr>
      </a:pPr>
    </a:p>
  </c:txPr>
  <c:externalData r:id="rId1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  <a:r>
              <a:rPr lang="en-US" altLang="zh-CN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rPr>
              <a:t>cps</a:t>
            </a:r>
            <a:endParaRPr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华文楷体" panose="02010600040101010101" charset="-122"/>
            </a:endParaRPr>
          </a:p>
        </c:rich>
      </c:tx>
      <c:layout>
        <c:manualLayout>
          <c:xMode val="edge"/>
          <c:yMode val="edge"/>
          <c:x val="0.476551818430407"/>
          <c:y val="0.0279965004374453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795187312004375"/>
          <c:y val="0.189851268591426"/>
          <c:w val="0.890401968826907"/>
          <c:h val="0.59620880723242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[工作簿1]Sheet1!$F$302</c:f>
              <c:strCache>
                <c:ptCount val="1"/>
                <c:pt idx="0">
                  <c:v>上线前</c:v>
                </c:pt>
              </c:strCache>
            </c:strRef>
          </c:tx>
          <c:spPr>
            <a:solidFill>
              <a:schemeClr val="bg2">
                <a:lumMod val="9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  <a:sym typeface="华文楷体" panose="02010600040101010101" charset="-122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[工作簿1]Sheet1!$G$292:$H$292</c:f>
              <c:strCache>
                <c:ptCount val="2"/>
                <c:pt idx="0">
                  <c:v>实验组</c:v>
                </c:pt>
                <c:pt idx="1">
                  <c:v>策略不变组</c:v>
                </c:pt>
              </c:strCache>
            </c:strRef>
          </c:cat>
          <c:val>
            <c:numRef>
              <c:f>[工作簿1]Sheet1!$G$302:$H$302</c:f>
              <c:numCache>
                <c:formatCode>0%</c:formatCode>
                <c:ptCount val="2"/>
                <c:pt idx="0">
                  <c:v>0.1553</c:v>
                </c:pt>
                <c:pt idx="1">
                  <c:v>0.1825</c:v>
                </c:pt>
              </c:numCache>
            </c:numRef>
          </c:val>
        </c:ser>
        <c:ser>
          <c:idx val="1"/>
          <c:order val="1"/>
          <c:tx>
            <c:strRef>
              <c:f>[工作簿1]Sheet1!$F$303</c:f>
              <c:strCache>
                <c:ptCount val="1"/>
                <c:pt idx="0">
                  <c:v>上线后</c:v>
                </c:pt>
              </c:strCache>
            </c:strRef>
          </c:tx>
          <c:spPr>
            <a:solidFill>
              <a:schemeClr val="bg2">
                <a:lumMod val="1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bg1"/>
                    </a:solidFill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  <a:sym typeface="华文楷体" panose="02010600040101010101" charset="-122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[工作簿1]Sheet1!$G$292:$H$292</c:f>
              <c:strCache>
                <c:ptCount val="2"/>
                <c:pt idx="0">
                  <c:v>实验组</c:v>
                </c:pt>
                <c:pt idx="1">
                  <c:v>策略不变组</c:v>
                </c:pt>
              </c:strCache>
            </c:strRef>
          </c:cat>
          <c:val>
            <c:numRef>
              <c:f>[工作簿1]Sheet1!$G$303:$H$303</c:f>
              <c:numCache>
                <c:formatCode>0%</c:formatCode>
                <c:ptCount val="2"/>
                <c:pt idx="0">
                  <c:v>0.1495</c:v>
                </c:pt>
                <c:pt idx="1">
                  <c:v>0.1792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46"/>
        <c:overlap val="-28"/>
        <c:axId val="794020785"/>
        <c:axId val="206752366"/>
      </c:barChart>
      <c:catAx>
        <c:axId val="794020785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206752366"/>
        <c:crosses val="autoZero"/>
        <c:auto val="1"/>
        <c:lblAlgn val="ctr"/>
        <c:lblOffset val="100"/>
        <c:noMultiLvlLbl val="0"/>
      </c:catAx>
      <c:valAx>
        <c:axId val="206752366"/>
        <c:scaling>
          <c:orientation val="minMax"/>
          <c:min val="0.1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79402078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华文楷体" panose="02010600040101010101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69f2c094-6f26-4649-9282-56d51df8e35f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zh-CN">
          <a:latin typeface="华文楷体" panose="02010600040101010101" charset="-122"/>
          <a:ea typeface="华文楷体" panose="02010600040101010101" charset="-122"/>
          <a:cs typeface="华文楷体" panose="02010600040101010101" charset="-122"/>
          <a:sym typeface="华文楷体" panose="02010600040101010101" charset="-122"/>
        </a:defRPr>
      </a:pPr>
    </a:p>
  </c:txPr>
  <c:externalData r:id="rId1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  <a:r>
              <a:rPr altLang="en-US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rPr>
              <a:t>系数出价账户</a:t>
            </a:r>
            <a:endParaRPr lang="en-US" altLang="zh-CN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华文楷体" panose="02010600040101010101" charset="-122"/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[工作簿1]Sheet1!$F$327</c:f>
              <c:strCache>
                <c:ptCount val="1"/>
                <c:pt idx="0">
                  <c:v>v8出价</c:v>
                </c:pt>
              </c:strCache>
            </c:strRef>
          </c:tx>
          <c:spPr>
            <a:solidFill>
              <a:schemeClr val="bg2">
                <a:lumMod val="9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  <a:sym typeface="华文楷体" panose="02010600040101010101" charset="-122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[工作簿1]Sheet1!$G$326:$H$326</c:f>
              <c:strCache>
                <c:ptCount val="2"/>
                <c:pt idx="0">
                  <c:v>安全过件率</c:v>
                </c:pt>
                <c:pt idx="1">
                  <c:v>cps</c:v>
                </c:pt>
              </c:strCache>
            </c:strRef>
          </c:cat>
          <c:val>
            <c:numRef>
              <c:f>[工作簿1]Sheet1!$G$327:$H$327</c:f>
              <c:numCache>
                <c:formatCode>0%</c:formatCode>
                <c:ptCount val="2"/>
                <c:pt idx="0">
                  <c:v>0.23</c:v>
                </c:pt>
                <c:pt idx="1">
                  <c:v>0.18</c:v>
                </c:pt>
              </c:numCache>
            </c:numRef>
          </c:val>
        </c:ser>
        <c:ser>
          <c:idx val="1"/>
          <c:order val="1"/>
          <c:tx>
            <c:strRef>
              <c:f>[工作簿1]Sheet1!$F$328</c:f>
              <c:strCache>
                <c:ptCount val="1"/>
                <c:pt idx="0">
                  <c:v>v9策略</c:v>
                </c:pt>
              </c:strCache>
            </c:strRef>
          </c:tx>
          <c:spPr>
            <a:solidFill>
              <a:schemeClr val="tx2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bg1"/>
                    </a:solidFill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  <a:sym typeface="华文楷体" panose="02010600040101010101" charset="-122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[工作簿1]Sheet1!$G$326:$H$326</c:f>
              <c:strCache>
                <c:ptCount val="2"/>
                <c:pt idx="0">
                  <c:v>安全过件率</c:v>
                </c:pt>
                <c:pt idx="1">
                  <c:v>cps</c:v>
                </c:pt>
              </c:strCache>
            </c:strRef>
          </c:cat>
          <c:val>
            <c:numRef>
              <c:f>[工作簿1]Sheet1!$G$328:$H$328</c:f>
              <c:numCache>
                <c:formatCode>0%</c:formatCode>
                <c:ptCount val="2"/>
                <c:pt idx="0">
                  <c:v>0.27</c:v>
                </c:pt>
                <c:pt idx="1">
                  <c:v>0.16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46"/>
        <c:overlap val="-28"/>
        <c:axId val="895693555"/>
        <c:axId val="444760382"/>
      </c:barChart>
      <c:catAx>
        <c:axId val="895693555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444760382"/>
        <c:crosses val="autoZero"/>
        <c:auto val="1"/>
        <c:lblAlgn val="ctr"/>
        <c:lblOffset val="100"/>
        <c:noMultiLvlLbl val="0"/>
      </c:catAx>
      <c:valAx>
        <c:axId val="444760382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8956935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华文楷体" panose="02010600040101010101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a59b3b6a-58a0-48bb-8046-57663107ee69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zh-CN">
          <a:latin typeface="华文楷体" panose="02010600040101010101" charset="-122"/>
          <a:ea typeface="华文楷体" panose="02010600040101010101" charset="-122"/>
          <a:cs typeface="华文楷体" panose="02010600040101010101" charset="-122"/>
          <a:sym typeface="华文楷体" panose="02010600040101010101" charset="-122"/>
        </a:defRPr>
      </a:pPr>
    </a:p>
  </c:txPr>
  <c:externalData r:id="rId1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  <a:r>
              <a:rPr lang="en-US" altLang="zh-CN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rPr>
              <a:t>CPA</a:t>
            </a:r>
            <a:r>
              <a:rPr altLang="en-US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rPr>
              <a:t>出价账户</a:t>
            </a:r>
            <a:endParaRPr lang="en-US" altLang="zh-CN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华文楷体" panose="02010600040101010101" charset="-122"/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742499680837482"/>
          <c:y val="0.220135746606335"/>
          <c:w val="0.897663730371505"/>
          <c:h val="0.55882352941176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[工作簿1]Sheet1!$F$327</c:f>
              <c:strCache>
                <c:ptCount val="1"/>
                <c:pt idx="0">
                  <c:v>v8出价</c:v>
                </c:pt>
              </c:strCache>
            </c:strRef>
          </c:tx>
          <c:spPr>
            <a:solidFill>
              <a:schemeClr val="bg2">
                <a:lumMod val="9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  <a:sym typeface="华文楷体" panose="02010600040101010101" charset="-122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[工作簿1]Sheet1!$G$326:$H$326</c:f>
              <c:strCache>
                <c:ptCount val="2"/>
                <c:pt idx="0">
                  <c:v>安全过件率</c:v>
                </c:pt>
                <c:pt idx="1">
                  <c:v>cps</c:v>
                </c:pt>
              </c:strCache>
            </c:strRef>
          </c:cat>
          <c:val>
            <c:numRef>
              <c:f>[工作簿1]Sheet1!$G$327:$H$327</c:f>
              <c:numCache>
                <c:formatCode>0%</c:formatCode>
                <c:ptCount val="2"/>
                <c:pt idx="0">
                  <c:v>0.34</c:v>
                </c:pt>
                <c:pt idx="1">
                  <c:v>0.18</c:v>
                </c:pt>
              </c:numCache>
            </c:numRef>
          </c:val>
        </c:ser>
        <c:ser>
          <c:idx val="1"/>
          <c:order val="1"/>
          <c:tx>
            <c:strRef>
              <c:f>[工作簿1]Sheet1!$F$328</c:f>
              <c:strCache>
                <c:ptCount val="1"/>
                <c:pt idx="0">
                  <c:v>v9策略</c:v>
                </c:pt>
              </c:strCache>
            </c:strRef>
          </c:tx>
          <c:spPr>
            <a:solidFill>
              <a:schemeClr val="tx2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bg1"/>
                    </a:solidFill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  <a:sym typeface="华文楷体" panose="02010600040101010101" charset="-122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[工作簿1]Sheet1!$G$326:$H$326</c:f>
              <c:strCache>
                <c:ptCount val="2"/>
                <c:pt idx="0">
                  <c:v>安全过件率</c:v>
                </c:pt>
                <c:pt idx="1">
                  <c:v>cps</c:v>
                </c:pt>
              </c:strCache>
            </c:strRef>
          </c:cat>
          <c:val>
            <c:numRef>
              <c:f>[工作簿1]Sheet1!$G$328:$H$328</c:f>
              <c:numCache>
                <c:formatCode>0%</c:formatCode>
                <c:ptCount val="2"/>
                <c:pt idx="0">
                  <c:v>0.37</c:v>
                </c:pt>
                <c:pt idx="1">
                  <c:v>0.23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46"/>
        <c:overlap val="-28"/>
        <c:axId val="895693555"/>
        <c:axId val="444760382"/>
      </c:barChart>
      <c:catAx>
        <c:axId val="895693555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444760382"/>
        <c:crosses val="autoZero"/>
        <c:auto val="1"/>
        <c:lblAlgn val="ctr"/>
        <c:lblOffset val="100"/>
        <c:noMultiLvlLbl val="0"/>
      </c:catAx>
      <c:valAx>
        <c:axId val="444760382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8956935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华文楷体" panose="02010600040101010101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2c6ed2ab-616b-4aa9-832c-8135d432cfc4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zh-CN">
          <a:latin typeface="华文楷体" panose="02010600040101010101" charset="-122"/>
          <a:ea typeface="华文楷体" panose="02010600040101010101" charset="-122"/>
          <a:cs typeface="华文楷体" panose="02010600040101010101" charset="-122"/>
          <a:sym typeface="华文楷体" panose="02010600040101010101" charset="-122"/>
        </a:defRPr>
      </a:pPr>
    </a:p>
  </c:txPr>
  <c:externalData r:id="rId1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4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  <a:r>
              <a:rPr altLang="en-GB" sz="144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rPr>
              <a:t>抖音</a:t>
            </a:r>
            <a:r>
              <a:rPr lang="en-GB" altLang="zh-CN" sz="144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rPr>
              <a:t>by</a:t>
            </a:r>
            <a:r>
              <a:rPr lang="zh-CN" altLang="en-US" sz="144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rPr>
              <a:t>周核心指标</a:t>
            </a:r>
            <a:endParaRPr lang="zh-CN" altLang="en-US" sz="144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华文楷体" panose="02010600040101010101" charset="-122"/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437939206237945"/>
          <c:y val="0.0991282339707537"/>
          <c:w val="0.902043406523671"/>
          <c:h val="0.750871766029246"/>
        </c:manualLayout>
      </c:layout>
      <c:areaChart>
        <c:grouping val="standar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axId val="255876079"/>
        <c:axId val="71443669"/>
      </c:areaChart>
      <c:areaChart>
        <c:grouping val="standard"/>
        <c:varyColors val="0"/>
        <c:ser>
          <c:idx val="1"/>
          <c:order val="1"/>
          <c:tx>
            <c:strRef>
              <c:f>[工作簿1]Sheet1!$I$172</c:f>
              <c:strCache>
                <c:ptCount val="1"/>
                <c:pt idx="0">
                  <c:v>日均消耗</c:v>
                </c:pt>
              </c:strCache>
            </c:strRef>
          </c:tx>
          <c:spPr>
            <a:solidFill>
              <a:schemeClr val="bg1">
                <a:lumMod val="95000"/>
              </a:schemeClr>
            </a:solidFill>
            <a:ln w="38100" cap="rnd">
              <a:noFill/>
              <a:round/>
            </a:ln>
            <a:effectLst/>
          </c:spPr>
          <c:dLbls>
            <c:delete val="1"/>
          </c:dLbls>
          <c:cat>
            <c:numRef>
              <c:f>[工作簿1]Sheet1!$G$173:$G$189</c:f>
              <c:numCache>
                <c:formatCode>yyyy/m/d</c:formatCode>
                <c:ptCount val="17"/>
                <c:pt idx="0" c:formatCode="yyyy/m/d">
                  <c:v>45936</c:v>
                </c:pt>
                <c:pt idx="1" c:formatCode="yyyy/m/d">
                  <c:v>45943</c:v>
                </c:pt>
                <c:pt idx="2" c:formatCode="yyyy/m/d">
                  <c:v>45950</c:v>
                </c:pt>
                <c:pt idx="3" c:formatCode="yyyy/m/d">
                  <c:v>45957</c:v>
                </c:pt>
                <c:pt idx="4" c:formatCode="yyyy/m/d">
                  <c:v>45964</c:v>
                </c:pt>
                <c:pt idx="5" c:formatCode="yyyy/m/d">
                  <c:v>45971</c:v>
                </c:pt>
                <c:pt idx="6" c:formatCode="yyyy/m/d">
                  <c:v>45978</c:v>
                </c:pt>
                <c:pt idx="7" c:formatCode="yyyy/m/d">
                  <c:v>45985</c:v>
                </c:pt>
                <c:pt idx="8" c:formatCode="yyyy/m/d">
                  <c:v>45992</c:v>
                </c:pt>
                <c:pt idx="9" c:formatCode="yyyy/m/d">
                  <c:v>45999</c:v>
                </c:pt>
                <c:pt idx="10" c:formatCode="yyyy/m/d">
                  <c:v>46006</c:v>
                </c:pt>
                <c:pt idx="11" c:formatCode="yyyy/m/d">
                  <c:v>46013</c:v>
                </c:pt>
                <c:pt idx="12" c:formatCode="yyyy/m/d">
                  <c:v>46020</c:v>
                </c:pt>
                <c:pt idx="13" c:formatCode="yyyy/m/d">
                  <c:v>46027</c:v>
                </c:pt>
                <c:pt idx="14" c:formatCode="yyyy/m/d">
                  <c:v>46034</c:v>
                </c:pt>
                <c:pt idx="15" c:formatCode="yyyy/m/d">
                  <c:v>46041</c:v>
                </c:pt>
                <c:pt idx="16" c:formatCode="yyyy/m/d">
                  <c:v>46048</c:v>
                </c:pt>
              </c:numCache>
            </c:numRef>
          </c:cat>
          <c:val>
            <c:numRef>
              <c:f>[工作簿1]Sheet1!$I$173:$I$189</c:f>
              <c:numCache>
                <c:formatCode>0_);[Red]\(0\)</c:formatCode>
                <c:ptCount val="17"/>
                <c:pt idx="0">
                  <c:v>89.1428571428571</c:v>
                </c:pt>
                <c:pt idx="1">
                  <c:v>83.1428571428571</c:v>
                </c:pt>
                <c:pt idx="2">
                  <c:v>56.8571428571429</c:v>
                </c:pt>
                <c:pt idx="3">
                  <c:v>81</c:v>
                </c:pt>
                <c:pt idx="4">
                  <c:v>59.8571428571429</c:v>
                </c:pt>
                <c:pt idx="5">
                  <c:v>64</c:v>
                </c:pt>
                <c:pt idx="6">
                  <c:v>53.7142857142857</c:v>
                </c:pt>
                <c:pt idx="7">
                  <c:v>27.7142857142857</c:v>
                </c:pt>
                <c:pt idx="8">
                  <c:v>46.1428571428571</c:v>
                </c:pt>
                <c:pt idx="9">
                  <c:v>35.5714285714286</c:v>
                </c:pt>
                <c:pt idx="10">
                  <c:v>27.5714285714286</c:v>
                </c:pt>
                <c:pt idx="11">
                  <c:v>29.2857142857143</c:v>
                </c:pt>
                <c:pt idx="12">
                  <c:v>42.2857142857143</c:v>
                </c:pt>
                <c:pt idx="13">
                  <c:v>56.4285714285714</c:v>
                </c:pt>
                <c:pt idx="14">
                  <c:v>30.8571428571429</c:v>
                </c:pt>
                <c:pt idx="15">
                  <c:v>22</c:v>
                </c:pt>
                <c:pt idx="16">
                  <c:v>29.5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2685944"/>
        <c:axId val="196082313"/>
      </c:areaChart>
      <c:lineChart>
        <c:grouping val="standard"/>
        <c:varyColors val="0"/>
        <c:ser>
          <c:idx val="0"/>
          <c:order val="0"/>
          <c:tx>
            <c:strRef>
              <c:f>[工作簿1]Sheet1!$H$172</c:f>
              <c:strCache>
                <c:ptCount val="1"/>
                <c:pt idx="0">
                  <c:v>安全过件率</c:v>
                </c:pt>
              </c:strCache>
            </c:strRef>
          </c:tx>
          <c:spPr>
            <a:ln w="28575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  <a:sym typeface="华文楷体" panose="02010600040101010101" charset="-122"/>
                  </a:defRPr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[工作簿1]Sheet1!$G$173:$G$189</c:f>
              <c:numCache>
                <c:formatCode>yyyy/m/d</c:formatCode>
                <c:ptCount val="17"/>
                <c:pt idx="0" c:formatCode="yyyy/m/d">
                  <c:v>45936</c:v>
                </c:pt>
                <c:pt idx="1" c:formatCode="yyyy/m/d">
                  <c:v>45943</c:v>
                </c:pt>
                <c:pt idx="2" c:formatCode="yyyy/m/d">
                  <c:v>45950</c:v>
                </c:pt>
                <c:pt idx="3" c:formatCode="yyyy/m/d">
                  <c:v>45957</c:v>
                </c:pt>
                <c:pt idx="4" c:formatCode="yyyy/m/d">
                  <c:v>45964</c:v>
                </c:pt>
                <c:pt idx="5" c:formatCode="yyyy/m/d">
                  <c:v>45971</c:v>
                </c:pt>
                <c:pt idx="6" c:formatCode="yyyy/m/d">
                  <c:v>45978</c:v>
                </c:pt>
                <c:pt idx="7" c:formatCode="yyyy/m/d">
                  <c:v>45985</c:v>
                </c:pt>
                <c:pt idx="8" c:formatCode="yyyy/m/d">
                  <c:v>45992</c:v>
                </c:pt>
                <c:pt idx="9" c:formatCode="yyyy/m/d">
                  <c:v>45999</c:v>
                </c:pt>
                <c:pt idx="10" c:formatCode="yyyy/m/d">
                  <c:v>46006</c:v>
                </c:pt>
                <c:pt idx="11" c:formatCode="yyyy/m/d">
                  <c:v>46013</c:v>
                </c:pt>
                <c:pt idx="12" c:formatCode="yyyy/m/d">
                  <c:v>46020</c:v>
                </c:pt>
                <c:pt idx="13" c:formatCode="yyyy/m/d">
                  <c:v>46027</c:v>
                </c:pt>
                <c:pt idx="14" c:formatCode="yyyy/m/d">
                  <c:v>46034</c:v>
                </c:pt>
                <c:pt idx="15" c:formatCode="yyyy/m/d">
                  <c:v>46041</c:v>
                </c:pt>
                <c:pt idx="16" c:formatCode="yyyy/m/d">
                  <c:v>46048</c:v>
                </c:pt>
              </c:numCache>
            </c:numRef>
          </c:cat>
          <c:val>
            <c:numRef>
              <c:f>[工作簿1]Sheet1!$H$173:$H$189</c:f>
              <c:numCache>
                <c:formatCode>0%</c:formatCode>
                <c:ptCount val="17"/>
                <c:pt idx="0">
                  <c:v>0.208</c:v>
                </c:pt>
                <c:pt idx="1">
                  <c:v>0.1947</c:v>
                </c:pt>
                <c:pt idx="2">
                  <c:v>0.1824</c:v>
                </c:pt>
                <c:pt idx="3">
                  <c:v>0.2001</c:v>
                </c:pt>
                <c:pt idx="4">
                  <c:v>0.1936</c:v>
                </c:pt>
                <c:pt idx="5">
                  <c:v>0.2105</c:v>
                </c:pt>
                <c:pt idx="6">
                  <c:v>0.1961</c:v>
                </c:pt>
                <c:pt idx="7">
                  <c:v>0.1828</c:v>
                </c:pt>
                <c:pt idx="8">
                  <c:v>0.1982</c:v>
                </c:pt>
                <c:pt idx="9">
                  <c:v>0.1961</c:v>
                </c:pt>
                <c:pt idx="10">
                  <c:v>0.1703</c:v>
                </c:pt>
                <c:pt idx="11">
                  <c:v>0.1777</c:v>
                </c:pt>
                <c:pt idx="12">
                  <c:v>0.1774</c:v>
                </c:pt>
                <c:pt idx="13">
                  <c:v>0.1942</c:v>
                </c:pt>
                <c:pt idx="14">
                  <c:v>0.2061</c:v>
                </c:pt>
                <c:pt idx="15">
                  <c:v>0.175</c:v>
                </c:pt>
                <c:pt idx="16">
                  <c:v>0.1825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[工作簿1]Sheet1!$J$172</c:f>
              <c:strCache>
                <c:ptCount val="1"/>
                <c:pt idx="0">
                  <c:v>T0CPS</c:v>
                </c:pt>
              </c:strCache>
            </c:strRef>
          </c:tx>
          <c:spPr>
            <a:ln w="28575" cap="rnd" cmpd="sng">
              <a:solidFill>
                <a:schemeClr val="tx2">
                  <a:lumMod val="50000"/>
                </a:schemeClr>
              </a:solidFill>
              <a:prstDash val="sysDash"/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[工作簿1]Sheet1!$G$173:$G$189</c:f>
              <c:numCache>
                <c:formatCode>yyyy/m/d</c:formatCode>
                <c:ptCount val="17"/>
                <c:pt idx="0" c:formatCode="yyyy/m/d">
                  <c:v>45936</c:v>
                </c:pt>
                <c:pt idx="1" c:formatCode="yyyy/m/d">
                  <c:v>45943</c:v>
                </c:pt>
                <c:pt idx="2" c:formatCode="yyyy/m/d">
                  <c:v>45950</c:v>
                </c:pt>
                <c:pt idx="3" c:formatCode="yyyy/m/d">
                  <c:v>45957</c:v>
                </c:pt>
                <c:pt idx="4" c:formatCode="yyyy/m/d">
                  <c:v>45964</c:v>
                </c:pt>
                <c:pt idx="5" c:formatCode="yyyy/m/d">
                  <c:v>45971</c:v>
                </c:pt>
                <c:pt idx="6" c:formatCode="yyyy/m/d">
                  <c:v>45978</c:v>
                </c:pt>
                <c:pt idx="7" c:formatCode="yyyy/m/d">
                  <c:v>45985</c:v>
                </c:pt>
                <c:pt idx="8" c:formatCode="yyyy/m/d">
                  <c:v>45992</c:v>
                </c:pt>
                <c:pt idx="9" c:formatCode="yyyy/m/d">
                  <c:v>45999</c:v>
                </c:pt>
                <c:pt idx="10" c:formatCode="yyyy/m/d">
                  <c:v>46006</c:v>
                </c:pt>
                <c:pt idx="11" c:formatCode="yyyy/m/d">
                  <c:v>46013</c:v>
                </c:pt>
                <c:pt idx="12" c:formatCode="yyyy/m/d">
                  <c:v>46020</c:v>
                </c:pt>
                <c:pt idx="13" c:formatCode="yyyy/m/d">
                  <c:v>46027</c:v>
                </c:pt>
                <c:pt idx="14" c:formatCode="yyyy/m/d">
                  <c:v>46034</c:v>
                </c:pt>
                <c:pt idx="15" c:formatCode="yyyy/m/d">
                  <c:v>46041</c:v>
                </c:pt>
                <c:pt idx="16" c:formatCode="yyyy/m/d">
                  <c:v>46048</c:v>
                </c:pt>
              </c:numCache>
            </c:numRef>
          </c:cat>
          <c:val>
            <c:numRef>
              <c:f>[工作簿1]Sheet1!$J$173:$J$189</c:f>
              <c:numCache>
                <c:formatCode>0%</c:formatCode>
                <c:ptCount val="17"/>
                <c:pt idx="0">
                  <c:v>0.25</c:v>
                </c:pt>
                <c:pt idx="1">
                  <c:v>0.2549</c:v>
                </c:pt>
                <c:pt idx="2">
                  <c:v>0.2597</c:v>
                </c:pt>
                <c:pt idx="3">
                  <c:v>0.2977</c:v>
                </c:pt>
                <c:pt idx="4">
                  <c:v>0.2358</c:v>
                </c:pt>
                <c:pt idx="5">
                  <c:v>0.2774</c:v>
                </c:pt>
                <c:pt idx="6">
                  <c:v>0.3117</c:v>
                </c:pt>
                <c:pt idx="7">
                  <c:v>0.2461</c:v>
                </c:pt>
                <c:pt idx="8">
                  <c:v>0.2707</c:v>
                </c:pt>
                <c:pt idx="9">
                  <c:v>0.239</c:v>
                </c:pt>
                <c:pt idx="10">
                  <c:v>0.2537</c:v>
                </c:pt>
                <c:pt idx="11">
                  <c:v>0.2493</c:v>
                </c:pt>
                <c:pt idx="12">
                  <c:v>0.2742</c:v>
                </c:pt>
                <c:pt idx="13">
                  <c:v>0.3419</c:v>
                </c:pt>
                <c:pt idx="14">
                  <c:v>0.2778</c:v>
                </c:pt>
                <c:pt idx="15">
                  <c:v>0.2876</c:v>
                </c:pt>
                <c:pt idx="16">
                  <c:v>0.2124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255876079"/>
        <c:axId val="71443669"/>
      </c:lineChart>
      <c:dateAx>
        <c:axId val="255876079"/>
        <c:scaling>
          <c:orientation val="minMax"/>
        </c:scaling>
        <c:delete val="0"/>
        <c:axPos val="b"/>
        <c:numFmt formatCode="m/dd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71443669"/>
        <c:crosses val="autoZero"/>
        <c:auto val="1"/>
        <c:lblOffset val="100"/>
        <c:baseTimeUnit val="days"/>
      </c:dateAx>
      <c:valAx>
        <c:axId val="71443669"/>
        <c:scaling>
          <c:orientation val="minMax"/>
          <c:min val="0.1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255876079"/>
        <c:crosses val="autoZero"/>
        <c:crossBetween val="between"/>
      </c:valAx>
      <c:dateAx>
        <c:axId val="182685944"/>
        <c:scaling>
          <c:orientation val="minMax"/>
        </c:scaling>
        <c:delete val="1"/>
        <c:axPos val="b"/>
        <c:majorTickMark val="none"/>
        <c:minorTickMark val="none"/>
        <c:tickLblPos val="nextTo"/>
        <c:txPr>
          <a:bodyPr rot="-60000000" spcFirstLastPara="0" vertOverflow="ellipsis" vert="horz" wrap="square" anchor="ctr" anchorCtr="1" forceAA="0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196082313"/>
        <c:crosses val="autoZero"/>
        <c:auto val="1"/>
        <c:lblOffset val="100"/>
        <c:baseTimeUnit val="days"/>
      </c:dateAx>
      <c:valAx>
        <c:axId val="196082313"/>
        <c:scaling>
          <c:orientation val="minMax"/>
          <c:max val="100"/>
          <c:min val="0"/>
        </c:scaling>
        <c:delete val="0"/>
        <c:axPos val="r"/>
        <c:numFmt formatCode="0_);[Red]\(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182685944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</c:legendEntry>
      <c:layout>
        <c:manualLayout>
          <c:xMode val="edge"/>
          <c:yMode val="edge"/>
          <c:x val="0.338521631197029"/>
          <c:y val="0.930707862923238"/>
          <c:w val="0.322956636031951"/>
          <c:h val="0.0510588781459506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华文楷体" panose="02010600040101010101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462201ce-1b3e-4edf-99fb-1c84964ee836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zh-CN" sz="1200">
          <a:latin typeface="华文楷体" panose="02010600040101010101" charset="-122"/>
          <a:ea typeface="华文楷体" panose="02010600040101010101" charset="-122"/>
          <a:cs typeface="华文楷体" panose="02010600040101010101" charset="-122"/>
          <a:sym typeface="华文楷体" panose="02010600040101010101" charset="-122"/>
        </a:defRPr>
      </a:pPr>
    </a:p>
  </c:txPr>
  <c:externalData r:id="rId1">
    <c:autoUpdate val="0"/>
  </c:externalData>
</c:chartSpace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  <a:r>
              <a:rPr altLang="en-US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rPr>
              <a:t>申</a:t>
            </a:r>
            <a:r>
              <a:rPr lang="en-US" altLang="zh-CN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rPr>
              <a:t>完占比</a:t>
            </a:r>
            <a:endParaRPr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华文楷体" panose="02010600040101010101" charset="-122"/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76095773910768"/>
          <c:y val="0.178587699316629"/>
          <c:w val="0.89511971738846"/>
          <c:h val="0.61353075170842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'[抖音_RTA_v9策略开发_贾宏斌_20260106.xlsx]1、RTA V9模型评估'!$AC$51</c:f>
              <c:strCache>
                <c:ptCount val="1"/>
                <c:pt idx="0">
                  <c:v>申完安全V8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'[抖音_RTA_v9策略开发_贾宏斌_20260106.xlsx]1、RTA V9模型评估'!$AB$52:$AB$61</c:f>
              <c:strCache>
                <c:ptCount val="10"/>
                <c:pt idx="0">
                  <c:v>01q</c:v>
                </c:pt>
                <c:pt idx="1">
                  <c:v>02q</c:v>
                </c:pt>
                <c:pt idx="2">
                  <c:v>03q</c:v>
                </c:pt>
                <c:pt idx="3">
                  <c:v>04q</c:v>
                </c:pt>
                <c:pt idx="4">
                  <c:v>05q</c:v>
                </c:pt>
                <c:pt idx="5">
                  <c:v>06q</c:v>
                </c:pt>
                <c:pt idx="6">
                  <c:v>07q</c:v>
                </c:pt>
                <c:pt idx="7">
                  <c:v>08q</c:v>
                </c:pt>
                <c:pt idx="8">
                  <c:v>09q</c:v>
                </c:pt>
                <c:pt idx="9">
                  <c:v>10q</c:v>
                </c:pt>
              </c:strCache>
            </c:strRef>
          </c:cat>
          <c:val>
            <c:numRef>
              <c:f>'[抖音_RTA_v9策略开发_贾宏斌_20260106.xlsx]1、RTA V9模型评估'!$AC$52:$AC$61</c:f>
              <c:numCache>
                <c:formatCode>0.0%</c:formatCode>
                <c:ptCount val="10"/>
                <c:pt idx="0">
                  <c:v>0.0933962264150943</c:v>
                </c:pt>
                <c:pt idx="1">
                  <c:v>0.0679245283018868</c:v>
                </c:pt>
                <c:pt idx="2">
                  <c:v>0.080188679245283</c:v>
                </c:pt>
                <c:pt idx="3">
                  <c:v>0.080188679245283</c:v>
                </c:pt>
                <c:pt idx="4">
                  <c:v>0.0877358490566038</c:v>
                </c:pt>
                <c:pt idx="5">
                  <c:v>0.0915094339622642</c:v>
                </c:pt>
                <c:pt idx="6">
                  <c:v>0.125471698113208</c:v>
                </c:pt>
                <c:pt idx="7">
                  <c:v>0.0981132075471698</c:v>
                </c:pt>
                <c:pt idx="8">
                  <c:v>0.0915094339622642</c:v>
                </c:pt>
                <c:pt idx="9">
                  <c:v>0.0518867924528302</c:v>
                </c:pt>
              </c:numCache>
            </c:numRef>
          </c:val>
        </c:ser>
        <c:ser>
          <c:idx val="1"/>
          <c:order val="1"/>
          <c:tx>
            <c:strRef>
              <c:f>'[抖音_RTA_v9策略开发_贾宏斌_20260106.xlsx]1、RTA V9模型评估'!$AD$51</c:f>
              <c:strCache>
                <c:ptCount val="1"/>
                <c:pt idx="0">
                  <c:v>申完安全V9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'[抖音_RTA_v9策略开发_贾宏斌_20260106.xlsx]1、RTA V9模型评估'!$AB$52:$AB$61</c:f>
              <c:strCache>
                <c:ptCount val="10"/>
                <c:pt idx="0">
                  <c:v>01q</c:v>
                </c:pt>
                <c:pt idx="1">
                  <c:v>02q</c:v>
                </c:pt>
                <c:pt idx="2">
                  <c:v>03q</c:v>
                </c:pt>
                <c:pt idx="3">
                  <c:v>04q</c:v>
                </c:pt>
                <c:pt idx="4">
                  <c:v>05q</c:v>
                </c:pt>
                <c:pt idx="5">
                  <c:v>06q</c:v>
                </c:pt>
                <c:pt idx="6">
                  <c:v>07q</c:v>
                </c:pt>
                <c:pt idx="7">
                  <c:v>08q</c:v>
                </c:pt>
                <c:pt idx="8">
                  <c:v>09q</c:v>
                </c:pt>
                <c:pt idx="9">
                  <c:v>10q</c:v>
                </c:pt>
              </c:strCache>
            </c:strRef>
          </c:cat>
          <c:val>
            <c:numRef>
              <c:f>'[抖音_RTA_v9策略开发_贾宏斌_20260106.xlsx]1、RTA V9模型评估'!$AD$52:$AD$61</c:f>
              <c:numCache>
                <c:formatCode>0.0%</c:formatCode>
                <c:ptCount val="10"/>
                <c:pt idx="0">
                  <c:v>0.149056603773585</c:v>
                </c:pt>
                <c:pt idx="1">
                  <c:v>0.119811320754717</c:v>
                </c:pt>
                <c:pt idx="2">
                  <c:v>0.0971698113207547</c:v>
                </c:pt>
                <c:pt idx="3">
                  <c:v>0.0962264150943396</c:v>
                </c:pt>
                <c:pt idx="4">
                  <c:v>0.0773584905660377</c:v>
                </c:pt>
                <c:pt idx="5">
                  <c:v>0.0943396226415094</c:v>
                </c:pt>
                <c:pt idx="6">
                  <c:v>0.125471698113208</c:v>
                </c:pt>
                <c:pt idx="7">
                  <c:v>0.111320754716981</c:v>
                </c:pt>
                <c:pt idx="8">
                  <c:v>0.0745283018867925</c:v>
                </c:pt>
                <c:pt idx="9">
                  <c:v>0.0367924528301887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46"/>
        <c:overlap val="-28"/>
        <c:axId val="329951334"/>
        <c:axId val="908513335"/>
      </c:barChart>
      <c:catAx>
        <c:axId val="32995133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908513335"/>
        <c:crosses val="autoZero"/>
        <c:auto val="1"/>
        <c:lblAlgn val="ctr"/>
        <c:lblOffset val="100"/>
        <c:noMultiLvlLbl val="0"/>
      </c:catAx>
      <c:valAx>
        <c:axId val="908513335"/>
        <c:scaling>
          <c:orientation val="minMax"/>
        </c:scaling>
        <c:delete val="0"/>
        <c:axPos val="l"/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32995133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华文楷体" panose="02010600040101010101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68d0dbdd-0220-4dc1-8e28-f41689c8b60b}"/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lang="zh-CN">
          <a:latin typeface="华文楷体" panose="02010600040101010101" charset="-122"/>
          <a:ea typeface="华文楷体" panose="02010600040101010101" charset="-122"/>
          <a:cs typeface="华文楷体" panose="02010600040101010101" charset="-122"/>
          <a:sym typeface="华文楷体" panose="02010600040101010101" charset="-122"/>
        </a:defRPr>
      </a:pPr>
    </a:p>
  </c:txPr>
  <c:externalData r:id="rId1">
    <c:autoUpdate val="0"/>
  </c:externalData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  <a:r>
              <a:rPr lang="en-US" altLang="zh-CN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rPr>
              <a:t>过件率排序</a:t>
            </a:r>
            <a:endParaRPr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华文楷体" panose="02010600040101010101" charset="-122"/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'[抖音_RTA_v9策略开发_贾宏斌_20260106.xlsx]1、RTA V9模型评估'!$AO$52</c:f>
              <c:strCache>
                <c:ptCount val="1"/>
                <c:pt idx="0">
                  <c:v>申完安全V8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val>
            <c:numRef>
              <c:f>'[抖音_RTA_v9策略开发_贾宏斌_20260106.xlsx]1、RTA V9模型评估'!$AO$53:$AO$62</c:f>
              <c:numCache>
                <c:formatCode>0.0%</c:formatCode>
                <c:ptCount val="10"/>
                <c:pt idx="0">
                  <c:v>0.0303030303030303</c:v>
                </c:pt>
                <c:pt idx="1">
                  <c:v>0.0138888888888889</c:v>
                </c:pt>
                <c:pt idx="2">
                  <c:v>0.0470588235294118</c:v>
                </c:pt>
                <c:pt idx="3">
                  <c:v>0.0705882352941177</c:v>
                </c:pt>
                <c:pt idx="4">
                  <c:v>0.0860215053763441</c:v>
                </c:pt>
                <c:pt idx="5">
                  <c:v>0.103092783505155</c:v>
                </c:pt>
                <c:pt idx="6">
                  <c:v>0.105263157894737</c:v>
                </c:pt>
                <c:pt idx="7">
                  <c:v>0.192307692307692</c:v>
                </c:pt>
                <c:pt idx="8">
                  <c:v>0.216494845360825</c:v>
                </c:pt>
                <c:pt idx="9">
                  <c:v>0.363636363636364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'[抖音_RTA_v9策略开发_贾宏斌_20260106.xlsx]1、RTA V9模型评估'!$AP$52</c:f>
              <c:strCache>
                <c:ptCount val="1"/>
                <c:pt idx="0">
                  <c:v>申完安全V9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val>
            <c:numRef>
              <c:f>'[抖音_RTA_v9策略开发_贾宏斌_20260106.xlsx]1、RTA V9模型评估'!$AP$53:$AP$62</c:f>
              <c:numCache>
                <c:formatCode>0.0%</c:formatCode>
                <c:ptCount val="10"/>
                <c:pt idx="0">
                  <c:v>0</c:v>
                </c:pt>
                <c:pt idx="1">
                  <c:v>0.015748031496063</c:v>
                </c:pt>
                <c:pt idx="2">
                  <c:v>0.029126213592233</c:v>
                </c:pt>
                <c:pt idx="3">
                  <c:v>0.0882352941176471</c:v>
                </c:pt>
                <c:pt idx="4">
                  <c:v>0.0487804878048781</c:v>
                </c:pt>
                <c:pt idx="5">
                  <c:v>0.09</c:v>
                </c:pt>
                <c:pt idx="6">
                  <c:v>0.12781954887218</c:v>
                </c:pt>
                <c:pt idx="7">
                  <c:v>0.23728813559322</c:v>
                </c:pt>
                <c:pt idx="8">
                  <c:v>0.316455696202532</c:v>
                </c:pt>
                <c:pt idx="9">
                  <c:v>0.512820512820513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566220433"/>
        <c:axId val="464296011"/>
      </c:lineChart>
      <c:catAx>
        <c:axId val="566220433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464296011"/>
        <c:crosses val="autoZero"/>
        <c:auto val="1"/>
        <c:lblAlgn val="ctr"/>
        <c:lblOffset val="100"/>
        <c:noMultiLvlLbl val="0"/>
      </c:catAx>
      <c:valAx>
        <c:axId val="464296011"/>
        <c:scaling>
          <c:orientation val="minMax"/>
        </c:scaling>
        <c:delete val="0"/>
        <c:axPos val="l"/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56622043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华文楷体" panose="02010600040101010101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0fbefca8-51e0-4556-83b0-850f4bdda749}"/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lang="zh-CN">
          <a:latin typeface="华文楷体" panose="02010600040101010101" charset="-122"/>
          <a:ea typeface="华文楷体" panose="02010600040101010101" charset="-122"/>
          <a:cs typeface="华文楷体" panose="02010600040101010101" charset="-122"/>
          <a:sym typeface="华文楷体" panose="02010600040101010101" charset="-122"/>
        </a:defRPr>
      </a:pPr>
    </a:p>
  </c:txPr>
  <c:externalData r:id="rId1">
    <c:autoUpdate val="0"/>
  </c:externalData>
</c:chartSpace>
</file>

<file path=ppt/charts/chart5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2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  <a:r>
              <a:rPr sz="12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rPr>
              <a:t>质量指标</a:t>
            </a:r>
            <a:endParaRPr sz="12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华文楷体" panose="02010600040101010101" charset="-122"/>
            </a:endParaRPr>
          </a:p>
        </c:rich>
      </c:tx>
      <c:layout>
        <c:manualLayout>
          <c:xMode val="edge"/>
          <c:yMode val="edge"/>
          <c:x val="0.439154037548066"/>
          <c:y val="0.0625994694960212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842691143443023"/>
          <c:y val="0.167157584683358"/>
          <c:w val="0.820330045893956"/>
          <c:h val="0.573883161512027"/>
        </c:manualLayout>
      </c:layout>
      <c:lineChart>
        <c:grouping val="standard"/>
        <c:varyColors val="0"/>
        <c:ser>
          <c:idx val="0"/>
          <c:order val="0"/>
          <c:tx>
            <c:strRef>
              <c:f>[工作簿1]Sheet1!$H$49</c:f>
              <c:strCache>
                <c:ptCount val="1"/>
                <c:pt idx="0">
                  <c:v>安全过件率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elete val="1"/>
          </c:dLbls>
          <c:cat>
            <c:numRef>
              <c:f>[工作簿1]Sheet1!$G$50:$G$69</c:f>
              <c:numCache>
                <c:formatCode>mm/dd</c:formatCode>
                <c:ptCount val="20"/>
                <c:pt idx="0" c:formatCode="mm/dd">
                  <c:v>46031</c:v>
                </c:pt>
                <c:pt idx="1" c:formatCode="mm/dd">
                  <c:v>46032</c:v>
                </c:pt>
                <c:pt idx="2" c:formatCode="mm/dd">
                  <c:v>46033</c:v>
                </c:pt>
                <c:pt idx="3" c:formatCode="mm/dd">
                  <c:v>46034</c:v>
                </c:pt>
                <c:pt idx="4" c:formatCode="mm/dd">
                  <c:v>46035</c:v>
                </c:pt>
                <c:pt idx="5" c:formatCode="mm/dd">
                  <c:v>46036</c:v>
                </c:pt>
                <c:pt idx="6" c:formatCode="mm/dd">
                  <c:v>46037</c:v>
                </c:pt>
                <c:pt idx="7" c:formatCode="mm/dd">
                  <c:v>46038</c:v>
                </c:pt>
                <c:pt idx="8" c:formatCode="mm/dd">
                  <c:v>46039</c:v>
                </c:pt>
                <c:pt idx="9" c:formatCode="mm/dd">
                  <c:v>46040</c:v>
                </c:pt>
                <c:pt idx="10" c:formatCode="mm/dd">
                  <c:v>46041</c:v>
                </c:pt>
                <c:pt idx="11" c:formatCode="mm/dd">
                  <c:v>46042</c:v>
                </c:pt>
                <c:pt idx="12" c:formatCode="mm/dd">
                  <c:v>46043</c:v>
                </c:pt>
                <c:pt idx="13" c:formatCode="mm/dd">
                  <c:v>46044</c:v>
                </c:pt>
                <c:pt idx="14" c:formatCode="mm/dd">
                  <c:v>46045</c:v>
                </c:pt>
                <c:pt idx="15" c:formatCode="mm/dd">
                  <c:v>46046</c:v>
                </c:pt>
                <c:pt idx="16" c:formatCode="mm/dd">
                  <c:v>46047</c:v>
                </c:pt>
                <c:pt idx="17" c:formatCode="mm/dd">
                  <c:v>46048</c:v>
                </c:pt>
                <c:pt idx="18" c:formatCode="mm/dd">
                  <c:v>46049</c:v>
                </c:pt>
                <c:pt idx="19" c:formatCode="mm/dd">
                  <c:v>46050</c:v>
                </c:pt>
              </c:numCache>
            </c:numRef>
          </c:cat>
          <c:val>
            <c:numRef>
              <c:f>[工作簿1]Sheet1!$H$50:$H$69</c:f>
              <c:numCache>
                <c:formatCode>0%</c:formatCode>
                <c:ptCount val="20"/>
                <c:pt idx="0">
                  <c:v>0.1866</c:v>
                </c:pt>
                <c:pt idx="1">
                  <c:v>0.2046</c:v>
                </c:pt>
                <c:pt idx="2">
                  <c:v>0.2329</c:v>
                </c:pt>
                <c:pt idx="3">
                  <c:v>0.192</c:v>
                </c:pt>
                <c:pt idx="4">
                  <c:v>0.215</c:v>
                </c:pt>
                <c:pt idx="5">
                  <c:v>0.241</c:v>
                </c:pt>
                <c:pt idx="6">
                  <c:v>0.1988</c:v>
                </c:pt>
                <c:pt idx="7">
                  <c:v>0.1809</c:v>
                </c:pt>
                <c:pt idx="8">
                  <c:v>0.1954</c:v>
                </c:pt>
                <c:pt idx="9">
                  <c:v>0.2007</c:v>
                </c:pt>
                <c:pt idx="10">
                  <c:v>0.1826</c:v>
                </c:pt>
                <c:pt idx="11">
                  <c:v>0.1818</c:v>
                </c:pt>
                <c:pt idx="12">
                  <c:v>0.1848</c:v>
                </c:pt>
                <c:pt idx="13">
                  <c:v>0.1436</c:v>
                </c:pt>
                <c:pt idx="14">
                  <c:v>0.2026</c:v>
                </c:pt>
                <c:pt idx="15">
                  <c:v>0.1617</c:v>
                </c:pt>
                <c:pt idx="16">
                  <c:v>0.1718</c:v>
                </c:pt>
                <c:pt idx="17">
                  <c:v>0.1827</c:v>
                </c:pt>
                <c:pt idx="18">
                  <c:v>0.1726</c:v>
                </c:pt>
                <c:pt idx="19">
                  <c:v>0.1634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07321231"/>
        <c:axId val="147787966"/>
      </c:lineChart>
      <c:lineChart>
        <c:grouping val="standard"/>
        <c:varyColors val="0"/>
        <c:ser>
          <c:idx val="1"/>
          <c:order val="1"/>
          <c:tx>
            <c:strRef>
              <c:f>[工作簿1]Sheet1!$I$49</c:f>
              <c:strCache>
                <c:ptCount val="1"/>
                <c:pt idx="0">
                  <c:v>授信额度</c:v>
                </c:pt>
              </c:strCache>
            </c:strRef>
          </c:tx>
          <c:spPr>
            <a:ln w="28575" cap="rnd">
              <a:solidFill>
                <a:schemeClr val="bg2">
                  <a:lumMod val="5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bg2">
                  <a:lumMod val="50000"/>
                </a:schemeClr>
              </a:solidFill>
              <a:ln w="9525">
                <a:noFill/>
              </a:ln>
              <a:effectLst/>
            </c:spPr>
          </c:marker>
          <c:dLbls>
            <c:delete val="1"/>
          </c:dLbls>
          <c:cat>
            <c:numRef>
              <c:f>[工作簿1]Sheet1!$G$50:$G$69</c:f>
              <c:numCache>
                <c:formatCode>mm/dd</c:formatCode>
                <c:ptCount val="20"/>
                <c:pt idx="0" c:formatCode="mm/dd">
                  <c:v>46031</c:v>
                </c:pt>
                <c:pt idx="1" c:formatCode="mm/dd">
                  <c:v>46032</c:v>
                </c:pt>
                <c:pt idx="2" c:formatCode="mm/dd">
                  <c:v>46033</c:v>
                </c:pt>
                <c:pt idx="3" c:formatCode="mm/dd">
                  <c:v>46034</c:v>
                </c:pt>
                <c:pt idx="4" c:formatCode="mm/dd">
                  <c:v>46035</c:v>
                </c:pt>
                <c:pt idx="5" c:formatCode="mm/dd">
                  <c:v>46036</c:v>
                </c:pt>
                <c:pt idx="6" c:formatCode="mm/dd">
                  <c:v>46037</c:v>
                </c:pt>
                <c:pt idx="7" c:formatCode="mm/dd">
                  <c:v>46038</c:v>
                </c:pt>
                <c:pt idx="8" c:formatCode="mm/dd">
                  <c:v>46039</c:v>
                </c:pt>
                <c:pt idx="9" c:formatCode="mm/dd">
                  <c:v>46040</c:v>
                </c:pt>
                <c:pt idx="10" c:formatCode="mm/dd">
                  <c:v>46041</c:v>
                </c:pt>
                <c:pt idx="11" c:formatCode="mm/dd">
                  <c:v>46042</c:v>
                </c:pt>
                <c:pt idx="12" c:formatCode="mm/dd">
                  <c:v>46043</c:v>
                </c:pt>
                <c:pt idx="13" c:formatCode="mm/dd">
                  <c:v>46044</c:v>
                </c:pt>
                <c:pt idx="14" c:formatCode="mm/dd">
                  <c:v>46045</c:v>
                </c:pt>
                <c:pt idx="15" c:formatCode="mm/dd">
                  <c:v>46046</c:v>
                </c:pt>
                <c:pt idx="16" c:formatCode="mm/dd">
                  <c:v>46047</c:v>
                </c:pt>
                <c:pt idx="17" c:formatCode="mm/dd">
                  <c:v>46048</c:v>
                </c:pt>
                <c:pt idx="18" c:formatCode="mm/dd">
                  <c:v>46049</c:v>
                </c:pt>
                <c:pt idx="19" c:formatCode="mm/dd">
                  <c:v>46050</c:v>
                </c:pt>
              </c:numCache>
            </c:numRef>
          </c:cat>
          <c:val>
            <c:numRef>
              <c:f>[工作簿1]Sheet1!$I$50:$I$69</c:f>
              <c:numCache>
                <c:formatCode>#,##0</c:formatCode>
                <c:ptCount val="20"/>
                <c:pt idx="0">
                  <c:v>25233</c:v>
                </c:pt>
                <c:pt idx="1">
                  <c:v>26879</c:v>
                </c:pt>
                <c:pt idx="2">
                  <c:v>30292</c:v>
                </c:pt>
                <c:pt idx="3">
                  <c:v>26708</c:v>
                </c:pt>
                <c:pt idx="4">
                  <c:v>25275</c:v>
                </c:pt>
                <c:pt idx="5">
                  <c:v>28677</c:v>
                </c:pt>
                <c:pt idx="6">
                  <c:v>25400</c:v>
                </c:pt>
                <c:pt idx="7">
                  <c:v>22423</c:v>
                </c:pt>
                <c:pt idx="8">
                  <c:v>25197</c:v>
                </c:pt>
                <c:pt idx="9">
                  <c:v>24425</c:v>
                </c:pt>
                <c:pt idx="10">
                  <c:v>24041</c:v>
                </c:pt>
                <c:pt idx="11">
                  <c:v>21269</c:v>
                </c:pt>
                <c:pt idx="12">
                  <c:v>23050</c:v>
                </c:pt>
                <c:pt idx="13">
                  <c:v>16782</c:v>
                </c:pt>
                <c:pt idx="14">
                  <c:v>21185</c:v>
                </c:pt>
                <c:pt idx="15">
                  <c:v>18540</c:v>
                </c:pt>
                <c:pt idx="16">
                  <c:v>23234</c:v>
                </c:pt>
                <c:pt idx="17">
                  <c:v>22765</c:v>
                </c:pt>
                <c:pt idx="18">
                  <c:v>24076</c:v>
                </c:pt>
                <c:pt idx="19">
                  <c:v>21284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07985391"/>
        <c:axId val="448943031"/>
      </c:lineChart>
      <c:dateAx>
        <c:axId val="507321231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147787966"/>
        <c:crosses val="autoZero"/>
        <c:auto val="1"/>
        <c:lblOffset val="100"/>
        <c:baseTimeUnit val="days"/>
      </c:dateAx>
      <c:valAx>
        <c:axId val="147787966"/>
        <c:scaling>
          <c:orientation val="minMax"/>
          <c:min val="0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507321231"/>
        <c:crosses val="autoZero"/>
        <c:crossBetween val="between"/>
      </c:valAx>
      <c:dateAx>
        <c:axId val="707985391"/>
        <c:scaling>
          <c:orientation val="minMax"/>
        </c:scaling>
        <c:delete val="1"/>
        <c:axPos val="b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448943031"/>
        <c:crosses val="autoZero"/>
        <c:auto val="1"/>
        <c:lblOffset val="100"/>
        <c:baseTimeUnit val="days"/>
      </c:dateAx>
      <c:valAx>
        <c:axId val="448943031"/>
        <c:scaling>
          <c:orientation val="minMax"/>
          <c:min val="0"/>
        </c:scaling>
        <c:delete val="0"/>
        <c:axPos val="r"/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707985391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</c:legendEntry>
      <c:layout>
        <c:manualLayout>
          <c:xMode val="edge"/>
          <c:yMode val="edge"/>
          <c:x val="0.35850991114149"/>
          <c:y val="0.901570937653412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华文楷体" panose="02010600040101010101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9544b105-49d7-4675-9ac7-db176866ea78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zh-CN" sz="1000">
          <a:latin typeface="华文楷体" panose="02010600040101010101" charset="-122"/>
          <a:ea typeface="华文楷体" panose="02010600040101010101" charset="-122"/>
          <a:cs typeface="华文楷体" panose="02010600040101010101" charset="-122"/>
          <a:sym typeface="华文楷体" panose="02010600040101010101" charset="-122"/>
        </a:defRPr>
      </a:pPr>
    </a:p>
  </c:txPr>
  <c:externalData r:id="rId1">
    <c:autoUpdate val="0"/>
  </c:externalData>
</c:chartSpace>
</file>

<file path=ppt/charts/chart5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400" b="1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华文楷体" panose="02010600040101010101" charset="-122"/>
            </a:defRPr>
          </a:pPr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'[抖音_RTA_v9策略开发_贾宏斌_20260106.xlsx]1、RTA V9模型评估'!$AY$51</c:f>
              <c:strCache>
                <c:ptCount val="1"/>
                <c:pt idx="0">
                  <c:v>安全过件率</c:v>
                </c:pt>
              </c:strCache>
            </c:strRef>
          </c:tx>
          <c:spPr>
            <a:solidFill>
              <a:schemeClr val="tx1">
                <a:lumMod val="85000"/>
                <a:lumOff val="1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华文楷体" panose="02010600040101010101" charset="-122"/>
                    <a:ea typeface="华文楷体" panose="02010600040101010101" charset="-122"/>
                    <a:cs typeface="华文楷体" panose="02010600040101010101" charset="-122"/>
                    <a:sym typeface="华文楷体" panose="02010600040101010101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'[抖音_RTA_v9策略开发_贾宏斌_20260106.xlsx]1、RTA V9模型评估'!$AX$52:$AX$53</c:f>
              <c:strCache>
                <c:ptCount val="2"/>
                <c:pt idx="0">
                  <c:v>V9</c:v>
                </c:pt>
                <c:pt idx="1">
                  <c:v>V8.2</c:v>
                </c:pt>
              </c:strCache>
            </c:strRef>
          </c:cat>
          <c:val>
            <c:numRef>
              <c:f>'[抖音_RTA_v9策略开发_贾宏斌_20260106.xlsx]1、RTA V9模型评估'!$AY$52:$AY$53</c:f>
              <c:numCache>
                <c:formatCode>0.00%</c:formatCode>
                <c:ptCount val="2"/>
                <c:pt idx="0">
                  <c:v>0.172</c:v>
                </c:pt>
                <c:pt idx="1">
                  <c:v>0.181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46"/>
        <c:overlap val="-28"/>
        <c:axId val="934759039"/>
        <c:axId val="483624744"/>
      </c:barChart>
      <c:catAx>
        <c:axId val="934759039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483624744"/>
        <c:crosses val="autoZero"/>
        <c:auto val="1"/>
        <c:lblAlgn val="ctr"/>
        <c:lblOffset val="100"/>
        <c:noMultiLvlLbl val="0"/>
      </c:catAx>
      <c:valAx>
        <c:axId val="483624744"/>
        <c:scaling>
          <c:orientation val="minMax"/>
        </c:scaling>
        <c:delete val="0"/>
        <c:axPos val="l"/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  <c:crossAx val="93475903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华文楷体" panose="02010600040101010101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4ee99564-7afa-4a9e-9a76-7537788b0903}"/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lang="zh-CN">
          <a:latin typeface="华文楷体" panose="02010600040101010101" charset="-122"/>
          <a:ea typeface="华文楷体" panose="02010600040101010101" charset="-122"/>
          <a:cs typeface="华文楷体" panose="02010600040101010101" charset="-122"/>
          <a:sym typeface="华文楷体" panose="02010600040101010101" charset="-122"/>
        </a:defRPr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8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4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1001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1029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1002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28575" cap="rnd">
        <a:solidFill>
          <a:schemeClr val="phClr"/>
        </a:solidFill>
        <a:round/>
      </a:ln>
      <a:effectLst/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1029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1002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28575" cap="rnd">
        <a:solidFill>
          <a:schemeClr val="phClr"/>
        </a:solidFill>
        <a:round/>
      </a:ln>
      <a:effectLst/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1002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28575" cap="rnd">
        <a:solidFill>
          <a:schemeClr val="phClr"/>
        </a:solidFill>
        <a:round/>
      </a:ln>
      <a:effectLst/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1002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28575" cap="rnd">
        <a:solidFill>
          <a:schemeClr val="phClr"/>
        </a:solidFill>
        <a:round/>
      </a:ln>
      <a:effectLst/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1002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28575" cap="rnd">
        <a:solidFill>
          <a:schemeClr val="phClr"/>
        </a:solidFill>
        <a:round/>
      </a:ln>
      <a:effectLst/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1002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28575" cap="rnd">
        <a:solidFill>
          <a:schemeClr val="phClr"/>
        </a:solidFill>
        <a:round/>
      </a:ln>
      <a:effectLst/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1002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28575" cap="rnd">
        <a:solidFill>
          <a:schemeClr val="phClr"/>
        </a:solidFill>
        <a:round/>
      </a:ln>
      <a:effectLst/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1002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28575" cap="rnd">
        <a:solidFill>
          <a:schemeClr val="phClr"/>
        </a:solidFill>
        <a:round/>
      </a:ln>
      <a:effectLst/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1002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28575" cap="rnd">
        <a:solidFill>
          <a:schemeClr val="phClr"/>
        </a:solidFill>
        <a:round/>
      </a:ln>
      <a:effectLst/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1002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28575" cap="rnd">
        <a:solidFill>
          <a:schemeClr val="phClr"/>
        </a:solidFill>
        <a:round/>
      </a:ln>
      <a:effectLst/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9.xml><?xml version="1.0" encoding="utf-8"?>
<cs:chartStyle xmlns:cs="http://schemas.microsoft.com/office/drawing/2012/chartStyle" xmlns:a="http://schemas.openxmlformats.org/drawingml/2006/main" id="1002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28575" cap="rnd">
        <a:solidFill>
          <a:schemeClr val="phClr"/>
        </a:solidFill>
        <a:round/>
      </a:ln>
      <a:effectLst/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0.xml><?xml version="1.0" encoding="utf-8"?>
<cs:chartStyle xmlns:cs="http://schemas.microsoft.com/office/drawing/2012/chartStyle" xmlns:a="http://schemas.openxmlformats.org/drawingml/2006/main" id="1002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28575" cap="rnd">
        <a:solidFill>
          <a:schemeClr val="phClr"/>
        </a:solidFill>
        <a:round/>
      </a:ln>
      <a:effectLst/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1.xml><?xml version="1.0" encoding="utf-8"?>
<cs:chartStyle xmlns:cs="http://schemas.microsoft.com/office/drawing/2012/chartStyle" xmlns:a="http://schemas.openxmlformats.org/drawingml/2006/main" id="1002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28575" cap="rnd">
        <a:solidFill>
          <a:schemeClr val="phClr"/>
        </a:solidFill>
        <a:round/>
      </a:ln>
      <a:effectLst/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2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3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4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5.xml><?xml version="1.0" encoding="utf-8"?>
<cs:chartStyle xmlns:cs="http://schemas.microsoft.com/office/drawing/2012/chartStyle" xmlns:a="http://schemas.openxmlformats.org/drawingml/2006/main" id="1002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28575" cap="rnd">
        <a:solidFill>
          <a:schemeClr val="phClr"/>
        </a:solidFill>
        <a:round/>
      </a:ln>
      <a:effectLst/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6.xml><?xml version="1.0" encoding="utf-8"?>
<cs:chartStyle xmlns:cs="http://schemas.microsoft.com/office/drawing/2012/chartStyle" xmlns:a="http://schemas.openxmlformats.org/drawingml/2006/main" id="1002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28575" cap="rnd">
        <a:solidFill>
          <a:schemeClr val="phClr"/>
        </a:solidFill>
        <a:round/>
      </a:ln>
      <a:effectLst/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7.xml><?xml version="1.0" encoding="utf-8"?>
<cs:chartStyle xmlns:cs="http://schemas.microsoft.com/office/drawing/2012/chartStyle" xmlns:a="http://schemas.openxmlformats.org/drawingml/2006/main" id="1002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28575" cap="rnd">
        <a:solidFill>
          <a:schemeClr val="phClr"/>
        </a:solidFill>
        <a:round/>
      </a:ln>
      <a:effectLst/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8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9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0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1.xml><?xml version="1.0" encoding="utf-8"?>
<cs:chartStyle xmlns:cs="http://schemas.microsoft.com/office/drawing/2012/chartStyle" xmlns:a="http://schemas.openxmlformats.org/drawingml/2006/main" id="1002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28575" cap="rnd">
        <a:solidFill>
          <a:schemeClr val="phClr"/>
        </a:solidFill>
        <a:round/>
      </a:ln>
      <a:effectLst/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2.xml><?xml version="1.0" encoding="utf-8"?>
<cs:chartStyle xmlns:cs="http://schemas.microsoft.com/office/drawing/2012/chartStyle" xmlns:a="http://schemas.openxmlformats.org/drawingml/2006/main" id="1002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28575" cap="rnd">
        <a:solidFill>
          <a:schemeClr val="phClr"/>
        </a:solidFill>
        <a:round/>
      </a:ln>
      <a:effectLst/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3.xml><?xml version="1.0" encoding="utf-8"?>
<cs:chartStyle xmlns:cs="http://schemas.microsoft.com/office/drawing/2012/chartStyle" xmlns:a="http://schemas.openxmlformats.org/drawingml/2006/main" id="1002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28575" cap="rnd">
        <a:solidFill>
          <a:schemeClr val="phClr"/>
        </a:solidFill>
        <a:round/>
      </a:ln>
      <a:effectLst/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4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5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6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7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8.xml><?xml version="1.0" encoding="utf-8"?>
<cs:chartStyle xmlns:cs="http://schemas.microsoft.com/office/drawing/2012/chartStyle" xmlns:a="http://schemas.openxmlformats.org/drawingml/2006/main" id="1002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28575" cap="rnd">
        <a:solidFill>
          <a:schemeClr val="phClr"/>
        </a:solidFill>
        <a:round/>
      </a:ln>
      <a:effectLst/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9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0.xml><?xml version="1.0" encoding="utf-8"?>
<cs:chartStyle xmlns:cs="http://schemas.microsoft.com/office/drawing/2012/chartStyle" xmlns:a="http://schemas.openxmlformats.org/drawingml/2006/main" id="1002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28575" cap="rnd">
        <a:solidFill>
          <a:schemeClr val="phClr"/>
        </a:solidFill>
        <a:round/>
      </a:ln>
      <a:effectLst/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1.xml><?xml version="1.0" encoding="utf-8"?>
<cs:chartStyle xmlns:cs="http://schemas.microsoft.com/office/drawing/2012/chartStyle" xmlns:a="http://schemas.openxmlformats.org/drawingml/2006/main" id="1002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28575" cap="rnd">
        <a:solidFill>
          <a:schemeClr val="phClr"/>
        </a:solidFill>
        <a:round/>
      </a:ln>
      <a:effectLst/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2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32FE82-8D79-B94C-B55C-9E242E3A5FAD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80E583-B14B-C14E-9B4A-3BE8E286CD6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80E583-B14B-C14E-9B4A-3BE8E286CD6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80E583-B14B-C14E-9B4A-3BE8E286CD6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80E583-B14B-C14E-9B4A-3BE8E286CD6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80E583-B14B-C14E-9B4A-3BE8E286CD6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80E583-B14B-C14E-9B4A-3BE8E286CD6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80E583-B14B-C14E-9B4A-3BE8E286CD6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80E583-B14B-C14E-9B4A-3BE8E286CD6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74641745293890_.pic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70" y="0"/>
            <a:ext cx="12188825" cy="6858000"/>
          </a:xfrm>
          <a:prstGeom prst="rect">
            <a:avLst/>
          </a:prstGeom>
        </p:spPr>
      </p:pic>
      <p:sp>
        <p:nvSpPr>
          <p:cNvPr id="14" name="标题 13"/>
          <p:cNvSpPr>
            <a:spLocks noGrp="1"/>
          </p:cNvSpPr>
          <p:nvPr>
            <p:ph type="title" hasCustomPrompt="1"/>
          </p:nvPr>
        </p:nvSpPr>
        <p:spPr>
          <a:xfrm>
            <a:off x="650914" y="3670650"/>
            <a:ext cx="5716835" cy="505208"/>
          </a:xfrm>
          <a:prstGeom prst="rect">
            <a:avLst/>
          </a:prstGeom>
        </p:spPr>
        <p:txBody>
          <a:bodyPr anchor="ctr"/>
          <a:lstStyle>
            <a:lvl1pPr>
              <a:defRPr b="1" i="0">
                <a:solidFill>
                  <a:schemeClr val="bg1"/>
                </a:solidFill>
                <a:latin typeface="Source Han Sans CN Bold" panose="020B0600000000000000" pitchFamily="34" charset="-128"/>
                <a:ea typeface="Source Han Sans CN Bold" panose="020B0600000000000000" pitchFamily="34" charset="-128"/>
              </a:defRPr>
            </a:lvl1pPr>
          </a:lstStyle>
          <a:p>
            <a:r>
              <a:rPr kumimoji="1" lang="zh-CN" altLang="en-US" dirty="0"/>
              <a:t>单击此处编辑标题</a:t>
            </a:r>
            <a:endParaRPr kumimoji="1" lang="zh-CN" altLang="en-US" dirty="0"/>
          </a:p>
        </p:txBody>
      </p:sp>
      <p:sp>
        <p:nvSpPr>
          <p:cNvPr id="19" name="文本占位符 18"/>
          <p:cNvSpPr>
            <a:spLocks noGrp="1"/>
          </p:cNvSpPr>
          <p:nvPr>
            <p:ph type="body" sz="quarter" idx="12"/>
          </p:nvPr>
        </p:nvSpPr>
        <p:spPr>
          <a:xfrm>
            <a:off x="650914" y="4565657"/>
            <a:ext cx="4075074" cy="37027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Source Han Sans CN Normal" panose="020B0600000000000000" pitchFamily="34" charset="-128"/>
                <a:ea typeface="Source Han Sans CN Normal" panose="020B0600000000000000" pitchFamily="34" charset="-128"/>
                <a:cs typeface="Arial" panose="020B0604020202090204" pitchFamily="34" charset="0"/>
              </a:defRPr>
            </a:lvl1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74621745293890_.pic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75" y="0"/>
            <a:ext cx="12188825" cy="6858000"/>
          </a:xfrm>
          <a:prstGeom prst="rect">
            <a:avLst/>
          </a:prstGeom>
        </p:spPr>
      </p:pic>
      <p:sp>
        <p:nvSpPr>
          <p:cNvPr id="7" name="标题 6"/>
          <p:cNvSpPr>
            <a:spLocks noGrp="1"/>
          </p:cNvSpPr>
          <p:nvPr>
            <p:ph type="title" hasCustomPrompt="1"/>
          </p:nvPr>
        </p:nvSpPr>
        <p:spPr>
          <a:xfrm>
            <a:off x="661930" y="717664"/>
            <a:ext cx="4769386" cy="5440765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b="0" i="0">
                <a:solidFill>
                  <a:schemeClr val="bg1"/>
                </a:solidFill>
                <a:highlight>
                  <a:srgbClr val="000000">
                    <a:alpha val="0"/>
                  </a:srgbClr>
                </a:highlight>
                <a:latin typeface="Source Han Sans CN Normal" panose="020B0600000000000000" pitchFamily="34" charset="-128"/>
                <a:ea typeface="Source Han Sans CN Normal" panose="020B0600000000000000" pitchFamily="34" charset="-128"/>
                <a:cs typeface="Arial" panose="020B0604020202090204" pitchFamily="34" charset="0"/>
              </a:defRPr>
            </a:lvl1pPr>
          </a:lstStyle>
          <a:p>
            <a:r>
              <a:rPr kumimoji="1" lang="zh-CN" altLang="en-US" dirty="0"/>
              <a:t>目录页</a:t>
            </a:r>
            <a:r>
              <a:rPr kumimoji="1" lang="en-US" altLang="zh-CN" dirty="0"/>
              <a:t>/</a:t>
            </a:r>
            <a:r>
              <a:rPr kumimoji="1" lang="zh-CN" altLang="en-US" dirty="0"/>
              <a:t>分隔页</a:t>
            </a:r>
            <a:endParaRPr kumimoji="1"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" hasCustomPrompt="1"/>
          </p:nvPr>
        </p:nvSpPr>
        <p:spPr>
          <a:xfrm>
            <a:off x="10173970" y="2576830"/>
            <a:ext cx="2080895" cy="322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sz="16600" b="1">
                <a:solidFill>
                  <a:schemeClr val="bg1"/>
                </a:solidFill>
                <a:latin typeface="AvantGarde LT Book" panose="02000603030000020004" charset="0"/>
                <a:cs typeface="AvantGarde LT Book" panose="02000603030000020004" charset="0"/>
              </a:defRPr>
            </a:lvl1pPr>
          </a:lstStyle>
          <a:p>
            <a:pPr lvl="0"/>
            <a:r>
              <a:rPr lang="en-US" altLang="zh-CN"/>
              <a:t>1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74611745293890_.pic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70" y="0"/>
            <a:ext cx="12188825" cy="6858000"/>
          </a:xfrm>
          <a:prstGeom prst="rect">
            <a:avLst/>
          </a:prstGeom>
        </p:spPr>
      </p:pic>
      <p:sp>
        <p:nvSpPr>
          <p:cNvPr id="14" name="标题 13"/>
          <p:cNvSpPr>
            <a:spLocks noGrp="1"/>
          </p:cNvSpPr>
          <p:nvPr>
            <p:ph type="title" hasCustomPrompt="1"/>
          </p:nvPr>
        </p:nvSpPr>
        <p:spPr>
          <a:xfrm>
            <a:off x="308932" y="142675"/>
            <a:ext cx="11574136" cy="505208"/>
          </a:xfrm>
          <a:prstGeom prst="rect">
            <a:avLst/>
          </a:prstGeom>
        </p:spPr>
        <p:txBody>
          <a:bodyPr anchor="ctr"/>
          <a:lstStyle>
            <a:lvl1pPr>
              <a:defRPr b="1" i="0">
                <a:solidFill>
                  <a:schemeClr val="tx1">
                    <a:lumMod val="85000"/>
                    <a:lumOff val="15000"/>
                  </a:schemeClr>
                </a:solidFill>
                <a:latin typeface="Source Han Sans CN Bold" panose="020B0600000000000000" pitchFamily="34" charset="-128"/>
                <a:ea typeface="Source Han Sans CN Bold" panose="020B0600000000000000" pitchFamily="34" charset="-128"/>
              </a:defRPr>
            </a:lvl1pPr>
          </a:lstStyle>
          <a:p>
            <a:r>
              <a:rPr kumimoji="1" lang="zh-CN" altLang="en-US" dirty="0"/>
              <a:t>单击此处编辑标题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1121708" y="2850642"/>
            <a:ext cx="273023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4000" b="1" dirty="0">
                <a:solidFill>
                  <a:schemeClr val="bg1"/>
                </a:solidFill>
                <a:latin typeface="AvantGarde Book" pitchFamily="2" charset="0"/>
                <a:ea typeface="Source Han Sans CN Normal" panose="020B0600000000000000" pitchFamily="34" charset="-128"/>
                <a:cs typeface="Arial" panose="020B0604020202090204" pitchFamily="34" charset="0"/>
              </a:rPr>
              <a:t>Thank you</a:t>
            </a:r>
            <a:endParaRPr kumimoji="1" lang="zh-CN" altLang="en-US" sz="4000" b="1" dirty="0">
              <a:solidFill>
                <a:schemeClr val="bg1"/>
              </a:solidFill>
              <a:latin typeface="AvantGarde Book" pitchFamily="2" charset="0"/>
              <a:ea typeface="Source Han Sans CN Normal" panose="020B0600000000000000" pitchFamily="34" charset="-128"/>
              <a:cs typeface="Arial" panose="020B0604020202090204" pitchFamily="34" charset="0"/>
            </a:endParaRPr>
          </a:p>
        </p:txBody>
      </p:sp>
      <p:pic>
        <p:nvPicPr>
          <p:cNvPr id="2" name="图片 1" descr="74601745293890_.pic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70" y="0"/>
            <a:ext cx="1218882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1080630" y="8068588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584630" y="8068588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9346230" y="8068588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100" kern="1200">
          <a:solidFill>
            <a:srgbClr val="004FF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3.xml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7.xml"/><Relationship Id="rId8" Type="http://schemas.openxmlformats.org/officeDocument/2006/relationships/tags" Target="../tags/tag16.xml"/><Relationship Id="rId7" Type="http://schemas.openxmlformats.org/officeDocument/2006/relationships/tags" Target="../tags/tag15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1" Type="http://schemas.openxmlformats.org/officeDocument/2006/relationships/notesSlide" Target="../notesSlides/notesSlide2.xml"/><Relationship Id="rId20" Type="http://schemas.openxmlformats.org/officeDocument/2006/relationships/slideLayout" Target="../slideLayouts/slideLayout3.xml"/><Relationship Id="rId2" Type="http://schemas.openxmlformats.org/officeDocument/2006/relationships/tags" Target="../tags/tag10.xml"/><Relationship Id="rId19" Type="http://schemas.openxmlformats.org/officeDocument/2006/relationships/tags" Target="../tags/tag27.xml"/><Relationship Id="rId18" Type="http://schemas.openxmlformats.org/officeDocument/2006/relationships/tags" Target="../tags/tag26.xml"/><Relationship Id="rId17" Type="http://schemas.openxmlformats.org/officeDocument/2006/relationships/tags" Target="../tags/tag25.xml"/><Relationship Id="rId16" Type="http://schemas.openxmlformats.org/officeDocument/2006/relationships/tags" Target="../tags/tag24.xml"/><Relationship Id="rId15" Type="http://schemas.openxmlformats.org/officeDocument/2006/relationships/tags" Target="../tags/tag23.xml"/><Relationship Id="rId14" Type="http://schemas.openxmlformats.org/officeDocument/2006/relationships/tags" Target="../tags/tag22.xml"/><Relationship Id="rId13" Type="http://schemas.openxmlformats.org/officeDocument/2006/relationships/tags" Target="../tags/tag21.xml"/><Relationship Id="rId12" Type="http://schemas.openxmlformats.org/officeDocument/2006/relationships/tags" Target="../tags/tag20.xml"/><Relationship Id="rId11" Type="http://schemas.openxmlformats.org/officeDocument/2006/relationships/tags" Target="../tags/tag19.xml"/><Relationship Id="rId10" Type="http://schemas.openxmlformats.org/officeDocument/2006/relationships/tags" Target="../tags/tag18.xml"/><Relationship Id="rId1" Type="http://schemas.openxmlformats.org/officeDocument/2006/relationships/tags" Target="../tags/tag9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3.xml"/><Relationship Id="rId2" Type="http://schemas.openxmlformats.org/officeDocument/2006/relationships/tags" Target="../tags/tag28.xml"/><Relationship Id="rId1" Type="http://schemas.openxmlformats.org/officeDocument/2006/relationships/chart" Target="../charts/char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chart" Target="../charts/chart4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3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chart" Target="../charts/char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34.xml"/><Relationship Id="rId1" Type="http://schemas.openxmlformats.org/officeDocument/2006/relationships/chart" Target="../charts/chart6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3.xml"/><Relationship Id="rId3" Type="http://schemas.openxmlformats.org/officeDocument/2006/relationships/tags" Target="../tags/tag35.xml"/><Relationship Id="rId2" Type="http://schemas.openxmlformats.org/officeDocument/2006/relationships/chart" Target="../charts/chart8.xml"/><Relationship Id="rId1" Type="http://schemas.openxmlformats.org/officeDocument/2006/relationships/chart" Target="../charts/chart7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3.xml"/><Relationship Id="rId2" Type="http://schemas.openxmlformats.org/officeDocument/2006/relationships/tags" Target="../tags/tag36.xml"/><Relationship Id="rId1" Type="http://schemas.openxmlformats.org/officeDocument/2006/relationships/chart" Target="../charts/chart9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3.xml"/><Relationship Id="rId3" Type="http://schemas.openxmlformats.org/officeDocument/2006/relationships/tags" Target="../tags/tag37.xml"/><Relationship Id="rId2" Type="http://schemas.openxmlformats.org/officeDocument/2006/relationships/chart" Target="../charts/chart11.xml"/><Relationship Id="rId1" Type="http://schemas.openxmlformats.org/officeDocument/2006/relationships/chart" Target="../charts/chart10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3.xml"/><Relationship Id="rId3" Type="http://schemas.openxmlformats.org/officeDocument/2006/relationships/tags" Target="../tags/tag38.xml"/><Relationship Id="rId2" Type="http://schemas.openxmlformats.org/officeDocument/2006/relationships/chart" Target="../charts/chart13.xml"/><Relationship Id="rId1" Type="http://schemas.openxmlformats.org/officeDocument/2006/relationships/chart" Target="../charts/chart12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3.xml"/><Relationship Id="rId3" Type="http://schemas.openxmlformats.org/officeDocument/2006/relationships/tags" Target="../tags/tag39.xml"/><Relationship Id="rId2" Type="http://schemas.openxmlformats.org/officeDocument/2006/relationships/chart" Target="../charts/chart15.xml"/><Relationship Id="rId1" Type="http://schemas.openxmlformats.org/officeDocument/2006/relationships/chart" Target="../charts/chart14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3.xml"/><Relationship Id="rId2" Type="http://schemas.openxmlformats.org/officeDocument/2006/relationships/tags" Target="../tags/tag40.xml"/><Relationship Id="rId1" Type="http://schemas.openxmlformats.org/officeDocument/2006/relationships/chart" Target="../charts/chart16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3.xml"/><Relationship Id="rId3" Type="http://schemas.openxmlformats.org/officeDocument/2006/relationships/tags" Target="../tags/tag41.xml"/><Relationship Id="rId2" Type="http://schemas.openxmlformats.org/officeDocument/2006/relationships/chart" Target="../charts/chart18.xml"/><Relationship Id="rId1" Type="http://schemas.openxmlformats.org/officeDocument/2006/relationships/chart" Target="../charts/chart17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3.xml"/><Relationship Id="rId3" Type="http://schemas.openxmlformats.org/officeDocument/2006/relationships/tags" Target="../tags/tag42.xml"/><Relationship Id="rId2" Type="http://schemas.openxmlformats.org/officeDocument/2006/relationships/chart" Target="../charts/chart20.xml"/><Relationship Id="rId1" Type="http://schemas.openxmlformats.org/officeDocument/2006/relationships/chart" Target="../charts/chart19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3.xml"/><Relationship Id="rId3" Type="http://schemas.openxmlformats.org/officeDocument/2006/relationships/tags" Target="../tags/tag43.xml"/><Relationship Id="rId2" Type="http://schemas.openxmlformats.org/officeDocument/2006/relationships/chart" Target="../charts/chart22.xml"/><Relationship Id="rId1" Type="http://schemas.openxmlformats.org/officeDocument/2006/relationships/chart" Target="../charts/chart21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3.xml"/><Relationship Id="rId2" Type="http://schemas.openxmlformats.org/officeDocument/2006/relationships/tags" Target="../tags/tag44.xml"/><Relationship Id="rId1" Type="http://schemas.openxmlformats.org/officeDocument/2006/relationships/chart" Target="../charts/chart23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3.xml"/><Relationship Id="rId3" Type="http://schemas.openxmlformats.org/officeDocument/2006/relationships/tags" Target="../tags/tag45.xml"/><Relationship Id="rId2" Type="http://schemas.openxmlformats.org/officeDocument/2006/relationships/chart" Target="../charts/chart25.xml"/><Relationship Id="rId1" Type="http://schemas.openxmlformats.org/officeDocument/2006/relationships/chart" Target="../charts/chart2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46.xml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3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tags" Target="../tags/tag4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50.xml"/><Relationship Id="rId1" Type="http://schemas.openxmlformats.org/officeDocument/2006/relationships/chart" Target="../charts/chart26.xml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7.xml"/><Relationship Id="rId5" Type="http://schemas.openxmlformats.org/officeDocument/2006/relationships/slideLayout" Target="../slideLayouts/slideLayout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chart" Target="../charts/chart28.xml"/><Relationship Id="rId1" Type="http://schemas.openxmlformats.org/officeDocument/2006/relationships/chart" Target="../charts/chart27.xml"/></Relationships>
</file>

<file path=ppt/slides/_rels/slide2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8.xml"/><Relationship Id="rId6" Type="http://schemas.openxmlformats.org/officeDocument/2006/relationships/slideLayout" Target="../slideLayouts/slideLayout3.xml"/><Relationship Id="rId5" Type="http://schemas.openxmlformats.org/officeDocument/2006/relationships/tags" Target="../tags/tag54.xml"/><Relationship Id="rId4" Type="http://schemas.openxmlformats.org/officeDocument/2006/relationships/tags" Target="../tags/tag53.xml"/><Relationship Id="rId3" Type="http://schemas.openxmlformats.org/officeDocument/2006/relationships/chart" Target="../charts/chart31.xml"/><Relationship Id="rId2" Type="http://schemas.openxmlformats.org/officeDocument/2006/relationships/chart" Target="../charts/chart30.xml"/><Relationship Id="rId1" Type="http://schemas.openxmlformats.org/officeDocument/2006/relationships/chart" Target="../charts/chart29.xml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tags" Target="../tags/tag60.xml"/><Relationship Id="rId8" Type="http://schemas.openxmlformats.org/officeDocument/2006/relationships/tags" Target="../tags/tag59.xml"/><Relationship Id="rId7" Type="http://schemas.openxmlformats.org/officeDocument/2006/relationships/tags" Target="../tags/tag58.xml"/><Relationship Id="rId6" Type="http://schemas.openxmlformats.org/officeDocument/2006/relationships/tags" Target="../tags/tag57.xml"/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3" Type="http://schemas.openxmlformats.org/officeDocument/2006/relationships/chart" Target="../charts/chart34.xml"/><Relationship Id="rId2" Type="http://schemas.openxmlformats.org/officeDocument/2006/relationships/chart" Target="../charts/chart33.xml"/><Relationship Id="rId15" Type="http://schemas.openxmlformats.org/officeDocument/2006/relationships/notesSlide" Target="../notesSlides/notesSlide19.xml"/><Relationship Id="rId14" Type="http://schemas.openxmlformats.org/officeDocument/2006/relationships/slideLayout" Target="../slideLayouts/slideLayout3.xml"/><Relationship Id="rId13" Type="http://schemas.openxmlformats.org/officeDocument/2006/relationships/tags" Target="../tags/tag64.xml"/><Relationship Id="rId12" Type="http://schemas.openxmlformats.org/officeDocument/2006/relationships/tags" Target="../tags/tag63.xml"/><Relationship Id="rId11" Type="http://schemas.openxmlformats.org/officeDocument/2006/relationships/tags" Target="../tags/tag62.xml"/><Relationship Id="rId10" Type="http://schemas.openxmlformats.org/officeDocument/2006/relationships/tags" Target="../tags/tag61.xml"/><Relationship Id="rId1" Type="http://schemas.openxmlformats.org/officeDocument/2006/relationships/chart" Target="../charts/chart32.xml"/></Relationships>
</file>

<file path=ppt/slides/_rels/slide2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0.xml"/><Relationship Id="rId5" Type="http://schemas.openxmlformats.org/officeDocument/2006/relationships/slideLayout" Target="../slideLayouts/slideLayout3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chart" Target="../charts/chart36.xml"/><Relationship Id="rId1" Type="http://schemas.openxmlformats.org/officeDocument/2006/relationships/chart" Target="../charts/chart35.xml"/></Relationships>
</file>

<file path=ppt/slides/_rels/slide3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1.xml"/><Relationship Id="rId6" Type="http://schemas.openxmlformats.org/officeDocument/2006/relationships/slideLayout" Target="../slideLayouts/slideLayout3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chart" Target="../charts/chart39.xml"/><Relationship Id="rId2" Type="http://schemas.openxmlformats.org/officeDocument/2006/relationships/chart" Target="../charts/chart38.xml"/><Relationship Id="rId1" Type="http://schemas.openxmlformats.org/officeDocument/2006/relationships/chart" Target="../charts/chart37.xml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tags" Target="../tags/tag77.xml"/><Relationship Id="rId8" Type="http://schemas.openxmlformats.org/officeDocument/2006/relationships/tags" Target="../tags/tag76.xml"/><Relationship Id="rId7" Type="http://schemas.openxmlformats.org/officeDocument/2006/relationships/tags" Target="../tags/tag75.xml"/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4" Type="http://schemas.openxmlformats.org/officeDocument/2006/relationships/tags" Target="../tags/tag72.xml"/><Relationship Id="rId3" Type="http://schemas.openxmlformats.org/officeDocument/2006/relationships/tags" Target="../tags/tag71.xml"/><Relationship Id="rId24" Type="http://schemas.openxmlformats.org/officeDocument/2006/relationships/slideLayout" Target="../slideLayouts/slideLayout3.xml"/><Relationship Id="rId23" Type="http://schemas.openxmlformats.org/officeDocument/2006/relationships/tags" Target="../tags/tag91.xml"/><Relationship Id="rId22" Type="http://schemas.openxmlformats.org/officeDocument/2006/relationships/tags" Target="../tags/tag90.xml"/><Relationship Id="rId21" Type="http://schemas.openxmlformats.org/officeDocument/2006/relationships/tags" Target="../tags/tag89.xml"/><Relationship Id="rId20" Type="http://schemas.openxmlformats.org/officeDocument/2006/relationships/tags" Target="../tags/tag88.xml"/><Relationship Id="rId2" Type="http://schemas.openxmlformats.org/officeDocument/2006/relationships/tags" Target="../tags/tag70.xml"/><Relationship Id="rId19" Type="http://schemas.openxmlformats.org/officeDocument/2006/relationships/tags" Target="../tags/tag87.xml"/><Relationship Id="rId18" Type="http://schemas.openxmlformats.org/officeDocument/2006/relationships/tags" Target="../tags/tag86.xml"/><Relationship Id="rId17" Type="http://schemas.openxmlformats.org/officeDocument/2006/relationships/tags" Target="../tags/tag85.xml"/><Relationship Id="rId16" Type="http://schemas.openxmlformats.org/officeDocument/2006/relationships/tags" Target="../tags/tag84.xml"/><Relationship Id="rId15" Type="http://schemas.openxmlformats.org/officeDocument/2006/relationships/tags" Target="../tags/tag83.xml"/><Relationship Id="rId14" Type="http://schemas.openxmlformats.org/officeDocument/2006/relationships/tags" Target="../tags/tag82.xml"/><Relationship Id="rId13" Type="http://schemas.openxmlformats.org/officeDocument/2006/relationships/tags" Target="../tags/tag81.xml"/><Relationship Id="rId12" Type="http://schemas.openxmlformats.org/officeDocument/2006/relationships/tags" Target="../tags/tag80.xml"/><Relationship Id="rId11" Type="http://schemas.openxmlformats.org/officeDocument/2006/relationships/tags" Target="../tags/tag79.xml"/><Relationship Id="rId10" Type="http://schemas.openxmlformats.org/officeDocument/2006/relationships/tags" Target="../tags/tag78.xml"/><Relationship Id="rId1" Type="http://schemas.openxmlformats.org/officeDocument/2006/relationships/tags" Target="../tags/tag69.xml"/></Relationships>
</file>

<file path=ppt/slides/_rels/slide3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3.xml"/><Relationship Id="rId5" Type="http://schemas.openxmlformats.org/officeDocument/2006/relationships/tags" Target="../tags/tag92.xml"/><Relationship Id="rId4" Type="http://schemas.openxmlformats.org/officeDocument/2006/relationships/chart" Target="../charts/chart43.xml"/><Relationship Id="rId3" Type="http://schemas.openxmlformats.org/officeDocument/2006/relationships/chart" Target="../charts/chart42.xml"/><Relationship Id="rId2" Type="http://schemas.openxmlformats.org/officeDocument/2006/relationships/chart" Target="../charts/chart41.xml"/><Relationship Id="rId1" Type="http://schemas.openxmlformats.org/officeDocument/2006/relationships/chart" Target="../charts/chart40.xml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93.xml"/><Relationship Id="rId2" Type="http://schemas.openxmlformats.org/officeDocument/2006/relationships/chart" Target="../charts/chart45.xml"/><Relationship Id="rId1" Type="http://schemas.openxmlformats.org/officeDocument/2006/relationships/chart" Target="../charts/chart44.xml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5.png"/><Relationship Id="rId2" Type="http://schemas.openxmlformats.org/officeDocument/2006/relationships/tags" Target="../tags/tag95.xml"/><Relationship Id="rId1" Type="http://schemas.openxmlformats.org/officeDocument/2006/relationships/tags" Target="../tags/tag94.xml"/></Relationships>
</file>

<file path=ppt/slides/_rels/slide3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tags" Target="../tags/tag97.xml"/><Relationship Id="rId3" Type="http://schemas.openxmlformats.org/officeDocument/2006/relationships/tags" Target="../tags/tag96.xml"/><Relationship Id="rId2" Type="http://schemas.openxmlformats.org/officeDocument/2006/relationships/chart" Target="../charts/chart47.xml"/><Relationship Id="rId1" Type="http://schemas.openxmlformats.org/officeDocument/2006/relationships/chart" Target="../charts/chart46.xml"/></Relationships>
</file>

<file path=ppt/slides/_rels/slide3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2.xml"/><Relationship Id="rId4" Type="http://schemas.openxmlformats.org/officeDocument/2006/relationships/slideLayout" Target="../slideLayouts/slideLayout3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tags" Target="../tags/tag9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101.xml"/><Relationship Id="rId1" Type="http://schemas.openxmlformats.org/officeDocument/2006/relationships/chart" Target="../charts/chart48.xml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102.xml"/><Relationship Id="rId2" Type="http://schemas.openxmlformats.org/officeDocument/2006/relationships/chart" Target="../charts/chart50.xml"/><Relationship Id="rId1" Type="http://schemas.openxmlformats.org/officeDocument/2006/relationships/chart" Target="../charts/chart49.xml"/></Relationships>
</file>

<file path=ppt/slides/_rels/slide3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tags" Target="../tags/tag104.xml"/><Relationship Id="rId3" Type="http://schemas.openxmlformats.org/officeDocument/2006/relationships/tags" Target="../tags/tag103.xml"/><Relationship Id="rId2" Type="http://schemas.openxmlformats.org/officeDocument/2006/relationships/chart" Target="../charts/chart52.xml"/><Relationship Id="rId1" Type="http://schemas.openxmlformats.org/officeDocument/2006/relationships/chart" Target="../charts/chart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3200" dirty="0">
                <a:latin typeface="华文楷体" panose="02010600040101010101" charset="-122"/>
                <a:ea typeface="华文楷体" panose="02010600040101010101" charset="-122"/>
                <a:cs typeface="楷体" panose="02010609060101010101" pitchFamily="49" charset="-122"/>
                <a:sym typeface="+mn-ea"/>
              </a:rPr>
              <a:t>首借月会</a:t>
            </a:r>
            <a:r>
              <a:rPr kumimoji="1" lang="en-US" altLang="zh-CN" sz="3200" dirty="0">
                <a:latin typeface="华文楷体" panose="02010600040101010101" charset="-122"/>
                <a:ea typeface="华文楷体" panose="02010600040101010101" charset="-122"/>
                <a:cs typeface="楷体" panose="02010609060101010101" pitchFamily="49" charset="-122"/>
                <a:sym typeface="+mn-ea"/>
              </a:rPr>
              <a:t> -- </a:t>
            </a:r>
            <a:r>
              <a:rPr kumimoji="1" lang="zh-CN" altLang="en-US" sz="3200" dirty="0">
                <a:latin typeface="华文楷体" panose="02010600040101010101" charset="-122"/>
                <a:ea typeface="华文楷体" panose="02010600040101010101" charset="-122"/>
                <a:cs typeface="楷体" panose="02010609060101010101" pitchFamily="49" charset="-122"/>
                <a:sym typeface="+mn-ea"/>
              </a:rPr>
              <a:t>获客部分</a:t>
            </a:r>
            <a:endParaRPr kumimoji="1" lang="zh-CN" altLang="en-US" sz="3200" dirty="0">
              <a:latin typeface="华文楷体" panose="02010600040101010101" charset="-122"/>
              <a:ea typeface="华文楷体" panose="02010600040101010101" charset="-122"/>
              <a:cs typeface="楷体" panose="02010609060101010101" pitchFamily="49" charset="-122"/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en-US" altLang="zh-CN" dirty="0">
                <a:latin typeface="华文楷体" panose="02010600040101010101" charset="-122"/>
                <a:ea typeface="华文楷体" panose="02010600040101010101" charset="-122"/>
              </a:rPr>
              <a:t>2025.10</a:t>
            </a:r>
            <a:endParaRPr kumimoji="1" lang="en-US" altLang="zh-CN" dirty="0">
              <a:latin typeface="华文楷体" panose="02010600040101010101" charset="-122"/>
              <a:ea typeface="华文楷体" panose="0201060004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latin typeface="华文楷体" panose="02010600040101010101" charset="-122"/>
                <a:ea typeface="华文楷体" panose="02010600040101010101" charset="-122"/>
              </a:rPr>
              <a:t>2</a:t>
            </a:r>
            <a:endParaRPr lang="en-US" altLang="zh-CN" dirty="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2" name="标题 1"/>
          <p:cNvSpPr>
            <a:spLocks noGrp="1"/>
          </p:cNvSpPr>
          <p:nvPr/>
        </p:nvSpPr>
        <p:spPr>
          <a:xfrm>
            <a:off x="851535" y="1647190"/>
            <a:ext cx="4769485" cy="346964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21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defRPr>
            </a:lvl1pPr>
          </a:lstStyle>
          <a:p>
            <a:pPr>
              <a:lnSpc>
                <a:spcPct val="130000"/>
              </a:lnSpc>
              <a:spcAft>
                <a:spcPts val="1200"/>
              </a:spcAft>
            </a:pPr>
            <a:br>
              <a:rPr kumimoji="1" lang="en-US" altLang="zh-CN" dirty="0">
                <a:solidFill>
                  <a:srgbClr val="004FF0"/>
                </a:solidFill>
                <a:latin typeface="华文楷体" panose="02010600040101010101" charset="-122"/>
                <a:ea typeface="华文楷体" panose="02010600040101010101" charset="-122"/>
              </a:rPr>
            </a:br>
            <a:r>
              <a:rPr kumimoji="1" lang="en-US" altLang="zh-CN" sz="28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1.业务</a:t>
            </a:r>
            <a:r>
              <a:rPr kumimoji="1" lang="en-US" altLang="zh-CN" sz="28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rPr>
              <a:t>指标</a:t>
            </a:r>
            <a:br>
              <a:rPr kumimoji="1" lang="en-US" altLang="zh-CN" sz="2800" dirty="0">
                <a:solidFill>
                  <a:srgbClr val="FFFFFF"/>
                </a:solidFill>
                <a:latin typeface="华文楷体" panose="02010600040101010101" charset="-122"/>
                <a:ea typeface="华文楷体" panose="02010600040101010101" charset="-122"/>
              </a:rPr>
            </a:br>
            <a:r>
              <a:rPr kumimoji="1" lang="en-US" altLang="zh-CN" sz="2800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</a:rPr>
              <a:t>2.专题分析</a:t>
            </a:r>
            <a:br>
              <a:rPr kumimoji="1" lang="en-US" altLang="zh-CN" sz="2800" dirty="0">
                <a:solidFill>
                  <a:srgbClr val="FFFFFF"/>
                </a:solidFill>
                <a:latin typeface="华文楷体" panose="02010600040101010101" charset="-122"/>
                <a:ea typeface="华文楷体" panose="02010600040101010101" charset="-122"/>
              </a:rPr>
            </a:br>
            <a:r>
              <a:rPr kumimoji="1" lang="en-US" altLang="zh-CN" sz="2800" dirty="0">
                <a:solidFill>
                  <a:srgbClr val="FFFFFF"/>
                </a:solidFill>
                <a:latin typeface="华文楷体" panose="02010600040101010101" charset="-122"/>
                <a:ea typeface="华文楷体" panose="02010600040101010101" charset="-122"/>
              </a:rPr>
              <a:t>3.</a:t>
            </a:r>
            <a:r>
              <a:rPr kumimoji="1" lang="zh-CN" altLang="en-US" sz="2800" dirty="0">
                <a:solidFill>
                  <a:srgbClr val="FFFFFF"/>
                </a:solidFill>
                <a:latin typeface="华文楷体" panose="02010600040101010101" charset="-122"/>
                <a:ea typeface="华文楷体" panose="02010600040101010101" charset="-122"/>
              </a:rPr>
              <a:t>获客模型</a:t>
            </a:r>
            <a:br>
              <a:rPr kumimoji="1" lang="zh-CN" altLang="en-US" sz="2800" dirty="0">
                <a:solidFill>
                  <a:srgbClr val="FFFFFF"/>
                </a:solidFill>
                <a:latin typeface="华文楷体" panose="02010600040101010101" charset="-122"/>
                <a:ea typeface="华文楷体" panose="02010600040101010101" charset="-122"/>
              </a:rPr>
            </a:br>
            <a:br>
              <a:rPr kumimoji="1" lang="zh-CN" altLang="en-US" sz="2800" dirty="0">
                <a:solidFill>
                  <a:schemeClr val="bg2"/>
                </a:solidFill>
                <a:latin typeface="华文楷体" panose="02010600040101010101" charset="-122"/>
                <a:ea typeface="华文楷体" panose="02010600040101010101" charset="-122"/>
              </a:rPr>
            </a:br>
            <a:endParaRPr kumimoji="1" lang="zh-CN" altLang="en-US" sz="2800" dirty="0">
              <a:solidFill>
                <a:schemeClr val="bg2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rtlCol="0" anchor="ctr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latin typeface="华文楷体" panose="02010600040101010101" charset="-122"/>
                <a:ea typeface="华文楷体" panose="02010600040101010101" charset="-122"/>
                <a:cs typeface="楷体" panose="02010609060101010101" pitchFamily="49" charset="-122"/>
                <a:sym typeface="+mn-ea"/>
              </a:rPr>
              <a:t>业务总览：</a:t>
            </a:r>
            <a:r>
              <a:rPr lang="zh-CN" altLang="en-US" b="0" dirty="0">
                <a:latin typeface="华文楷体" panose="02010600040101010101" charset="-122"/>
                <a:ea typeface="华文楷体" panose="02010600040101010101" charset="-122"/>
                <a:cs typeface="楷体" panose="02010609060101010101" pitchFamily="49" charset="-122"/>
                <a:sym typeface="+mn-ea"/>
              </a:rPr>
              <a:t>成本达成良好，质量逐步提升，规模符合预期</a:t>
            </a:r>
            <a:endParaRPr lang="zh-CN" altLang="en-US" b="0" dirty="0">
              <a:latin typeface="华文楷体" panose="02010600040101010101" charset="-122"/>
              <a:ea typeface="华文楷体" panose="02010600040101010101" charset="-122"/>
              <a:cs typeface="楷体" panose="02010609060101010101" pitchFamily="49" charset="-122"/>
              <a:sym typeface="+mn-ea"/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323850" y="647700"/>
            <a:ext cx="11573510" cy="1599565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b="1" dirty="0">
                <a:latin typeface="华文楷体" panose="02010600040101010101" charset="-122"/>
                <a:ea typeface="华文楷体" panose="02010600040101010101" charset="-122"/>
                <a:cs typeface="楷体" panose="02010609060101010101" pitchFamily="49" charset="-122"/>
                <a:sym typeface="+mn-ea"/>
              </a:rPr>
              <a:t>大盘核心指标：</a:t>
            </a:r>
            <a:endParaRPr lang="zh-CN" altLang="en-US" b="1" dirty="0">
              <a:latin typeface="华文楷体" panose="02010600040101010101" charset="-122"/>
              <a:ea typeface="华文楷体" panose="02010600040101010101" charset="-122"/>
              <a:cs typeface="楷体" panose="02010609060101010101" pitchFamily="49" charset="-122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1400" b="1" dirty="0">
                <a:latin typeface="华文楷体" panose="02010600040101010101" charset="-122"/>
                <a:ea typeface="华文楷体" panose="02010600040101010101" charset="-122"/>
                <a:cs typeface="楷体" panose="02010609060101010101" pitchFamily="49" charset="-122"/>
                <a:sym typeface="+mn-ea"/>
              </a:rPr>
              <a:t>1.</a:t>
            </a:r>
            <a:r>
              <a:rPr lang="zh-CN" altLang="en-US" sz="1400" b="1" dirty="0">
                <a:latin typeface="华文楷体" panose="02010600040101010101" charset="-122"/>
                <a:ea typeface="华文楷体" panose="02010600040101010101" charset="-122"/>
                <a:cs typeface="楷体" panose="02010609060101010101" pitchFamily="49" charset="-122"/>
                <a:sym typeface="+mn-ea"/>
              </a:rPr>
              <a:t>规模：</a:t>
            </a:r>
            <a:r>
              <a:rPr lang="zh-CN" altLang="en-US" sz="1400" dirty="0">
                <a:latin typeface="华文楷体" panose="02010600040101010101" charset="-122"/>
                <a:ea typeface="华文楷体" panose="02010600040101010101" charset="-122"/>
                <a:cs typeface="楷体" panose="02010609060101010101" pitchFamily="49" charset="-122"/>
                <a:sym typeface="+mn-ea"/>
              </a:rPr>
              <a:t>投放花费</a:t>
            </a:r>
            <a:r>
              <a:rPr lang="en-US" altLang="zh-CN" sz="1400" dirty="0">
                <a:latin typeface="华文楷体" panose="02010600040101010101" charset="-122"/>
                <a:ea typeface="华文楷体" panose="02010600040101010101" charset="-122"/>
                <a:cs typeface="楷体" panose="02010609060101010101" pitchFamily="49" charset="-122"/>
                <a:sym typeface="+mn-ea"/>
              </a:rPr>
              <a:t>4000</a:t>
            </a:r>
            <a:r>
              <a:rPr lang="zh-CN" altLang="en-US" sz="1400" dirty="0">
                <a:latin typeface="华文楷体" panose="02010600040101010101" charset="-122"/>
                <a:ea typeface="华文楷体" panose="02010600040101010101" charset="-122"/>
                <a:cs typeface="楷体" panose="02010609060101010101" pitchFamily="49" charset="-122"/>
                <a:sym typeface="+mn-ea"/>
              </a:rPr>
              <a:t>万（</a:t>
            </a:r>
            <a:r>
              <a:rPr lang="en-US" altLang="zh-CN" sz="1400" dirty="0">
                <a:latin typeface="华文楷体" panose="02010600040101010101" charset="-122"/>
                <a:ea typeface="华文楷体" panose="02010600040101010101" charset="-122"/>
                <a:cs typeface="楷体" panose="02010609060101010101" pitchFamily="49" charset="-122"/>
                <a:sym typeface="+mn-ea"/>
              </a:rPr>
              <a:t>e)</a:t>
            </a:r>
            <a:r>
              <a:rPr lang="zh-CN" altLang="en-US" sz="1400" dirty="0">
                <a:latin typeface="华文楷体" panose="02010600040101010101" charset="-122"/>
                <a:ea typeface="华文楷体" panose="02010600040101010101" charset="-122"/>
                <a:cs typeface="楷体" panose="02010609060101010101" pitchFamily="49" charset="-122"/>
                <a:sym typeface="+mn-ea"/>
              </a:rPr>
              <a:t>符合</a:t>
            </a:r>
            <a:r>
              <a:rPr lang="zh-CN" altLang="en-US" sz="1400" dirty="0">
                <a:latin typeface="华文楷体" panose="02010600040101010101" charset="-122"/>
                <a:ea typeface="华文楷体" panose="02010600040101010101" charset="-122"/>
                <a:cs typeface="楷体" panose="02010609060101010101" pitchFamily="49" charset="-122"/>
                <a:sym typeface="+mn-ea"/>
              </a:rPr>
              <a:t>预期</a:t>
            </a:r>
            <a:endParaRPr lang="zh-CN" altLang="en-US" sz="1400" dirty="0">
              <a:latin typeface="华文楷体" panose="02010600040101010101" charset="-122"/>
              <a:ea typeface="华文楷体" panose="02010600040101010101" charset="-122"/>
              <a:cs typeface="楷体" panose="02010609060101010101" pitchFamily="49" charset="-122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1400" b="1" dirty="0">
                <a:latin typeface="华文楷体" panose="02010600040101010101" charset="-122"/>
                <a:ea typeface="华文楷体" panose="02010600040101010101" charset="-122"/>
                <a:cs typeface="楷体" panose="02010609060101010101" pitchFamily="49" charset="-122"/>
                <a:sym typeface="+mn-ea"/>
              </a:rPr>
              <a:t>2.</a:t>
            </a:r>
            <a:r>
              <a:rPr lang="zh-CN" altLang="en-US" sz="1400" b="1" dirty="0">
                <a:latin typeface="华文楷体" panose="02010600040101010101" charset="-122"/>
                <a:ea typeface="华文楷体" panose="02010600040101010101" charset="-122"/>
                <a:cs typeface="楷体" panose="02010609060101010101" pitchFamily="49" charset="-122"/>
                <a:sym typeface="+mn-ea"/>
              </a:rPr>
              <a:t>成本：</a:t>
            </a:r>
            <a:r>
              <a:rPr lang="zh-CN" altLang="en-US" sz="1400" dirty="0">
                <a:latin typeface="华文楷体" panose="02010600040101010101" charset="-122"/>
                <a:ea typeface="华文楷体" panose="02010600040101010101" charset="-122"/>
                <a:cs typeface="楷体" panose="02010609060101010101" pitchFamily="49" charset="-122"/>
                <a:sym typeface="+mn-ea"/>
              </a:rPr>
              <a:t>实际成本</a:t>
            </a:r>
            <a:r>
              <a:rPr lang="en-US" altLang="zh-CN" sz="1400" dirty="0">
                <a:latin typeface="华文楷体" panose="02010600040101010101" charset="-122"/>
                <a:ea typeface="华文楷体" panose="02010600040101010101" charset="-122"/>
                <a:cs typeface="楷体" panose="02010609060101010101" pitchFamily="49" charset="-122"/>
                <a:sym typeface="+mn-ea"/>
              </a:rPr>
              <a:t>6.2%</a:t>
            </a:r>
            <a:r>
              <a:rPr lang="zh-CN" altLang="en-US" sz="1400" dirty="0">
                <a:latin typeface="华文楷体" panose="02010600040101010101" charset="-122"/>
                <a:ea typeface="华文楷体" panose="02010600040101010101" charset="-122"/>
                <a:cs typeface="楷体" panose="02010609060101010101" pitchFamily="49" charset="-122"/>
                <a:sym typeface="+mn-ea"/>
              </a:rPr>
              <a:t>，相比上月下降；</a:t>
            </a:r>
            <a:r>
              <a:rPr lang="en-US" altLang="zh-CN" sz="1400" dirty="0">
                <a:latin typeface="华文楷体" panose="02010600040101010101" charset="-122"/>
                <a:ea typeface="华文楷体" panose="02010600040101010101" charset="-122"/>
                <a:cs typeface="楷体" panose="02010609060101010101" pitchFamily="49" charset="-122"/>
                <a:sym typeface="+mn-ea"/>
              </a:rPr>
              <a:t>T0CPS17.7%</a:t>
            </a:r>
            <a:r>
              <a:rPr lang="zh-CN" altLang="en-US" sz="1400" dirty="0">
                <a:latin typeface="华文楷体" panose="02010600040101010101" charset="-122"/>
                <a:ea typeface="华文楷体" panose="02010600040101010101" charset="-122"/>
                <a:cs typeface="楷体" panose="02010609060101010101" pitchFamily="49" charset="-122"/>
                <a:sym typeface="+mn-ea"/>
              </a:rPr>
              <a:t>，与上月持平</a:t>
            </a:r>
            <a:endParaRPr lang="zh-CN" altLang="en-US" sz="1400" dirty="0">
              <a:latin typeface="华文楷体" panose="02010600040101010101" charset="-122"/>
              <a:ea typeface="华文楷体" panose="02010600040101010101" charset="-122"/>
              <a:cs typeface="楷体" panose="02010609060101010101" pitchFamily="49" charset="-122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1400" b="1" dirty="0">
                <a:latin typeface="华文楷体" panose="02010600040101010101" charset="-122"/>
                <a:ea typeface="华文楷体" panose="02010600040101010101" charset="-122"/>
                <a:cs typeface="楷体" panose="02010609060101010101" pitchFamily="49" charset="-122"/>
                <a:sym typeface="+mn-ea"/>
              </a:rPr>
              <a:t>3.</a:t>
            </a:r>
            <a:r>
              <a:rPr lang="zh-CN" altLang="en-US" sz="1400" b="1" dirty="0">
                <a:latin typeface="华文楷体" panose="02010600040101010101" charset="-122"/>
                <a:ea typeface="华文楷体" panose="02010600040101010101" charset="-122"/>
                <a:cs typeface="楷体" panose="02010609060101010101" pitchFamily="49" charset="-122"/>
                <a:sym typeface="+mn-ea"/>
              </a:rPr>
              <a:t>质量：</a:t>
            </a:r>
            <a:r>
              <a:rPr lang="zh-CN" altLang="en-US" sz="1400" dirty="0">
                <a:latin typeface="华文楷体" panose="02010600040101010101" charset="-122"/>
                <a:ea typeface="华文楷体" panose="02010600040101010101" charset="-122"/>
                <a:cs typeface="楷体" panose="02010609060101010101" pitchFamily="49" charset="-122"/>
                <a:sym typeface="+mn-ea"/>
              </a:rPr>
              <a:t>全盘质量</a:t>
            </a:r>
            <a:r>
              <a:rPr lang="en-US" altLang="zh-CN" sz="1400" dirty="0">
                <a:latin typeface="华文楷体" panose="02010600040101010101" charset="-122"/>
                <a:ea typeface="华文楷体" panose="02010600040101010101" charset="-122"/>
                <a:cs typeface="楷体" panose="02010609060101010101" pitchFamily="49" charset="-122"/>
                <a:sym typeface="+mn-ea"/>
              </a:rPr>
              <a:t>7.8%</a:t>
            </a:r>
            <a:r>
              <a:rPr lang="zh-CN" altLang="en-US" sz="1400" dirty="0">
                <a:latin typeface="华文楷体" panose="02010600040101010101" charset="-122"/>
                <a:ea typeface="华文楷体" panose="02010600040101010101" charset="-122"/>
                <a:cs typeface="楷体" panose="02010609060101010101" pitchFamily="49" charset="-122"/>
                <a:sym typeface="+mn-ea"/>
              </a:rPr>
              <a:t>相比上月提升</a:t>
            </a:r>
            <a:r>
              <a:rPr lang="en-US" altLang="zh-CN" sz="1400" dirty="0">
                <a:latin typeface="华文楷体" panose="02010600040101010101" charset="-122"/>
                <a:ea typeface="华文楷体" panose="02010600040101010101" charset="-122"/>
                <a:cs typeface="楷体" panose="02010609060101010101" pitchFamily="49" charset="-122"/>
                <a:sym typeface="+mn-ea"/>
              </a:rPr>
              <a:t>5%</a:t>
            </a:r>
            <a:r>
              <a:rPr lang="zh-CN" altLang="en-US" sz="1400" dirty="0">
                <a:latin typeface="华文楷体" panose="02010600040101010101" charset="-122"/>
                <a:ea typeface="华文楷体" panose="02010600040101010101" charset="-122"/>
                <a:cs typeface="楷体" panose="02010609060101010101" pitchFamily="49" charset="-122"/>
                <a:sym typeface="+mn-ea"/>
              </a:rPr>
              <a:t>，</a:t>
            </a:r>
            <a:r>
              <a:rPr lang="zh-CN" altLang="en-US" sz="1400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楷体" panose="02010609060101010101" pitchFamily="49" charset="-122"/>
                <a:sym typeface="+mn-ea"/>
              </a:rPr>
              <a:t>投放量质量</a:t>
            </a:r>
            <a:r>
              <a:rPr lang="en-US" altLang="zh-CN" sz="1400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楷体" panose="02010609060101010101" pitchFamily="49" charset="-122"/>
                <a:sym typeface="+mn-ea"/>
              </a:rPr>
              <a:t>15.8%</a:t>
            </a:r>
            <a:r>
              <a:rPr lang="zh-CN" altLang="en-US" sz="1400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楷体" panose="02010609060101010101" pitchFamily="49" charset="-122"/>
                <a:sym typeface="+mn-ea"/>
              </a:rPr>
              <a:t>相比上月</a:t>
            </a:r>
            <a:r>
              <a:rPr lang="en-US" altLang="zh-CN" sz="1400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楷体" panose="02010609060101010101" pitchFamily="49" charset="-122"/>
                <a:sym typeface="+mn-ea"/>
              </a:rPr>
              <a:t>13.7%</a:t>
            </a:r>
            <a:r>
              <a:rPr lang="zh-CN" altLang="en-US" sz="1400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楷体" panose="02010609060101010101" pitchFamily="49" charset="-122"/>
                <a:sym typeface="+mn-ea"/>
              </a:rPr>
              <a:t>提升</a:t>
            </a:r>
            <a:r>
              <a:rPr lang="en-US" altLang="zh-CN" sz="1400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楷体" panose="02010609060101010101" pitchFamily="49" charset="-122"/>
                <a:sym typeface="+mn-ea"/>
              </a:rPr>
              <a:t> 15%</a:t>
            </a:r>
            <a:r>
              <a:rPr lang="zh-CN" altLang="en-US" sz="1400" dirty="0">
                <a:latin typeface="华文楷体" panose="02010600040101010101" charset="-122"/>
                <a:ea typeface="华文楷体" panose="02010600040101010101" charset="-122"/>
                <a:cs typeface="楷体" panose="02010609060101010101" pitchFamily="49" charset="-122"/>
                <a:sym typeface="+mn-ea"/>
              </a:rPr>
              <a:t>，达</a:t>
            </a:r>
            <a:r>
              <a:rPr lang="zh-CN" altLang="en-US" sz="1400" dirty="0">
                <a:latin typeface="华文楷体" panose="02010600040101010101" charset="-122"/>
                <a:ea typeface="华文楷体" panose="02010600040101010101" charset="-122"/>
                <a:cs typeface="楷体" panose="02010609060101010101" pitchFamily="49" charset="-122"/>
                <a:sym typeface="+mn-ea"/>
              </a:rPr>
              <a:t>历史新高。</a:t>
            </a:r>
            <a:endParaRPr lang="zh-CN" altLang="en-US" sz="1400" dirty="0">
              <a:latin typeface="华文楷体" panose="02010600040101010101" charset="-122"/>
              <a:ea typeface="华文楷体" panose="02010600040101010101" charset="-122"/>
              <a:cs typeface="楷体" panose="02010609060101010101" pitchFamily="49" charset="-122"/>
              <a:sym typeface="+mn-ea"/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309245" y="2359025"/>
            <a:ext cx="10336530" cy="504190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p>
            <a:pPr lvl="0" algn="l">
              <a:buClrTx/>
              <a:buSzTx/>
              <a:buFontTx/>
            </a:pPr>
            <a:r>
              <a:rPr lang="zh-CN" altLang="en-US" b="1" dirty="0">
                <a:latin typeface="华文楷体" panose="02010600040101010101" charset="-122"/>
                <a:ea typeface="华文楷体" panose="02010600040101010101" charset="-122"/>
                <a:cs typeface="楷体" panose="02010609060101010101" pitchFamily="49" charset="-122"/>
                <a:sym typeface="+mn-ea"/>
              </a:rPr>
              <a:t>分渠道关键举措及下一步</a:t>
            </a:r>
            <a:r>
              <a:rPr lang="zh-CN" altLang="en-US" b="1" dirty="0">
                <a:latin typeface="华文楷体" panose="02010600040101010101" charset="-122"/>
                <a:ea typeface="华文楷体" panose="02010600040101010101" charset="-122"/>
                <a:cs typeface="楷体" panose="02010609060101010101" pitchFamily="49" charset="-122"/>
                <a:sym typeface="+mn-ea"/>
              </a:rPr>
              <a:t>方向</a:t>
            </a:r>
            <a:endParaRPr lang="zh-CN" altLang="en-US" b="1" dirty="0">
              <a:latin typeface="华文楷体" panose="02010600040101010101" charset="-122"/>
              <a:ea typeface="华文楷体" panose="02010600040101010101" charset="-122"/>
              <a:cs typeface="楷体" panose="02010609060101010101" pitchFamily="49" charset="-122"/>
              <a:sym typeface="+mn-ea"/>
            </a:endParaRPr>
          </a:p>
        </p:txBody>
      </p:sp>
      <p:graphicFrame>
        <p:nvGraphicFramePr>
          <p:cNvPr id="7" name="表格 6"/>
          <p:cNvGraphicFramePr/>
          <p:nvPr>
            <p:custDataLst>
              <p:tags r:id="rId1"/>
            </p:custDataLst>
          </p:nvPr>
        </p:nvGraphicFramePr>
        <p:xfrm>
          <a:off x="323850" y="2782570"/>
          <a:ext cx="11554460" cy="3899535"/>
        </p:xfrm>
        <a:graphic>
          <a:graphicData uri="http://schemas.openxmlformats.org/drawingml/2006/table">
            <a:tbl>
              <a:tblPr firstRow="1" bandCol="1">
                <a:tableStyleId>{D1FAEF03-E732-468A-B26A-F518825F0431}</a:tableStyleId>
              </a:tblPr>
              <a:tblGrid>
                <a:gridCol w="978535"/>
                <a:gridCol w="2804160"/>
                <a:gridCol w="3385185"/>
                <a:gridCol w="1966595"/>
                <a:gridCol w="2419985"/>
              </a:tblGrid>
              <a:tr h="611505">
                <a:tc>
                  <a:txBody>
                    <a:bodyPr/>
                    <a:p>
                      <a:pPr algn="ctr" fontAlgn="ctr">
                        <a:lnSpc>
                          <a:spcPct val="100000"/>
                        </a:lnSpc>
                      </a:pPr>
                      <a:endParaRPr sz="1200" spc="12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zh-CN" altLang="en-US" sz="1200" b="1" spc="120">
                          <a:solidFill>
                            <a:schemeClr val="tx1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本月动作</a:t>
                      </a:r>
                      <a:endParaRPr lang="zh-CN" altLang="en-US" sz="1200" b="1" spc="120">
                        <a:solidFill>
                          <a:schemeClr val="tx1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zh-CN" altLang="en-US" sz="1200" b="1" spc="120">
                          <a:solidFill>
                            <a:schemeClr val="tx1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数据结果</a:t>
                      </a:r>
                      <a:endParaRPr lang="zh-CN" altLang="en-US" sz="1200" b="1" spc="120">
                        <a:solidFill>
                          <a:schemeClr val="tx1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zh-CN" altLang="en-US" sz="1200" b="1" spc="120">
                          <a:solidFill>
                            <a:schemeClr val="tx1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当前问题与挑战</a:t>
                      </a:r>
                      <a:endParaRPr lang="zh-CN" altLang="en-US" sz="1200" b="1" spc="120">
                        <a:solidFill>
                          <a:schemeClr val="tx1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p>
                      <a:pPr algn="ctr" fontAlgn="ctr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1" spc="120">
                          <a:solidFill>
                            <a:schemeClr val="tx1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下一步方向</a:t>
                      </a:r>
                      <a:endParaRPr lang="zh-CN" altLang="en-US" sz="1200" b="1" spc="120">
                        <a:solidFill>
                          <a:schemeClr val="tx1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254000" marR="254000" marT="177800" marB="177800" anchor="ctr"/>
                </a:tc>
              </a:tr>
              <a:tr h="1026795">
                <a:tc>
                  <a:txBody>
                    <a:bodyPr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zh-CN" altLang="en-US" sz="1200" b="1">
                          <a:latin typeface="华文楷体" panose="02010600040101010101" charset="-122"/>
                          <a:ea typeface="华文楷体" panose="02010600040101010101" charset="-122"/>
                        </a:rPr>
                        <a:t>抖音</a:t>
                      </a:r>
                      <a:endParaRPr lang="zh-CN" altLang="en-US" sz="1200" b="1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p>
                      <a:pPr algn="l" fontAlgn="ctr">
                        <a:lnSpc>
                          <a:spcPct val="100000"/>
                        </a:lnSpc>
                      </a:pPr>
                      <a:r>
                        <a:rPr lang="en-US" altLang="zh-CN" sz="1200">
                          <a:latin typeface="华文楷体" panose="02010600040101010101" charset="-122"/>
                          <a:ea typeface="华文楷体" panose="02010600040101010101" charset="-122"/>
                          <a:sym typeface="+mn-ea"/>
                        </a:rPr>
                        <a:t>1</a:t>
                      </a:r>
                      <a:r>
                        <a:rPr lang="zh-CN" altLang="en-US" sz="1200">
                          <a:latin typeface="华文楷体" panose="02010600040101010101" charset="-122"/>
                          <a:ea typeface="华文楷体" panose="02010600040101010101" charset="-122"/>
                          <a:sym typeface="+mn-ea"/>
                        </a:rPr>
                        <a:t>、</a:t>
                      </a:r>
                      <a:r>
                        <a:rPr lang="en-US" altLang="zh-CN" sz="1200">
                          <a:latin typeface="华文楷体" panose="02010600040101010101" charset="-122"/>
                          <a:ea typeface="华文楷体" panose="02010600040101010101" charset="-122"/>
                          <a:sym typeface="+mn-ea"/>
                        </a:rPr>
                        <a:t>RTAV9</a:t>
                      </a:r>
                      <a:r>
                        <a:rPr lang="zh-CN" altLang="en-US" sz="1200">
                          <a:latin typeface="华文楷体" panose="02010600040101010101" charset="-122"/>
                          <a:ea typeface="华文楷体" panose="02010600040101010101" charset="-122"/>
                          <a:sym typeface="+mn-ea"/>
                        </a:rPr>
                        <a:t>迭代，排除比例拉齐；</a:t>
                      </a:r>
                      <a:endParaRPr lang="zh-CN" altLang="en-US" sz="1200">
                        <a:latin typeface="华文楷体" panose="02010600040101010101" charset="-122"/>
                        <a:ea typeface="华文楷体" panose="02010600040101010101" charset="-122"/>
                        <a:sym typeface="+mn-ea"/>
                      </a:endParaRPr>
                    </a:p>
                    <a:p>
                      <a:pPr algn="l" fontAlgn="ctr">
                        <a:lnSpc>
                          <a:spcPct val="100000"/>
                        </a:lnSpc>
                      </a:pPr>
                      <a:r>
                        <a:rPr lang="en-US" altLang="zh-CN" sz="1200">
                          <a:latin typeface="华文楷体" panose="02010600040101010101" charset="-122"/>
                          <a:ea typeface="华文楷体" panose="02010600040101010101" charset="-122"/>
                          <a:sym typeface="+mn-ea"/>
                        </a:rPr>
                        <a:t>2</a:t>
                      </a:r>
                      <a:r>
                        <a:rPr lang="zh-CN" altLang="en-US" sz="1200">
                          <a:latin typeface="华文楷体" panose="02010600040101010101" charset="-122"/>
                          <a:ea typeface="华文楷体" panose="02010600040101010101" charset="-122"/>
                          <a:sym typeface="+mn-ea"/>
                        </a:rPr>
                        <a:t>、激进收回传实验：</a:t>
                      </a:r>
                      <a:r>
                        <a:rPr lang="en-US" altLang="zh-CN" sz="1200">
                          <a:latin typeface="华文楷体" panose="02010600040101010101" charset="-122"/>
                          <a:ea typeface="华文楷体" panose="02010600040101010101" charset="-122"/>
                          <a:sym typeface="+mn-ea"/>
                        </a:rPr>
                        <a:t>20%</a:t>
                      </a:r>
                      <a:r>
                        <a:rPr lang="zh-CN" altLang="en-US" sz="1200">
                          <a:latin typeface="华文楷体" panose="02010600040101010101" charset="-122"/>
                          <a:ea typeface="华文楷体" panose="02010600040101010101" charset="-122"/>
                          <a:sym typeface="+mn-ea"/>
                        </a:rPr>
                        <a:t>灰度，回传收紧</a:t>
                      </a:r>
                      <a:r>
                        <a:rPr lang="en-US" altLang="zh-CN" sz="1200">
                          <a:latin typeface="华文楷体" panose="02010600040101010101" charset="-122"/>
                          <a:ea typeface="华文楷体" panose="02010600040101010101" charset="-122"/>
                          <a:sym typeface="+mn-ea"/>
                        </a:rPr>
                        <a:t>30%</a:t>
                      </a:r>
                      <a:endParaRPr lang="zh-CN" altLang="en-US" sz="1200">
                        <a:latin typeface="华文楷体" panose="02010600040101010101" charset="-122"/>
                        <a:ea typeface="华文楷体" panose="02010600040101010101" charset="-122"/>
                        <a:sym typeface="+mn-ea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p>
                      <a:pPr algn="l" fontAlgn="ctr">
                        <a:lnSpc>
                          <a:spcPct val="100000"/>
                        </a:lnSpc>
                      </a:pPr>
                      <a:r>
                        <a:rPr lang="zh-CN" altLang="en-US" sz="1200" b="1" dirty="0"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质量：</a:t>
                      </a:r>
                      <a:r>
                        <a:rPr lang="en-US" altLang="zh-CN" sz="1200" b="0" dirty="0"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18.7%</a:t>
                      </a:r>
                      <a:r>
                        <a:rPr lang="zh-CN" altLang="en-US" sz="1200" b="0" dirty="0"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基本持平</a:t>
                      </a:r>
                      <a:endParaRPr lang="zh-CN" altLang="en-US" sz="1200" b="0" dirty="0">
                        <a:latin typeface="华文楷体" panose="02010600040101010101" charset="-122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  <a:p>
                      <a:pPr algn="l" fontAlgn="ctr">
                        <a:lnSpc>
                          <a:spcPct val="100000"/>
                        </a:lnSpc>
                      </a:pPr>
                      <a:r>
                        <a:rPr lang="zh-CN" altLang="en-US" sz="1200" b="1" dirty="0"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成本：</a:t>
                      </a:r>
                      <a:r>
                        <a:rPr lang="en-US" altLang="zh-CN" sz="1200" b="0" dirty="0"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25.5%</a:t>
                      </a:r>
                      <a:r>
                        <a:rPr lang="zh-CN" altLang="en-US" sz="1200" b="0" dirty="0"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上升至</a:t>
                      </a:r>
                      <a:r>
                        <a:rPr lang="en-US" altLang="zh-CN" sz="1200" b="0" dirty="0"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29.5%</a:t>
                      </a:r>
                      <a:endParaRPr lang="zh-CN" altLang="en-US" sz="1200" b="1" dirty="0">
                        <a:latin typeface="华文楷体" panose="02010600040101010101" charset="-122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p>
                      <a:pPr algn="l" fontAlgn="ctr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 dirty="0">
                          <a:ln>
                            <a:noFill/>
                            <a:prstDash val="sysDot"/>
                          </a:ln>
                          <a:solidFill>
                            <a:schemeClr val="tx1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+mn-ea"/>
                          <a:sym typeface="+mn-ea"/>
                        </a:rPr>
                        <a:t>当前规模较低、成本波动、质量相比腾讯有</a:t>
                      </a:r>
                      <a:r>
                        <a:rPr lang="zh-CN" altLang="en-US" sz="1200" b="0" dirty="0">
                          <a:ln>
                            <a:noFill/>
                            <a:prstDash val="sysDot"/>
                          </a:ln>
                          <a:solidFill>
                            <a:schemeClr val="tx1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+mn-ea"/>
                          <a:sym typeface="+mn-ea"/>
                        </a:rPr>
                        <a:t>差距</a:t>
                      </a:r>
                      <a:endParaRPr lang="zh-CN" altLang="en-US" sz="1200" b="0" dirty="0">
                        <a:ln>
                          <a:noFill/>
                          <a:prstDash val="sysDot"/>
                        </a:ln>
                        <a:solidFill>
                          <a:schemeClr val="tx1"/>
                        </a:solidFill>
                        <a:latin typeface="华文楷体" panose="02010600040101010101" charset="-122"/>
                        <a:ea typeface="华文楷体" panose="02010600040101010101" charset="-122"/>
                        <a:cs typeface="+mn-ea"/>
                        <a:sym typeface="+mn-ea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p>
                      <a:pPr algn="l" fontAlgn="ctr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 dirty="0">
                          <a:latin typeface="华文楷体" panose="02010600040101010101" charset="-122"/>
                          <a:ea typeface="华文楷体" panose="02010600040101010101" charset="-122"/>
                        </a:rPr>
                        <a:t>短期目标是规模提升（模型稳定性），通过放开排除、适当加价方式提升</a:t>
                      </a:r>
                      <a:r>
                        <a:rPr lang="zh-CN" altLang="en-US" sz="1200" b="0" dirty="0">
                          <a:latin typeface="华文楷体" panose="02010600040101010101" charset="-122"/>
                          <a:ea typeface="华文楷体" panose="02010600040101010101" charset="-122"/>
                        </a:rPr>
                        <a:t>花费</a:t>
                      </a:r>
                      <a:endParaRPr lang="zh-CN" altLang="en-US" sz="1200" b="0" dirty="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254000" marR="254000" marT="177800" marB="177800" anchor="ctr"/>
                </a:tc>
              </a:tr>
              <a:tr h="1234440">
                <a:tc>
                  <a:txBody>
                    <a:bodyPr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zh-CN" altLang="en-US" sz="1200" b="1">
                          <a:latin typeface="华文楷体" panose="02010600040101010101" charset="-122"/>
                          <a:ea typeface="华文楷体" panose="02010600040101010101" charset="-122"/>
                        </a:rPr>
                        <a:t>腾讯</a:t>
                      </a:r>
                      <a:endParaRPr lang="zh-CN" altLang="en-US" sz="1200" b="1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p>
                      <a:pPr algn="l" fontAlgn="ctr">
                        <a:lnSpc>
                          <a:spcPct val="100000"/>
                        </a:lnSpc>
                      </a:pP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  <a:sym typeface="+mn-ea"/>
                        </a:rPr>
                        <a:t>1</a:t>
                      </a:r>
                      <a:r>
                        <a:rPr lang="zh-CN" altLang="en-US" sz="1200" b="0" dirty="0">
                          <a:solidFill>
                            <a:schemeClr val="tx1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  <a:sym typeface="+mn-ea"/>
                        </a:rPr>
                        <a:t>、出价方式切换为质量加权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华文楷体" panose="02010600040101010101" charset="-122"/>
                        <a:ea typeface="华文楷体" panose="02010600040101010101" charset="-122"/>
                        <a:cs typeface="华文楷体" panose="02010600040101010101" charset="-122"/>
                        <a:sym typeface="+mn-ea"/>
                      </a:endParaRPr>
                    </a:p>
                    <a:p>
                      <a:pPr algn="l" fontAlgn="ctr">
                        <a:lnSpc>
                          <a:spcPct val="100000"/>
                        </a:lnSpc>
                      </a:pP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  <a:sym typeface="+mn-ea"/>
                        </a:rPr>
                        <a:t>2</a:t>
                      </a:r>
                      <a:r>
                        <a:rPr lang="zh-CN" altLang="en-US" sz="1200" b="0" dirty="0">
                          <a:solidFill>
                            <a:schemeClr val="tx1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  <a:sym typeface="+mn-ea"/>
                        </a:rPr>
                        <a:t>、</a:t>
                      </a: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  <a:sym typeface="+mn-ea"/>
                        </a:rPr>
                        <a:t>RTAV9</a:t>
                      </a:r>
                      <a:r>
                        <a:rPr lang="zh-CN" altLang="en-US" sz="1200" b="0" dirty="0">
                          <a:solidFill>
                            <a:schemeClr val="tx1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  <a:sym typeface="+mn-ea"/>
                        </a:rPr>
                        <a:t>迭代排除增加</a:t>
                      </a: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  <a:sym typeface="+mn-ea"/>
                        </a:rPr>
                        <a:t>10%</a:t>
                      </a:r>
                      <a:endParaRPr lang="en-US" altLang="zh-CN" sz="1200" b="0" dirty="0">
                        <a:solidFill>
                          <a:schemeClr val="tx1"/>
                        </a:solidFill>
                        <a:latin typeface="华文楷体" panose="02010600040101010101" charset="-122"/>
                        <a:ea typeface="华文楷体" panose="02010600040101010101" charset="-122"/>
                        <a:cs typeface="华文楷体" panose="02010600040101010101" charset="-122"/>
                        <a:sym typeface="+mn-ea"/>
                      </a:endParaRPr>
                    </a:p>
                    <a:p>
                      <a:pPr algn="l" fontAlgn="ctr">
                        <a:lnSpc>
                          <a:spcPct val="100000"/>
                        </a:lnSpc>
                      </a:pP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  <a:sym typeface="+mn-ea"/>
                        </a:rPr>
                        <a:t>3</a:t>
                      </a:r>
                      <a:r>
                        <a:rPr lang="zh-CN" altLang="en-US" sz="1200" b="0" dirty="0">
                          <a:solidFill>
                            <a:schemeClr val="tx1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  <a:sym typeface="+mn-ea"/>
                        </a:rPr>
                        <a:t>、回传收紧</a:t>
                      </a: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  <a:sym typeface="+mn-ea"/>
                        </a:rPr>
                        <a:t>20%</a:t>
                      </a:r>
                      <a:endParaRPr lang="en-US" altLang="zh-CN" sz="1200" b="0" dirty="0">
                        <a:solidFill>
                          <a:schemeClr val="tx1"/>
                        </a:solidFill>
                        <a:latin typeface="华文楷体" panose="02010600040101010101" charset="-122"/>
                        <a:ea typeface="华文楷体" panose="02010600040101010101" charset="-122"/>
                        <a:cs typeface="华文楷体" panose="02010600040101010101" charset="-122"/>
                        <a:sym typeface="+mn-ea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p>
                      <a:pPr algn="l" fontAlgn="ctr">
                        <a:lnSpc>
                          <a:spcPct val="100000"/>
                        </a:lnSpc>
                      </a:pPr>
                      <a:r>
                        <a:rPr lang="zh-CN" altLang="en-US" sz="1200" b="1"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质量：</a:t>
                      </a:r>
                      <a:r>
                        <a:rPr lang="en-US" altLang="zh-CN" sz="1200" b="0"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17.4%</a:t>
                      </a:r>
                      <a:r>
                        <a:rPr lang="zh-CN" altLang="en-US" sz="1200" b="0"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提升至</a:t>
                      </a:r>
                      <a:r>
                        <a:rPr lang="en-US" altLang="zh-CN" sz="1200" b="0"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20%</a:t>
                      </a:r>
                      <a:r>
                        <a:rPr lang="zh-CN" altLang="en-US" sz="1200" b="0"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，</a:t>
                      </a:r>
                      <a:r>
                        <a:rPr lang="zh-CN" altLang="en-US" sz="1200" b="1">
                          <a:solidFill>
                            <a:srgbClr val="C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近</a:t>
                      </a:r>
                      <a:r>
                        <a:rPr lang="en-US" altLang="zh-CN" sz="1200" b="1">
                          <a:solidFill>
                            <a:srgbClr val="C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2</a:t>
                      </a:r>
                      <a:r>
                        <a:rPr lang="zh-CN" altLang="en-US" sz="1200" b="1">
                          <a:solidFill>
                            <a:srgbClr val="C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周稳定</a:t>
                      </a:r>
                      <a:r>
                        <a:rPr lang="en-US" altLang="zh-CN" sz="1200" b="1">
                          <a:solidFill>
                            <a:srgbClr val="C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26%</a:t>
                      </a:r>
                      <a:endParaRPr lang="zh-CN" altLang="en-US" sz="1200" b="0">
                        <a:latin typeface="华文楷体" panose="02010600040101010101" charset="-122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  <a:p>
                      <a:pPr algn="l" fontAlgn="ctr">
                        <a:lnSpc>
                          <a:spcPct val="100000"/>
                        </a:lnSpc>
                      </a:pPr>
                      <a:r>
                        <a:rPr lang="zh-CN" altLang="en-US" sz="1200" b="1"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成本：</a:t>
                      </a:r>
                      <a:r>
                        <a:rPr lang="en-US" altLang="zh-CN" sz="1200" b="1"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26.6%</a:t>
                      </a:r>
                      <a:r>
                        <a:rPr lang="zh-CN" altLang="en-US" sz="1200" b="1"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下降至</a:t>
                      </a:r>
                      <a:r>
                        <a:rPr lang="en-US" altLang="zh-CN" sz="1200" b="1"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24.7%</a:t>
                      </a:r>
                      <a:endParaRPr lang="zh-CN" altLang="en-US" sz="1200" b="1">
                        <a:latin typeface="华文楷体" panose="02010600040101010101" charset="-122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p>
                      <a:pPr algn="l" fontAlgn="ctr">
                        <a:lnSpc>
                          <a:spcPct val="100000"/>
                        </a:lnSpc>
                        <a:buNone/>
                      </a:pPr>
                      <a:endParaRPr lang="zh-CN" altLang="en-US" sz="1200" dirty="0">
                        <a:ln>
                          <a:noFill/>
                          <a:prstDash val="sysDot"/>
                        </a:ln>
                        <a:solidFill>
                          <a:schemeClr val="tx1"/>
                        </a:solidFill>
                        <a:latin typeface="华文楷体" panose="02010600040101010101" charset="-122"/>
                        <a:ea typeface="华文楷体" panose="02010600040101010101" charset="-122"/>
                        <a:cs typeface="+mn-ea"/>
                        <a:sym typeface="+mn-ea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p>
                      <a:pPr algn="l" fontAlgn="ctr">
                        <a:lnSpc>
                          <a:spcPct val="100000"/>
                        </a:lnSpc>
                      </a:pPr>
                      <a:r>
                        <a:rPr lang="zh-CN" altLang="en-US" sz="1200" dirty="0">
                          <a:ln>
                            <a:noFill/>
                            <a:prstDash val="sysDot"/>
                          </a:ln>
                          <a:latin typeface="华文楷体" panose="02010600040101010101" charset="-122"/>
                          <a:ea typeface="华文楷体" panose="02010600040101010101" charset="-122"/>
                          <a:cs typeface="+mn-ea"/>
                          <a:sym typeface="+mn-ea"/>
                        </a:rPr>
                        <a:t>稳定质量，花费达标（</a:t>
                      </a:r>
                      <a:r>
                        <a:rPr lang="en-US" altLang="zh-CN" sz="1200" dirty="0">
                          <a:ln>
                            <a:noFill/>
                            <a:prstDash val="sysDot"/>
                          </a:ln>
                          <a:latin typeface="华文楷体" panose="02010600040101010101" charset="-122"/>
                          <a:ea typeface="华文楷体" panose="02010600040101010101" charset="-122"/>
                          <a:cs typeface="+mn-ea"/>
                          <a:sym typeface="+mn-ea"/>
                        </a:rPr>
                        <a:t>50</a:t>
                      </a:r>
                      <a:r>
                        <a:rPr lang="zh-CN" altLang="en-US" sz="1200" dirty="0">
                          <a:ln>
                            <a:noFill/>
                            <a:prstDash val="sysDot"/>
                          </a:ln>
                          <a:latin typeface="华文楷体" panose="02010600040101010101" charset="-122"/>
                          <a:ea typeface="华文楷体" panose="02010600040101010101" charset="-122"/>
                          <a:cs typeface="+mn-ea"/>
                          <a:sym typeface="+mn-ea"/>
                        </a:rPr>
                        <a:t>万日耗）下，通过扣回传、</a:t>
                      </a:r>
                      <a:r>
                        <a:rPr lang="en-US" altLang="zh-CN" sz="1200" dirty="0">
                          <a:ln>
                            <a:noFill/>
                            <a:prstDash val="sysDot"/>
                          </a:ln>
                          <a:latin typeface="华文楷体" panose="02010600040101010101" charset="-122"/>
                          <a:ea typeface="华文楷体" panose="02010600040101010101" charset="-122"/>
                          <a:cs typeface="+mn-ea"/>
                          <a:sym typeface="+mn-ea"/>
                        </a:rPr>
                        <a:t>RTA</a:t>
                      </a:r>
                      <a:r>
                        <a:rPr lang="zh-CN" altLang="en-US" sz="1200" dirty="0">
                          <a:ln>
                            <a:noFill/>
                            <a:prstDash val="sysDot"/>
                          </a:ln>
                          <a:latin typeface="华文楷体" panose="02010600040101010101" charset="-122"/>
                          <a:ea typeface="华文楷体" panose="02010600040101010101" charset="-122"/>
                          <a:cs typeface="+mn-ea"/>
                          <a:sym typeface="+mn-ea"/>
                        </a:rPr>
                        <a:t>尾部降价方式继续下压成本</a:t>
                      </a:r>
                      <a:endParaRPr lang="zh-CN" altLang="en-US" sz="1200" b="0" dirty="0">
                        <a:ln>
                          <a:noFill/>
                          <a:prstDash val="sysDot"/>
                        </a:ln>
                        <a:solidFill>
                          <a:schemeClr val="tx1"/>
                        </a:solidFill>
                        <a:latin typeface="华文楷体" panose="02010600040101010101" charset="-122"/>
                        <a:ea typeface="华文楷体" panose="02010600040101010101" charset="-122"/>
                        <a:cs typeface="+mn-ea"/>
                        <a:sym typeface="+mn-ea"/>
                      </a:endParaRPr>
                    </a:p>
                  </a:txBody>
                  <a:tcPr marL="254000" marR="254000" marT="177800" marB="177800" anchor="ctr"/>
                </a:tc>
              </a:tr>
              <a:tr h="1026795">
                <a:tc>
                  <a:txBody>
                    <a:bodyPr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zh-CN" altLang="en-US" sz="1200" b="1">
                          <a:latin typeface="华文楷体" panose="02010600040101010101" charset="-122"/>
                          <a:ea typeface="华文楷体" panose="02010600040101010101" charset="-122"/>
                        </a:rPr>
                        <a:t>精准</a:t>
                      </a:r>
                      <a:endParaRPr lang="zh-CN" altLang="en-US" sz="1200" b="1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p>
                      <a:pPr algn="l" font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200" dirty="0"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  <a:sym typeface="+mn-ea"/>
                        </a:rPr>
                        <a:t>1</a:t>
                      </a:r>
                      <a:r>
                        <a:rPr lang="zh-CN" altLang="en-US" sz="1200" dirty="0"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  <a:sym typeface="+mn-ea"/>
                        </a:rPr>
                        <a:t>、降价</a:t>
                      </a:r>
                      <a:r>
                        <a:rPr lang="en-US" altLang="zh-CN" sz="1200" dirty="0"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  <a:sym typeface="+mn-ea"/>
                        </a:rPr>
                        <a:t>15%</a:t>
                      </a:r>
                      <a:endParaRPr lang="en-US" altLang="zh-CN" sz="1200" dirty="0">
                        <a:latin typeface="华文楷体" panose="02010600040101010101" charset="-122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  <a:p>
                      <a:pPr algn="l" font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200" dirty="0"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  <a:sym typeface="+mn-ea"/>
                        </a:rPr>
                        <a:t>2</a:t>
                      </a:r>
                      <a:r>
                        <a:rPr lang="zh-CN" altLang="en-US" sz="1200" dirty="0"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  <a:sym typeface="+mn-ea"/>
                        </a:rPr>
                        <a:t>、</a:t>
                      </a:r>
                      <a:r>
                        <a:rPr lang="en-US" altLang="zh-CN" sz="1200" dirty="0"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  <a:sym typeface="+mn-ea"/>
                        </a:rPr>
                        <a:t>RTA</a:t>
                      </a:r>
                      <a:r>
                        <a:rPr lang="zh-CN" altLang="en-US" sz="1200" dirty="0"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  <a:sym typeface="+mn-ea"/>
                        </a:rPr>
                        <a:t>尾部收紧</a:t>
                      </a:r>
                      <a:r>
                        <a:rPr lang="en-US" altLang="zh-CN" sz="1200" dirty="0"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  <a:sym typeface="+mn-ea"/>
                        </a:rPr>
                        <a:t>25%</a:t>
                      </a:r>
                      <a:r>
                        <a:rPr lang="zh-CN" altLang="en-US" sz="1200" dirty="0"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  <a:sym typeface="+mn-ea"/>
                        </a:rPr>
                        <a:t>交易，排除边界由</a:t>
                      </a:r>
                      <a:r>
                        <a:rPr lang="en-US" altLang="zh-CN" sz="1200" dirty="0"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  <a:sym typeface="+mn-ea"/>
                        </a:rPr>
                        <a:t>3%</a:t>
                      </a:r>
                      <a:r>
                        <a:rPr lang="zh-CN" altLang="en-US" sz="1200" dirty="0"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  <a:sym typeface="+mn-ea"/>
                        </a:rPr>
                        <a:t>调整为</a:t>
                      </a:r>
                      <a:r>
                        <a:rPr lang="en-US" altLang="zh-CN" sz="1200" dirty="0"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  <a:sym typeface="+mn-ea"/>
                        </a:rPr>
                        <a:t>7%</a:t>
                      </a:r>
                      <a:endParaRPr lang="en-US" altLang="zh-CN" sz="1200" dirty="0">
                        <a:latin typeface="华文楷体" panose="02010600040101010101" charset="-122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p>
                      <a:pPr algn="l" fontAlgn="ctr">
                        <a:lnSpc>
                          <a:spcPct val="100000"/>
                        </a:lnSpc>
                      </a:pPr>
                      <a:r>
                        <a:rPr lang="zh-CN" altLang="en-US" sz="1200" b="1"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质量：</a:t>
                      </a:r>
                      <a:r>
                        <a:rPr lang="en-US" altLang="zh-CN" sz="1200" b="0">
                          <a:solidFill>
                            <a:schemeClr val="tx1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10.5%</a:t>
                      </a:r>
                      <a:r>
                        <a:rPr lang="zh-CN" altLang="en-US" sz="1200" b="0">
                          <a:solidFill>
                            <a:schemeClr val="tx1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提升至</a:t>
                      </a:r>
                      <a:r>
                        <a:rPr lang="en-US" altLang="zh-CN" sz="1200" b="0">
                          <a:solidFill>
                            <a:schemeClr val="tx1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15.7%</a:t>
                      </a:r>
                      <a:r>
                        <a:rPr lang="zh-CN" altLang="en-US" sz="1200" b="1">
                          <a:solidFill>
                            <a:srgbClr val="C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，近</a:t>
                      </a:r>
                      <a:r>
                        <a:rPr lang="en-US" altLang="zh-CN" sz="1200" b="1">
                          <a:solidFill>
                            <a:srgbClr val="C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2</a:t>
                      </a:r>
                      <a:r>
                        <a:rPr lang="zh-CN" altLang="en-US" sz="1200" b="1">
                          <a:solidFill>
                            <a:srgbClr val="C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周稳定</a:t>
                      </a:r>
                      <a:r>
                        <a:rPr lang="en-US" altLang="zh-CN" sz="1200" b="1">
                          <a:solidFill>
                            <a:srgbClr val="C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17%</a:t>
                      </a:r>
                      <a:endParaRPr lang="en-US" altLang="zh-CN" sz="1200">
                        <a:latin typeface="华文楷体" panose="02010600040101010101" charset="-122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  <a:p>
                      <a:pPr algn="l" fontAlgn="ctr">
                        <a:lnSpc>
                          <a:spcPct val="100000"/>
                        </a:lnSpc>
                      </a:pPr>
                      <a:r>
                        <a:rPr lang="zh-CN" altLang="en-US" sz="1200" b="1"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成本：</a:t>
                      </a:r>
                      <a:r>
                        <a:rPr lang="en-US" altLang="zh-CN" sz="1200" b="0"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19.3%</a:t>
                      </a:r>
                      <a:r>
                        <a:rPr lang="zh-CN" altLang="en-US" sz="1200" b="0"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基本持平</a:t>
                      </a:r>
                      <a:endParaRPr lang="zh-CN" altLang="en-US" sz="1200" b="1">
                        <a:solidFill>
                          <a:schemeClr val="tx1"/>
                        </a:solidFill>
                        <a:latin typeface="华文楷体" panose="02010600040101010101" charset="-122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p>
                      <a:pPr algn="l" fontAlgn="ctr">
                        <a:lnSpc>
                          <a:spcPct val="100000"/>
                        </a:lnSpc>
                      </a:pPr>
                      <a:r>
                        <a:rPr lang="zh-CN" altLang="en-US" sz="1200">
                          <a:latin typeface="华文楷体" panose="02010600040101010101" charset="-122"/>
                          <a:ea typeface="华文楷体" panose="02010600040101010101" charset="-122"/>
                        </a:rPr>
                        <a:t>随客群质量提升，后端意愿降低，导致成本</a:t>
                      </a:r>
                      <a:r>
                        <a:rPr lang="zh-CN" altLang="en-US" sz="1200">
                          <a:latin typeface="华文楷体" panose="02010600040101010101" charset="-122"/>
                          <a:ea typeface="华文楷体" panose="02010600040101010101" charset="-122"/>
                        </a:rPr>
                        <a:t>偏高</a:t>
                      </a:r>
                      <a:endParaRPr lang="zh-CN" altLang="en-US" sz="12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p>
                      <a:pPr algn="l" fontAlgn="ctr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>
                          <a:latin typeface="华文楷体" panose="02010600040101010101" charset="-122"/>
                          <a:ea typeface="华文楷体" panose="02010600040101010101" charset="-122"/>
                        </a:rPr>
                        <a:t>通过增加排除继续提升质量到</a:t>
                      </a:r>
                      <a:r>
                        <a:rPr lang="en-US" altLang="zh-CN" sz="1200">
                          <a:latin typeface="华文楷体" panose="02010600040101010101" charset="-122"/>
                          <a:ea typeface="华文楷体" panose="02010600040101010101" charset="-122"/>
                        </a:rPr>
                        <a:t>20%</a:t>
                      </a:r>
                      <a:r>
                        <a:rPr lang="zh-CN" altLang="en-US" sz="1200">
                          <a:latin typeface="华文楷体" panose="02010600040101010101" charset="-122"/>
                          <a:ea typeface="华文楷体" panose="02010600040101010101" charset="-122"/>
                        </a:rPr>
                        <a:t>，通过扣量、降价</a:t>
                      </a:r>
                      <a:r>
                        <a:rPr lang="zh-CN" altLang="en-US" sz="1200">
                          <a:latin typeface="华文楷体" panose="02010600040101010101" charset="-122"/>
                          <a:ea typeface="华文楷体" panose="02010600040101010101" charset="-122"/>
                        </a:rPr>
                        <a:t>方式成本压降至</a:t>
                      </a:r>
                      <a:r>
                        <a:rPr lang="en-US" altLang="zh-CN" sz="1200">
                          <a:latin typeface="华文楷体" panose="02010600040101010101" charset="-122"/>
                          <a:ea typeface="华文楷体" panose="02010600040101010101" charset="-122"/>
                        </a:rPr>
                        <a:t>15%</a:t>
                      </a:r>
                      <a:endParaRPr lang="en-US" altLang="zh-CN" sz="120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254000" marR="254000" marT="177800" marB="177800" anchor="ctr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9839" y="130252"/>
            <a:ext cx="11574136" cy="505208"/>
          </a:xfrm>
        </p:spPr>
        <p:txBody>
          <a:bodyPr/>
          <a:lstStyle/>
          <a:p>
            <a:r>
              <a:rPr lang="en-US" altLang="zh-CN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1</a:t>
            </a:r>
            <a:r>
              <a:rPr lang="zh-CN" altLang="en-US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月目标达成：</a:t>
            </a:r>
            <a:r>
              <a:rPr lang="en-US" altLang="zh-CN" b="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CPS</a:t>
            </a:r>
            <a:r>
              <a:rPr lang="zh-CN" altLang="en-US" b="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达成目标，质量提升，受免费量拖累</a:t>
            </a:r>
            <a:r>
              <a:rPr lang="zh-CN" altLang="en-US" b="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大盘过件率离目标仍有差距</a:t>
            </a:r>
            <a:endParaRPr lang="zh-CN" altLang="en-US" b="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407670" y="719455"/>
            <a:ext cx="11376660" cy="8401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40000"/>
              </a:lnSpc>
            </a:pPr>
            <a:r>
              <a:rPr lang="en-US" altLang="zh-CN" sz="1400" b="1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1</a:t>
            </a:r>
            <a:r>
              <a:rPr lang="zh-CN" altLang="en-US" sz="1400" b="1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月目标：</a:t>
            </a:r>
            <a:r>
              <a:rPr lang="zh-CN" altLang="en-US" sz="14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以提质为第一优先级，同时压降规模</a:t>
            </a:r>
            <a:endParaRPr lang="zh-CN" altLang="en-US" sz="14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>
              <a:lnSpc>
                <a:spcPct val="140000"/>
              </a:lnSpc>
            </a:pPr>
            <a:r>
              <a:rPr lang="en-US" altLang="zh-CN" sz="1400" b="1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1</a:t>
            </a:r>
            <a:r>
              <a:rPr lang="zh-CN" altLang="en-US" sz="1400" b="1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月达成：</a:t>
            </a:r>
            <a:r>
              <a:rPr lang="zh-CN" altLang="en-US" sz="14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交易规模较</a:t>
            </a:r>
            <a:r>
              <a:rPr lang="en-US" altLang="zh-CN" sz="14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12</a:t>
            </a:r>
            <a:r>
              <a:rPr lang="zh-CN" altLang="en-US" sz="14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月收缩</a:t>
            </a:r>
            <a:r>
              <a:rPr lang="en-US" altLang="zh-CN" sz="14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0.81</a:t>
            </a:r>
            <a:r>
              <a:rPr lang="zh-CN" altLang="en-US" sz="14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亿；受获客策略调整影响；</a:t>
            </a:r>
            <a:r>
              <a:rPr lang="zh-CN" altLang="en-US" sz="1400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过件率变好，但与目标仍存在差距</a:t>
            </a:r>
            <a:endParaRPr lang="zh-CN" altLang="en-US" sz="14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>
              <a:lnSpc>
                <a:spcPct val="140000"/>
              </a:lnSpc>
            </a:pPr>
            <a:endParaRPr lang="zh-CN" altLang="en-US" sz="14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>
              <a:lnSpc>
                <a:spcPct val="140000"/>
              </a:lnSpc>
            </a:pPr>
            <a:endParaRPr lang="zh-CN" altLang="en-US" sz="14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graphicFrame>
        <p:nvGraphicFramePr>
          <p:cNvPr id="41" name="表格 40"/>
          <p:cNvGraphicFramePr/>
          <p:nvPr>
            <p:custDataLst>
              <p:tags r:id="rId3"/>
            </p:custDataLst>
          </p:nvPr>
        </p:nvGraphicFramePr>
        <p:xfrm>
          <a:off x="309880" y="1469390"/>
          <a:ext cx="11363325" cy="1393825"/>
        </p:xfrm>
        <a:graphic>
          <a:graphicData uri="http://schemas.openxmlformats.org/drawingml/2006/table">
            <a:tbl>
              <a:tblPr/>
              <a:tblGrid>
                <a:gridCol w="1755140"/>
                <a:gridCol w="1754505"/>
                <a:gridCol w="2588895"/>
                <a:gridCol w="1755140"/>
                <a:gridCol w="1754505"/>
                <a:gridCol w="1755140"/>
              </a:tblGrid>
              <a:tr h="278765">
                <a:tc>
                  <a:txBody>
                    <a:bodyPr/>
                    <a:p>
                      <a:pPr algn="ctr" fontAlgn="ctr"/>
                      <a:endParaRPr sz="14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交易额（亿）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投放花费（亿）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实际</a:t>
                      </a:r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1-7CPS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T01-7CPS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1-3</a:t>
                      </a:r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过件率</a:t>
                      </a:r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(</a:t>
                      </a:r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排年龄）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78765"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华文楷体" panose="02010600040101010101" charset="-122"/>
                          <a:ea typeface="华文楷体" panose="02010600040101010101" charset="-122"/>
                        </a:rPr>
                        <a:t>12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华文楷体" panose="02010600040101010101" charset="-122"/>
                          <a:ea typeface="华文楷体" panose="02010600040101010101" charset="-122"/>
                        </a:rPr>
                        <a:t>月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华文楷体" panose="02010600040101010101" charset="-122"/>
                          <a:ea typeface="华文楷体" panose="02010600040101010101" charset="-122"/>
                        </a:rPr>
                        <a:t>实际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7.57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0.42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6.8%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17.9%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7.6%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278765">
                <a:tc>
                  <a:txBody>
                    <a:bodyPr/>
                    <a:p>
                      <a:pPr algn="ctr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华文楷体" panose="02010600040101010101" charset="-122"/>
                          <a:ea typeface="华文楷体" panose="02010600040101010101" charset="-122"/>
                        </a:rPr>
                        <a:t>1</a:t>
                      </a:r>
                      <a:r>
                        <a:rPr lang="zh-CN" altLang="en-US" sz="1400" b="1" i="0">
                          <a:solidFill>
                            <a:srgbClr val="000000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华文楷体" panose="02010600040101010101" charset="-122"/>
                          <a:ea typeface="华文楷体" panose="02010600040101010101" charset="-122"/>
                        </a:rPr>
                        <a:t>月目标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7.70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0.43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6.8%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1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sym typeface="+mn-ea"/>
                        </a:rPr>
                        <a:t>17.9%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  <a:sym typeface="+mn-ea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9.2%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78765">
                <a:tc>
                  <a:txBody>
                    <a:bodyPr/>
                    <a:p>
                      <a:pPr algn="ctr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华文楷体" panose="02010600040101010101" charset="-122"/>
                          <a:ea typeface="华文楷体" panose="02010600040101010101" charset="-122"/>
                        </a:rPr>
                        <a:t>1</a:t>
                      </a:r>
                      <a:r>
                        <a:rPr lang="zh-CN" altLang="en-US" sz="1400" b="1" i="0">
                          <a:solidFill>
                            <a:srgbClr val="000000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华文楷体" panose="02010600040101010101" charset="-122"/>
                          <a:ea typeface="华文楷体" panose="02010600040101010101" charset="-122"/>
                        </a:rPr>
                        <a:t>月达成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6.76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0.38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6.2%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17.8%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7.9%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78765"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达成率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87.8%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88.4%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99.8%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99.4%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85.9%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7" name="文本框 46"/>
          <p:cNvSpPr txBox="1"/>
          <p:nvPr/>
        </p:nvSpPr>
        <p:spPr>
          <a:xfrm>
            <a:off x="309880" y="2924175"/>
            <a:ext cx="2571115" cy="30670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algn="l" fontAlgn="ctr"/>
            <a:r>
              <a:rPr lang="zh-CN" altLang="en-US" sz="1400" b="1">
                <a:solidFill>
                  <a:srgbClr val="000000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rPr>
              <a:t>过件率达成拆解</a:t>
            </a:r>
            <a:endParaRPr lang="zh-CN" altLang="en-US" sz="1400" b="1">
              <a:solidFill>
                <a:srgbClr val="000000"/>
              </a:solidFill>
              <a:latin typeface="华文楷体" panose="02010600040101010101" charset="-122"/>
              <a:ea typeface="华文楷体" panose="02010600040101010101" charset="-122"/>
              <a:sym typeface="+mn-ea"/>
            </a:endParaRPr>
          </a:p>
        </p:txBody>
      </p:sp>
      <p:graphicFrame>
        <p:nvGraphicFramePr>
          <p:cNvPr id="13" name="图表 12"/>
          <p:cNvGraphicFramePr/>
          <p:nvPr/>
        </p:nvGraphicFramePr>
        <p:xfrm>
          <a:off x="932180" y="3230880"/>
          <a:ext cx="10728325" cy="3003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矩形 4"/>
          <p:cNvSpPr/>
          <p:nvPr/>
        </p:nvSpPr>
        <p:spPr>
          <a:xfrm>
            <a:off x="309880" y="6526530"/>
            <a:ext cx="10005695" cy="275590"/>
          </a:xfrm>
          <a:prstGeom prst="rect">
            <a:avLst/>
          </a:prstGeom>
          <a:gradFill>
            <a:gsLst>
              <a:gs pos="0">
                <a:srgbClr val="E30000">
                  <a:alpha val="30000"/>
                </a:srgbClr>
              </a:gs>
              <a:gs pos="100000">
                <a:srgbClr val="760303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实际</a:t>
            </a:r>
            <a:r>
              <a:rPr kumimoji="1" lang="en-US" altLang="zh-CN" sz="12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CPS</a:t>
            </a:r>
            <a:r>
              <a:rPr kumimoji="1" lang="zh-CN" altLang="en-US" sz="12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：调整为</a:t>
            </a:r>
            <a:r>
              <a:rPr kumimoji="1" lang="en-US" altLang="zh-CN" sz="12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1-7 </a:t>
            </a:r>
            <a:r>
              <a:rPr kumimoji="1" lang="zh-CN" altLang="en-US" sz="12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含</a:t>
            </a:r>
            <a:r>
              <a:rPr kumimoji="1" lang="en-US" altLang="zh-CN" sz="12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RTA+</a:t>
            </a:r>
            <a:r>
              <a:rPr kumimoji="1" lang="zh-CN" altLang="en-US" sz="12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促申完费用，</a:t>
            </a:r>
            <a:r>
              <a:rPr kumimoji="1" lang="en-US" altLang="zh-CN" sz="12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T0CPS </a:t>
            </a:r>
            <a:r>
              <a:rPr kumimoji="1" lang="zh-CN" altLang="en-US" sz="12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不含</a:t>
            </a:r>
            <a:r>
              <a:rPr kumimoji="1" lang="en-US" altLang="zh-CN" sz="12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RTA</a:t>
            </a:r>
            <a:r>
              <a:rPr kumimoji="1" lang="zh-CN" altLang="en-US" sz="12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和</a:t>
            </a:r>
            <a:r>
              <a:rPr kumimoji="1" lang="zh-CN" altLang="en-US" sz="12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促申完</a:t>
            </a:r>
            <a:endParaRPr kumimoji="1" lang="zh-CN" altLang="en-US" sz="120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9839" y="130252"/>
            <a:ext cx="11574136" cy="505208"/>
          </a:xfrm>
        </p:spPr>
        <p:txBody>
          <a:bodyPr/>
          <a:lstStyle/>
          <a:p>
            <a:r>
              <a:rPr lang="en-US" altLang="zh-CN" dirty="0">
                <a:highlight>
                  <a:srgbClr val="000000">
                    <a:alpha val="0"/>
                  </a:srgbClr>
                </a:highligh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2</a:t>
            </a:r>
            <a:r>
              <a:rPr lang="zh-CN" altLang="en-US" dirty="0">
                <a:highlight>
                  <a:srgbClr val="000000">
                    <a:alpha val="0"/>
                  </a:srgbClr>
                </a:highligh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月目标设定</a:t>
            </a:r>
            <a:r>
              <a:rPr lang="zh-CN" altLang="en-US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：</a:t>
            </a:r>
            <a:r>
              <a:rPr lang="zh-CN" altLang="en-US" b="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提质量，大盘安全过件率由</a:t>
            </a:r>
            <a:r>
              <a:rPr lang="en-US" altLang="zh-CN" b="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7.9%</a:t>
            </a:r>
            <a:r>
              <a:rPr lang="zh-CN" altLang="en-US" b="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提升至</a:t>
            </a:r>
            <a:r>
              <a:rPr lang="en-US" altLang="zh-CN" b="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9.3%</a:t>
            </a:r>
            <a:endParaRPr lang="en-US" altLang="zh-CN" b="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309880" y="789940"/>
            <a:ext cx="11376660" cy="5054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40000"/>
              </a:lnSpc>
            </a:pPr>
            <a:r>
              <a:rPr lang="en-US" altLang="zh-CN" sz="1400" b="1" dirty="0">
                <a:highlight>
                  <a:srgbClr val="000000">
                    <a:alpha val="0"/>
                  </a:srgbClr>
                </a:highligh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2</a:t>
            </a:r>
            <a:r>
              <a:rPr lang="zh-CN" altLang="en-US" sz="1400" b="1" dirty="0">
                <a:highlight>
                  <a:srgbClr val="000000">
                    <a:alpha val="0"/>
                  </a:srgbClr>
                </a:highligh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月目标</a:t>
            </a:r>
            <a:r>
              <a:rPr lang="zh-CN" altLang="en-US" sz="1400" b="1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：</a:t>
            </a:r>
            <a:r>
              <a:rPr lang="zh-CN" altLang="en-US" sz="14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以提质量为首要目标，保持信息流规模稳定</a:t>
            </a:r>
            <a:endParaRPr lang="zh-CN" altLang="en-US" sz="14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3"/>
            </p:custDataLst>
          </p:nvPr>
        </p:nvGraphicFramePr>
        <p:xfrm>
          <a:off x="309880" y="1384935"/>
          <a:ext cx="11376660" cy="1623060"/>
        </p:xfrm>
        <a:graphic>
          <a:graphicData uri="http://schemas.openxmlformats.org/drawingml/2006/table">
            <a:tbl>
              <a:tblPr/>
              <a:tblGrid>
                <a:gridCol w="1896110"/>
                <a:gridCol w="1896110"/>
                <a:gridCol w="1896110"/>
                <a:gridCol w="1896110"/>
                <a:gridCol w="1896110"/>
                <a:gridCol w="1896110"/>
              </a:tblGrid>
              <a:tr h="295910">
                <a:tc>
                  <a:txBody>
                    <a:bodyPr/>
                    <a:p>
                      <a:pPr algn="ctr" fontAlgn="ctr"/>
                      <a:endParaRPr sz="14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交易额（亿）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投放花费（亿）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实际</a:t>
                      </a:r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1-7CPS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T01-7CPS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1-3</a:t>
                      </a:r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过件率</a:t>
                      </a:r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(</a:t>
                      </a:r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排年龄）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5910"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华文楷体" panose="02010600040101010101" charset="-122"/>
                          <a:ea typeface="华文楷体" panose="02010600040101010101" charset="-122"/>
                        </a:rPr>
                        <a:t>1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华文楷体" panose="02010600040101010101" charset="-122"/>
                          <a:ea typeface="华文楷体" panose="02010600040101010101" charset="-122"/>
                        </a:rPr>
                        <a:t>月达成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6.76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0.38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6.2%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17.8%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7.9%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295910"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华文楷体" panose="02010600040101010101" charset="-122"/>
                          <a:ea typeface="华文楷体" panose="02010600040101010101" charset="-122"/>
                        </a:rPr>
                        <a:t>2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华文楷体" panose="02010600040101010101" charset="-122"/>
                          <a:ea typeface="华文楷体" panose="02010600040101010101" charset="-122"/>
                        </a:rPr>
                        <a:t>月目标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highlight>
                          <a:srgbClr val="FF0000"/>
                        </a:highlight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4.50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0.28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6.4%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chemeClr val="tx1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19.5%</a:t>
                      </a:r>
                      <a:endParaRPr lang="en-US" altLang="zh-CN" sz="1400" b="0" i="0">
                        <a:solidFill>
                          <a:schemeClr val="tx1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9.3%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5910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年度预算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6.00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0.38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7.0%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400" b="0" i="0">
                          <a:solidFill>
                            <a:schemeClr val="tx1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22.0%</a:t>
                      </a:r>
                      <a:endParaRPr lang="en-US" altLang="zh-CN" sz="1400" b="0" i="0">
                        <a:solidFill>
                          <a:schemeClr val="tx1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7.7%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5910">
                <a:tc>
                  <a:txBody>
                    <a:bodyPr/>
                    <a:p>
                      <a:pPr algn="ctr" fontAlgn="ctr"/>
                      <a:endParaRPr lang="zh-CN" altLang="en-US" sz="14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endParaRPr lang="en-US" altLang="zh-CN" sz="14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6667" marR="6667" marT="6667" marB="0" anchor="ctr" anchorCtr="0">
                    <a:lnL>
                      <a:noFill/>
                    </a:lnL>
                    <a:lnR>
                      <a:noFill/>
                    </a:lnR>
                    <a:lnT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endParaRPr lang="en-US" altLang="zh-CN" sz="14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6667" marR="6667" marT="6667" marB="0" anchor="ctr" anchorCtr="0">
                    <a:lnL>
                      <a:noFill/>
                    </a:lnL>
                    <a:lnR>
                      <a:noFill/>
                    </a:lnR>
                    <a:lnT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endParaRPr lang="en-US" altLang="zh-CN" sz="14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6667" marR="6667" marT="6667" marB="0" anchor="ctr" anchorCtr="0">
                    <a:lnL>
                      <a:noFill/>
                    </a:lnL>
                    <a:lnR>
                      <a:noFill/>
                    </a:lnR>
                    <a:lnT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endParaRPr lang="en-US" altLang="zh-CN" sz="1400" b="0" i="0">
                        <a:solidFill>
                          <a:schemeClr val="tx1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6667" marR="6667" marT="6667" marB="0" anchor="ctr" anchorCtr="0">
                    <a:lnL>
                      <a:noFill/>
                    </a:lnL>
                    <a:lnR>
                      <a:noFill/>
                    </a:lnR>
                    <a:lnT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endParaRPr lang="en-US" altLang="zh-CN" sz="14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6667" marR="6667" marT="6667" marB="0" anchor="ctr" anchorCtr="0">
                    <a:lnL>
                      <a:noFill/>
                    </a:lnL>
                    <a:lnR>
                      <a:noFill/>
                    </a:lnR>
                    <a:lnT w="254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7" name="文本框 46"/>
          <p:cNvSpPr txBox="1"/>
          <p:nvPr/>
        </p:nvSpPr>
        <p:spPr>
          <a:xfrm>
            <a:off x="442595" y="2954020"/>
            <a:ext cx="2571115" cy="30670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algn="l" fontAlgn="ctr"/>
            <a:r>
              <a:rPr lang="zh-CN" altLang="en-US" sz="1400" b="1">
                <a:solidFill>
                  <a:srgbClr val="000000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rPr>
              <a:t>过件率</a:t>
            </a:r>
            <a:r>
              <a:rPr lang="zh-CN" altLang="en-US" sz="1400" b="1">
                <a:solidFill>
                  <a:srgbClr val="000000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rPr>
              <a:t>目标</a:t>
            </a:r>
            <a:endParaRPr lang="zh-CN" altLang="en-US" sz="1400" b="1">
              <a:solidFill>
                <a:srgbClr val="000000"/>
              </a:solidFill>
              <a:latin typeface="华文楷体" panose="02010600040101010101" charset="-122"/>
              <a:ea typeface="华文楷体" panose="02010600040101010101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42670" y="4734560"/>
            <a:ext cx="4064000" cy="9144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endParaRPr lang="en-US" altLang="zh-CN" sz="16600" b="1">
              <a:solidFill>
                <a:schemeClr val="bg1"/>
              </a:solidFill>
              <a:latin typeface="AvantGarde LT Book" panose="02000603030000020004" charset="0"/>
              <a:cs typeface="AvantGarde LT Book" panose="0200060303000002000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94310" y="6523990"/>
            <a:ext cx="10005695" cy="275590"/>
          </a:xfrm>
          <a:prstGeom prst="rect">
            <a:avLst/>
          </a:prstGeom>
          <a:gradFill>
            <a:gsLst>
              <a:gs pos="0">
                <a:srgbClr val="E30000">
                  <a:alpha val="30000"/>
                </a:srgbClr>
              </a:gs>
              <a:gs pos="100000">
                <a:srgbClr val="760303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kumimoji="1" lang="zh-CN" altLang="en-US" sz="12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实际</a:t>
            </a:r>
            <a:r>
              <a:rPr kumimoji="1" lang="en-US" altLang="zh-CN" sz="12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CPS</a:t>
            </a:r>
            <a:r>
              <a:rPr kumimoji="1" lang="zh-CN" altLang="en-US" sz="12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：交易</a:t>
            </a:r>
            <a:r>
              <a:rPr kumimoji="1" lang="en-US" altLang="zh-CN" sz="12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1-7 </a:t>
            </a:r>
            <a:r>
              <a:rPr kumimoji="1" lang="zh-CN" altLang="en-US" sz="12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，含</a:t>
            </a:r>
            <a:r>
              <a:rPr kumimoji="1" lang="en-US" altLang="zh-CN" sz="12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RTA+</a:t>
            </a:r>
            <a:r>
              <a:rPr kumimoji="1" lang="zh-CN" altLang="en-US" sz="12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促申完费用；</a:t>
            </a:r>
            <a:r>
              <a:rPr kumimoji="1" lang="en-US" altLang="zh-CN" sz="12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T0CPS </a:t>
            </a:r>
            <a:r>
              <a:rPr kumimoji="1" lang="zh-CN" altLang="en-US" sz="12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不含</a:t>
            </a:r>
            <a:r>
              <a:rPr kumimoji="1" lang="en-US" altLang="zh-CN" sz="12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RTA</a:t>
            </a:r>
            <a:r>
              <a:rPr kumimoji="1" lang="zh-CN" altLang="en-US" sz="12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和</a:t>
            </a:r>
            <a:r>
              <a:rPr kumimoji="1" lang="zh-CN" altLang="en-US" sz="12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促申完</a:t>
            </a:r>
            <a:endParaRPr kumimoji="1" lang="zh-CN" altLang="en-US" sz="120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+mn-ea"/>
            </a:endParaRPr>
          </a:p>
        </p:txBody>
      </p:sp>
      <p:graphicFrame>
        <p:nvGraphicFramePr>
          <p:cNvPr id="3" name="图表 2"/>
          <p:cNvGraphicFramePr/>
          <p:nvPr/>
        </p:nvGraphicFramePr>
        <p:xfrm>
          <a:off x="645160" y="3319145"/>
          <a:ext cx="11171555" cy="29857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rtlCol="0" anchor="ctr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latin typeface="华文楷体" panose="02010600040101010101" charset="-122"/>
                <a:ea typeface="华文楷体" panose="02010600040101010101" charset="-122"/>
                <a:cs typeface="楷体" panose="02010609060101010101" pitchFamily="49" charset="-122"/>
                <a:sym typeface="+mn-ea"/>
              </a:rPr>
              <a:t>获客指标地图：</a:t>
            </a:r>
            <a:r>
              <a:rPr lang="zh-CN" altLang="en-US" b="0" dirty="0">
                <a:latin typeface="华文楷体" panose="02010600040101010101" charset="-122"/>
                <a:ea typeface="华文楷体" panose="02010600040101010101" charset="-122"/>
                <a:cs typeface="楷体" panose="02010609060101010101" pitchFamily="49" charset="-122"/>
                <a:sym typeface="+mn-ea"/>
              </a:rPr>
              <a:t>由“转化环节</a:t>
            </a:r>
            <a:r>
              <a:rPr lang="zh-CN" altLang="en-US" b="0" dirty="0">
                <a:latin typeface="华文楷体" panose="02010600040101010101" charset="-122"/>
                <a:ea typeface="华文楷体" panose="02010600040101010101" charset="-122"/>
                <a:cs typeface="楷体" panose="02010609060101010101" pitchFamily="49" charset="-122"/>
                <a:sym typeface="+mn-ea"/>
              </a:rPr>
              <a:t>视角”切换为“分渠道</a:t>
            </a:r>
            <a:r>
              <a:rPr lang="zh-CN" altLang="en-US" b="0" dirty="0">
                <a:latin typeface="华文楷体" panose="02010600040101010101" charset="-122"/>
                <a:ea typeface="华文楷体" panose="02010600040101010101" charset="-122"/>
                <a:cs typeface="楷体" panose="02010609060101010101" pitchFamily="49" charset="-122"/>
                <a:sym typeface="+mn-ea"/>
              </a:rPr>
              <a:t>视角”，聚焦各渠道表现及核心问题</a:t>
            </a:r>
            <a:endParaRPr lang="zh-CN" altLang="en-US" b="0" dirty="0">
              <a:latin typeface="华文楷体" panose="02010600040101010101" charset="-122"/>
              <a:ea typeface="华文楷体" panose="02010600040101010101" charset="-122"/>
              <a:cs typeface="楷体" panose="02010609060101010101" pitchFamily="49" charset="-122"/>
              <a:sym typeface="+mn-ea"/>
            </a:endParaRPr>
          </a:p>
        </p:txBody>
      </p:sp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923290" y="1755140"/>
            <a:ext cx="1339850" cy="3600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大盘</a:t>
            </a:r>
            <a:endParaRPr lang="zh-CN" altLang="en-US" sz="12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14" name="矩形 13"/>
          <p:cNvSpPr/>
          <p:nvPr>
            <p:custDataLst>
              <p:tags r:id="rId2"/>
            </p:custDataLst>
          </p:nvPr>
        </p:nvSpPr>
        <p:spPr>
          <a:xfrm>
            <a:off x="923290" y="2862580"/>
            <a:ext cx="1339850" cy="3600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抖音</a:t>
            </a:r>
            <a:endParaRPr lang="zh-CN" altLang="en-US" sz="12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15" name="矩形 14"/>
          <p:cNvSpPr/>
          <p:nvPr>
            <p:custDataLst>
              <p:tags r:id="rId3"/>
            </p:custDataLst>
          </p:nvPr>
        </p:nvSpPr>
        <p:spPr>
          <a:xfrm>
            <a:off x="923290" y="3935095"/>
            <a:ext cx="1339850" cy="3600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腾讯</a:t>
            </a:r>
            <a:endParaRPr lang="zh-CN" altLang="en-US" sz="12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26" name="矩形 25"/>
          <p:cNvSpPr/>
          <p:nvPr>
            <p:custDataLst>
              <p:tags r:id="rId4"/>
            </p:custDataLst>
          </p:nvPr>
        </p:nvSpPr>
        <p:spPr>
          <a:xfrm>
            <a:off x="923290" y="5006975"/>
            <a:ext cx="1339850" cy="3600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精准</a:t>
            </a:r>
            <a:endParaRPr lang="zh-CN" altLang="en-US" sz="12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48" name="矩形 47"/>
          <p:cNvSpPr/>
          <p:nvPr>
            <p:custDataLst>
              <p:tags r:id="rId5"/>
            </p:custDataLst>
          </p:nvPr>
        </p:nvSpPr>
        <p:spPr>
          <a:xfrm>
            <a:off x="9774555" y="2870200"/>
            <a:ext cx="1204595" cy="36000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200">
                <a:solidFill>
                  <a:srgbClr val="0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曝光</a:t>
            </a:r>
            <a:r>
              <a:rPr lang="en-US" altLang="zh-CN" sz="1200">
                <a:solidFill>
                  <a:srgbClr val="0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-</a:t>
            </a:r>
            <a:r>
              <a:rPr lang="zh-CN" altLang="en-US" sz="1200">
                <a:solidFill>
                  <a:srgbClr val="0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授信</a:t>
            </a:r>
            <a:endParaRPr lang="zh-CN" altLang="en-US" sz="1200">
              <a:solidFill>
                <a:srgbClr val="00000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6" name="矩形 5"/>
          <p:cNvSpPr/>
          <p:nvPr>
            <p:custDataLst>
              <p:tags r:id="rId6"/>
            </p:custDataLst>
          </p:nvPr>
        </p:nvSpPr>
        <p:spPr>
          <a:xfrm>
            <a:off x="2886075" y="1254760"/>
            <a:ext cx="2214245" cy="33147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核心</a:t>
            </a:r>
            <a:r>
              <a:rPr lang="zh-CN" altLang="en-US" sz="12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指标</a:t>
            </a:r>
            <a:endParaRPr lang="zh-CN" altLang="en-US" sz="1200" b="1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38" name="矩形 37"/>
          <p:cNvSpPr/>
          <p:nvPr>
            <p:custDataLst>
              <p:tags r:id="rId7"/>
            </p:custDataLst>
          </p:nvPr>
        </p:nvSpPr>
        <p:spPr>
          <a:xfrm>
            <a:off x="5461635" y="2870200"/>
            <a:ext cx="1218565" cy="36000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2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请求</a:t>
            </a:r>
            <a:r>
              <a:rPr lang="zh-CN" altLang="en-US" sz="12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量</a:t>
            </a:r>
            <a:endParaRPr lang="zh-CN" altLang="en-US" sz="120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62" name="矩形 61"/>
          <p:cNvSpPr/>
          <p:nvPr>
            <p:custDataLst>
              <p:tags r:id="rId8"/>
            </p:custDataLst>
          </p:nvPr>
        </p:nvSpPr>
        <p:spPr>
          <a:xfrm>
            <a:off x="8310245" y="2870200"/>
            <a:ext cx="1204595" cy="36000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2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竞得率</a:t>
            </a:r>
            <a:endParaRPr lang="zh-CN" altLang="en-US" sz="120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67" name="矩形 66"/>
          <p:cNvSpPr/>
          <p:nvPr>
            <p:custDataLst>
              <p:tags r:id="rId9"/>
            </p:custDataLst>
          </p:nvPr>
        </p:nvSpPr>
        <p:spPr>
          <a:xfrm>
            <a:off x="6892925" y="2870200"/>
            <a:ext cx="1204595" cy="36000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2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参竞</a:t>
            </a:r>
            <a:r>
              <a:rPr lang="zh-CN" altLang="en-US" sz="12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率</a:t>
            </a:r>
            <a:endParaRPr lang="zh-CN" altLang="en-US" sz="120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19" name="矩形 18"/>
          <p:cNvSpPr/>
          <p:nvPr>
            <p:custDataLst>
              <p:tags r:id="rId10"/>
            </p:custDataLst>
          </p:nvPr>
        </p:nvSpPr>
        <p:spPr>
          <a:xfrm>
            <a:off x="5452110" y="1254760"/>
            <a:ext cx="5527040" cy="32766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转化</a:t>
            </a:r>
            <a:r>
              <a:rPr lang="zh-CN" altLang="en-US" sz="12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指标</a:t>
            </a:r>
            <a:endParaRPr lang="zh-CN" altLang="en-US" sz="1200" b="1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177800" y="6388100"/>
            <a:ext cx="10005695" cy="275590"/>
          </a:xfrm>
          <a:prstGeom prst="rect">
            <a:avLst/>
          </a:prstGeom>
          <a:gradFill>
            <a:gsLst>
              <a:gs pos="0">
                <a:srgbClr val="E30000">
                  <a:alpha val="30000"/>
                </a:srgbClr>
              </a:gs>
              <a:gs pos="100000">
                <a:srgbClr val="760303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endParaRPr kumimoji="1" lang="zh-CN" altLang="en-US" sz="1200" dirty="0">
              <a:solidFill>
                <a:schemeClr val="bg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63" name="矩形 62"/>
          <p:cNvSpPr/>
          <p:nvPr>
            <p:custDataLst>
              <p:tags r:id="rId11"/>
            </p:custDataLst>
          </p:nvPr>
        </p:nvSpPr>
        <p:spPr>
          <a:xfrm>
            <a:off x="9774555" y="3966210"/>
            <a:ext cx="1204595" cy="36000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200">
                <a:solidFill>
                  <a:srgbClr val="0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曝光</a:t>
            </a:r>
            <a:r>
              <a:rPr lang="en-US" altLang="zh-CN" sz="1200">
                <a:solidFill>
                  <a:srgbClr val="0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-</a:t>
            </a:r>
            <a:r>
              <a:rPr lang="zh-CN" altLang="en-US" sz="1200">
                <a:solidFill>
                  <a:srgbClr val="0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授信</a:t>
            </a:r>
            <a:endParaRPr lang="zh-CN" altLang="en-US" sz="1200">
              <a:solidFill>
                <a:srgbClr val="00000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74" name="矩形 73"/>
          <p:cNvSpPr/>
          <p:nvPr>
            <p:custDataLst>
              <p:tags r:id="rId12"/>
            </p:custDataLst>
          </p:nvPr>
        </p:nvSpPr>
        <p:spPr>
          <a:xfrm>
            <a:off x="5461635" y="3966210"/>
            <a:ext cx="1218565" cy="36000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2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请求</a:t>
            </a:r>
            <a:r>
              <a:rPr lang="zh-CN" altLang="en-US" sz="12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量</a:t>
            </a:r>
            <a:endParaRPr lang="zh-CN" altLang="en-US" sz="120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76" name="矩形 75"/>
          <p:cNvSpPr/>
          <p:nvPr>
            <p:custDataLst>
              <p:tags r:id="rId13"/>
            </p:custDataLst>
          </p:nvPr>
        </p:nvSpPr>
        <p:spPr>
          <a:xfrm>
            <a:off x="8310245" y="3966210"/>
            <a:ext cx="1204595" cy="36000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2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竞得率</a:t>
            </a:r>
            <a:endParaRPr lang="zh-CN" altLang="en-US" sz="120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77" name="矩形 76"/>
          <p:cNvSpPr/>
          <p:nvPr>
            <p:custDataLst>
              <p:tags r:id="rId14"/>
            </p:custDataLst>
          </p:nvPr>
        </p:nvSpPr>
        <p:spPr>
          <a:xfrm>
            <a:off x="6892925" y="3966210"/>
            <a:ext cx="1204595" cy="36000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2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参竞</a:t>
            </a:r>
            <a:r>
              <a:rPr lang="zh-CN" altLang="en-US" sz="12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率</a:t>
            </a:r>
            <a:endParaRPr lang="zh-CN" altLang="en-US" sz="120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79" name="矩形 78"/>
          <p:cNvSpPr/>
          <p:nvPr>
            <p:custDataLst>
              <p:tags r:id="rId15"/>
            </p:custDataLst>
          </p:nvPr>
        </p:nvSpPr>
        <p:spPr>
          <a:xfrm>
            <a:off x="5461635" y="5000625"/>
            <a:ext cx="1218565" cy="36000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2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撞库</a:t>
            </a:r>
            <a:r>
              <a:rPr lang="zh-CN" altLang="en-US" sz="12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量</a:t>
            </a:r>
            <a:endParaRPr lang="zh-CN" altLang="en-US" sz="120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80" name="矩形 79"/>
          <p:cNvSpPr/>
          <p:nvPr>
            <p:custDataLst>
              <p:tags r:id="rId16"/>
            </p:custDataLst>
          </p:nvPr>
        </p:nvSpPr>
        <p:spPr>
          <a:xfrm>
            <a:off x="8310245" y="5000625"/>
            <a:ext cx="1204595" cy="36000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2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首登</a:t>
            </a:r>
            <a:r>
              <a:rPr lang="zh-CN" altLang="en-US" sz="12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率</a:t>
            </a:r>
            <a:endParaRPr lang="zh-CN" altLang="en-US" sz="120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81" name="矩形 80"/>
          <p:cNvSpPr/>
          <p:nvPr>
            <p:custDataLst>
              <p:tags r:id="rId17"/>
            </p:custDataLst>
          </p:nvPr>
        </p:nvSpPr>
        <p:spPr>
          <a:xfrm>
            <a:off x="6892925" y="5000625"/>
            <a:ext cx="1204595" cy="36000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2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可营销率</a:t>
            </a:r>
            <a:endParaRPr lang="zh-CN" altLang="en-US" sz="120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83" name="矩形 82"/>
          <p:cNvSpPr/>
          <p:nvPr>
            <p:custDataLst>
              <p:tags r:id="rId18"/>
            </p:custDataLst>
          </p:nvPr>
        </p:nvSpPr>
        <p:spPr>
          <a:xfrm>
            <a:off x="9761220" y="5000625"/>
            <a:ext cx="1204595" cy="36000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2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首登</a:t>
            </a:r>
            <a:r>
              <a:rPr lang="en-US" altLang="zh-CN" sz="12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-</a:t>
            </a:r>
            <a:r>
              <a:rPr lang="zh-CN" altLang="en-US" sz="12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授信</a:t>
            </a:r>
            <a:endParaRPr lang="zh-CN" altLang="en-US" sz="120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87" name="矩形 86"/>
          <p:cNvSpPr/>
          <p:nvPr>
            <p:custDataLst>
              <p:tags r:id="rId19"/>
            </p:custDataLst>
          </p:nvPr>
        </p:nvSpPr>
        <p:spPr>
          <a:xfrm>
            <a:off x="2886075" y="1755140"/>
            <a:ext cx="2214880" cy="361188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2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规模</a:t>
            </a:r>
            <a:endParaRPr lang="zh-CN" altLang="en-US" sz="120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lvl="0" algn="ctr">
              <a:buClrTx/>
              <a:buSzTx/>
              <a:buFontTx/>
            </a:pPr>
            <a:endParaRPr lang="zh-CN" altLang="en-US" sz="120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en-US" altLang="zh-CN" sz="12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X</a:t>
            </a:r>
            <a:endParaRPr lang="en-US" altLang="zh-CN" sz="120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lvl="0" algn="ctr">
              <a:buClrTx/>
              <a:buSzTx/>
              <a:buFontTx/>
            </a:pPr>
            <a:endParaRPr lang="en-US" altLang="zh-CN" sz="120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zh-CN" altLang="en-US" sz="12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质量</a:t>
            </a:r>
            <a:endParaRPr lang="zh-CN" altLang="en-US" sz="120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lvl="0" algn="ctr">
              <a:buClrTx/>
              <a:buSzTx/>
              <a:buFontTx/>
            </a:pPr>
            <a:endParaRPr lang="zh-CN" altLang="en-US" sz="120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en-US" altLang="zh-CN" sz="12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X</a:t>
            </a:r>
            <a:endParaRPr lang="en-US" altLang="zh-CN" sz="120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lvl="0" algn="ctr">
              <a:buClrTx/>
              <a:buSzTx/>
              <a:buFontTx/>
            </a:pPr>
            <a:endParaRPr lang="zh-CN" altLang="en-US" sz="120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zh-CN" altLang="en-US" sz="12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成本</a:t>
            </a:r>
            <a:endParaRPr lang="zh-CN" altLang="en-US" sz="120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9839" y="130252"/>
            <a:ext cx="11574136" cy="505208"/>
          </a:xfrm>
        </p:spPr>
        <p:txBody>
          <a:bodyPr/>
          <a:lstStyle/>
          <a:p>
            <a:r>
              <a:rPr lang="zh-CN" altLang="en-US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获客规模指标：</a:t>
            </a:r>
            <a:r>
              <a:rPr lang="en-US" altLang="zh-CN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1-7</a:t>
            </a:r>
            <a:r>
              <a:rPr lang="zh-CN" altLang="en-US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评级首借交易</a:t>
            </a:r>
            <a:r>
              <a:rPr lang="en-US" altLang="zh-CN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</a:t>
            </a:r>
            <a:r>
              <a:rPr lang="zh-CN" altLang="en-US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By客群</a:t>
            </a:r>
            <a:endParaRPr lang="zh-CN" altLang="en-US" b="1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77800" y="6388100"/>
            <a:ext cx="10005695" cy="275590"/>
          </a:xfrm>
          <a:prstGeom prst="rect">
            <a:avLst/>
          </a:prstGeom>
          <a:gradFill>
            <a:gsLst>
              <a:gs pos="0">
                <a:srgbClr val="E30000">
                  <a:alpha val="30000"/>
                </a:srgbClr>
              </a:gs>
              <a:gs pos="100000">
                <a:srgbClr val="760303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zh-CN" altLang="en-US" sz="1200" dirty="0">
              <a:solidFill>
                <a:schemeClr val="bg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535305" y="789940"/>
            <a:ext cx="10721340" cy="7715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40000"/>
              </a:lnSpc>
            </a:pPr>
            <a:r>
              <a:rPr lang="en-US" altLang="zh-CN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1</a:t>
            </a:r>
            <a:r>
              <a:rPr lang="zh-CN" altLang="en-US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月</a:t>
            </a:r>
            <a:r>
              <a:rPr lang="en-US" altLang="zh-CN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1-7</a:t>
            </a:r>
            <a:r>
              <a:rPr lang="zh-CN" altLang="en-US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评级首借交易（</a:t>
            </a:r>
            <a:r>
              <a:rPr lang="en-US" altLang="zh-CN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24h</a:t>
            </a:r>
            <a:r>
              <a:rPr lang="zh-CN" altLang="en-US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口径）总额</a:t>
            </a:r>
            <a:r>
              <a:rPr lang="en-US" altLang="zh-CN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6.41</a:t>
            </a:r>
            <a:r>
              <a:rPr lang="zh-CN" altLang="en-US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亿元，环比</a:t>
            </a:r>
            <a:r>
              <a:rPr lang="en-US" altLang="zh-CN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12</a:t>
            </a:r>
            <a:r>
              <a:rPr lang="zh-CN" altLang="en-US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月减少</a:t>
            </a:r>
            <a:r>
              <a:rPr lang="en-US" altLang="zh-CN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0.8</a:t>
            </a:r>
            <a:r>
              <a:rPr lang="zh-CN" altLang="en-US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亿，下降</a:t>
            </a:r>
            <a:r>
              <a:rPr lang="en-US" altLang="zh-CN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11.2%</a:t>
            </a:r>
            <a:r>
              <a:rPr lang="zh-CN" altLang="en-US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；</a:t>
            </a:r>
            <a:endParaRPr lang="en-US" altLang="zh-CN"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>
              <a:lnSpc>
                <a:spcPct val="140000"/>
              </a:lnSpc>
            </a:pPr>
            <a:r>
              <a:rPr lang="zh-CN" altLang="en-US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主要受投放费用减少及长尾客群缩减的</a:t>
            </a:r>
            <a:r>
              <a:rPr lang="zh-CN" altLang="en-US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影响</a:t>
            </a:r>
            <a:endParaRPr lang="zh-CN" altLang="en-US"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graphicFrame>
        <p:nvGraphicFramePr>
          <p:cNvPr id="4" name="图表 3"/>
          <p:cNvGraphicFramePr/>
          <p:nvPr/>
        </p:nvGraphicFramePr>
        <p:xfrm>
          <a:off x="535305" y="1715770"/>
          <a:ext cx="11305540" cy="4627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获客规模指标：花费</a:t>
            </a:r>
            <a:r>
              <a:rPr lang="en-US" altLang="zh-CN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 By</a:t>
            </a:r>
            <a:r>
              <a:rPr lang="zh-CN" altLang="en-US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渠道</a:t>
            </a:r>
            <a:endParaRPr lang="zh-CN" altLang="en-US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冬青黑体简体中文 W6" panose="020B03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54025" y="761365"/>
            <a:ext cx="11125835" cy="68453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altLang="zh-CN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1</a:t>
            </a:r>
            <a:r>
              <a:rPr lang="zh-CN" altLang="en-US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月业务口径花费预计为</a:t>
            </a:r>
            <a:r>
              <a:rPr lang="en-US" altLang="zh-CN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3769</a:t>
            </a:r>
            <a:r>
              <a:rPr lang="zh-CN" altLang="en-US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万，对比</a:t>
            </a:r>
            <a:r>
              <a:rPr lang="en-US" altLang="zh-CN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12</a:t>
            </a:r>
            <a:r>
              <a:rPr lang="zh-CN" altLang="en-US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月下降</a:t>
            </a:r>
            <a:r>
              <a:rPr lang="en-US" altLang="zh-CN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10.4%</a:t>
            </a:r>
            <a:endParaRPr lang="zh-CN" altLang="en-US" sz="1600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4310" y="6379845"/>
            <a:ext cx="10005695" cy="275590"/>
          </a:xfrm>
          <a:prstGeom prst="rect">
            <a:avLst/>
          </a:prstGeom>
          <a:gradFill>
            <a:gsLst>
              <a:gs pos="0">
                <a:srgbClr val="E30000">
                  <a:alpha val="30000"/>
                </a:srgbClr>
              </a:gs>
              <a:gs pos="100000">
                <a:srgbClr val="760303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zh-CN" altLang="en-US" sz="120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+mn-ea"/>
            </a:endParaRPr>
          </a:p>
        </p:txBody>
      </p:sp>
      <p:graphicFrame>
        <p:nvGraphicFramePr>
          <p:cNvPr id="17" name="图表 16"/>
          <p:cNvGraphicFramePr/>
          <p:nvPr/>
        </p:nvGraphicFramePr>
        <p:xfrm>
          <a:off x="454025" y="1445895"/>
          <a:ext cx="11086465" cy="49199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图表 4"/>
          <p:cNvGraphicFramePr/>
          <p:nvPr/>
        </p:nvGraphicFramePr>
        <p:xfrm>
          <a:off x="547370" y="1293495"/>
          <a:ext cx="7472680" cy="50844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rtlCol="0" anchor="ctr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highlight>
                  <a:srgbClr val="000000">
                    <a:alpha val="0"/>
                  </a:srgbClr>
                </a:highligh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获客效率指标：</a:t>
            </a:r>
            <a:r>
              <a:rPr lang="en-US" altLang="zh-CN" dirty="0">
                <a:highlight>
                  <a:srgbClr val="000000">
                    <a:alpha val="0"/>
                  </a:srgbClr>
                </a:highligh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1-7</a:t>
            </a:r>
            <a:r>
              <a:rPr lang="zh-CN" altLang="en-US" dirty="0">
                <a:highlight>
                  <a:srgbClr val="000000">
                    <a:alpha val="0"/>
                  </a:srgbClr>
                </a:highligh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评级CPS</a:t>
            </a:r>
            <a:endParaRPr lang="zh-CN" altLang="en-US" dirty="0">
              <a:highlight>
                <a:srgbClr val="000000">
                  <a:alpha val="0"/>
                </a:srgbClr>
              </a:highligh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77800" y="6388100"/>
            <a:ext cx="10005695" cy="275590"/>
          </a:xfrm>
          <a:prstGeom prst="rect">
            <a:avLst/>
          </a:prstGeom>
          <a:gradFill>
            <a:gsLst>
              <a:gs pos="0">
                <a:srgbClr val="E30000">
                  <a:alpha val="30000"/>
                </a:srgbClr>
              </a:gs>
              <a:gs pos="100000">
                <a:srgbClr val="760303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kumimoji="1" lang="en-US" altLang="zh-CN" sz="1200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CPS</a:t>
            </a:r>
            <a:r>
              <a:rPr kumimoji="1" lang="zh-CN" altLang="en-US" sz="1200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</a:t>
            </a:r>
            <a:r>
              <a:rPr kumimoji="1" lang="en-US" altLang="zh-CN" sz="1200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=</a:t>
            </a:r>
            <a:r>
              <a:rPr kumimoji="1" lang="zh-CN" altLang="en-US" sz="1200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花费</a:t>
            </a:r>
            <a:r>
              <a:rPr kumimoji="1" lang="en-US" altLang="zh-CN" sz="1200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/</a:t>
            </a:r>
            <a:r>
              <a:rPr kumimoji="1" lang="zh-CN" altLang="en-US" sz="1200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交易额 </a:t>
            </a:r>
            <a:endParaRPr kumimoji="1" lang="zh-CN" altLang="en-US" sz="1200" dirty="0">
              <a:solidFill>
                <a:schemeClr val="bg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19" name="文本框 18"/>
          <p:cNvSpPr txBox="1"/>
          <p:nvPr>
            <p:custDataLst>
              <p:tags r:id="rId2"/>
            </p:custDataLst>
          </p:nvPr>
        </p:nvSpPr>
        <p:spPr>
          <a:xfrm>
            <a:off x="437165" y="777039"/>
            <a:ext cx="7612085" cy="34459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>
              <a:lnSpc>
                <a:spcPct val="140000"/>
              </a:lnSpc>
            </a:pP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1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月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CPS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持平微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降</a:t>
            </a:r>
            <a:endParaRPr lang="zh-CN" altLang="en-US" sz="16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7" name="文本框 6"/>
          <p:cNvSpPr txBox="1"/>
          <p:nvPr userDrawn="1">
            <p:custDataLst>
              <p:tags r:id="rId3"/>
            </p:custDataLst>
          </p:nvPr>
        </p:nvSpPr>
        <p:spPr>
          <a:xfrm>
            <a:off x="8223569" y="3845251"/>
            <a:ext cx="3618230" cy="131699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7F7F7F"/>
            </a:solidFill>
          </a:ln>
        </p:spPr>
        <p:txBody>
          <a:bodyPr wrap="none" rtlCol="0">
            <a:noAutofit/>
          </a:bodyPr>
          <a:p>
            <a:pPr algn="l">
              <a:lnSpc>
                <a:spcPct val="150000"/>
              </a:lnSpc>
            </a:pPr>
            <a:r>
              <a:rPr lang="zh-CN" altLang="en-US" sz="1200" u="sng" dirty="0">
                <a:solidFill>
                  <a:srgbClr val="0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全业务</a:t>
            </a:r>
            <a:r>
              <a:rPr lang="en-US" altLang="zh-CN" sz="1200" u="sng" dirty="0">
                <a:solidFill>
                  <a:srgbClr val="0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1-7</a:t>
            </a:r>
            <a:r>
              <a:rPr lang="zh-CN" altLang="en-US" sz="1200" u="sng" dirty="0">
                <a:solidFill>
                  <a:srgbClr val="0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实际</a:t>
            </a:r>
            <a:r>
              <a:rPr lang="en-US" altLang="zh-CN" sz="1200" u="sng" dirty="0">
                <a:solidFill>
                  <a:srgbClr val="0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CPS</a:t>
            </a:r>
            <a:endParaRPr lang="en-US" altLang="zh-CN" sz="1200" u="sng" dirty="0">
              <a:solidFill>
                <a:srgbClr val="00000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indent="0" algn="l" defTabSz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000" dirty="0">
                <a:solidFill>
                  <a:srgbClr val="0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分子：</a:t>
            </a:r>
            <a:r>
              <a:rPr lang="zh-CN" altLang="en-US" sz="1000" b="1" dirty="0">
                <a:solidFill>
                  <a:srgbClr val="0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获客投放费用</a:t>
            </a:r>
            <a:r>
              <a:rPr lang="zh-CN" altLang="en-US" sz="1000" b="1" dirty="0">
                <a:solidFill>
                  <a:srgbClr val="0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+</a:t>
            </a:r>
            <a:r>
              <a:rPr lang="en-US" altLang="zh-CN" sz="1000" b="1" dirty="0">
                <a:solidFill>
                  <a:srgbClr val="0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RTA</a:t>
            </a:r>
            <a:r>
              <a:rPr lang="zh-CN" altLang="en-US" sz="1000" b="1" dirty="0">
                <a:solidFill>
                  <a:srgbClr val="0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费用</a:t>
            </a:r>
            <a:r>
              <a:rPr lang="en-US" altLang="zh-CN" sz="1000" b="1" dirty="0">
                <a:solidFill>
                  <a:srgbClr val="0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+</a:t>
            </a:r>
            <a:r>
              <a:rPr lang="zh-CN" altLang="en-US" sz="1000" b="1" dirty="0">
                <a:solidFill>
                  <a:srgbClr val="0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促申完费用</a:t>
            </a:r>
            <a:endParaRPr lang="zh-CN" altLang="en-US" sz="1000" dirty="0">
              <a:solidFill>
                <a:srgbClr val="00000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indent="0" algn="l" defTabSz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000" dirty="0">
                <a:solidFill>
                  <a:srgbClr val="0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分母：</a:t>
            </a:r>
            <a:r>
              <a:rPr lang="zh-CN" altLang="en-US" sz="1000" b="1" dirty="0">
                <a:solidFill>
                  <a:srgbClr val="0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首借全客群</a:t>
            </a:r>
            <a:r>
              <a:rPr lang="en-US" altLang="zh-CN" sz="1000" b="1" dirty="0">
                <a:solidFill>
                  <a:srgbClr val="0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1-7</a:t>
            </a:r>
            <a:r>
              <a:rPr lang="zh-CN" altLang="en-US" sz="1000" b="1" dirty="0">
                <a:solidFill>
                  <a:srgbClr val="0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月切：</a:t>
            </a:r>
            <a:r>
              <a:rPr lang="zh-CN" altLang="en-US" sz="1000" dirty="0">
                <a:solidFill>
                  <a:srgbClr val="0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初审实际交易额</a:t>
            </a:r>
            <a:r>
              <a:rPr lang="en-US" altLang="zh-CN" sz="1000" dirty="0">
                <a:solidFill>
                  <a:srgbClr val="0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+</a:t>
            </a:r>
            <a:r>
              <a:rPr lang="zh-CN" altLang="en-US" sz="1000" dirty="0">
                <a:solidFill>
                  <a:srgbClr val="0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非初审</a:t>
            </a:r>
            <a:r>
              <a:rPr lang="en-US" altLang="zh-CN" sz="1000" dirty="0">
                <a:solidFill>
                  <a:srgbClr val="0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+API</a:t>
            </a:r>
            <a:r>
              <a:rPr lang="zh-CN" altLang="en-US" sz="1000" dirty="0">
                <a:solidFill>
                  <a:srgbClr val="0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回流</a:t>
            </a:r>
            <a:endParaRPr lang="zh-CN" altLang="en-US" sz="1000" b="1" dirty="0">
              <a:solidFill>
                <a:srgbClr val="00000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algn="l">
              <a:lnSpc>
                <a:spcPct val="200000"/>
              </a:lnSpc>
            </a:pPr>
            <a:r>
              <a:rPr lang="zh-CN" altLang="en-US" sz="1000" dirty="0">
                <a:solidFill>
                  <a:srgbClr val="0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应用场景：观测公司整体新客业务月度经营效率</a:t>
            </a:r>
            <a:endParaRPr lang="zh-CN" altLang="en-US" sz="1000" dirty="0">
              <a:solidFill>
                <a:srgbClr val="00000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10" name="文本框 9"/>
          <p:cNvSpPr txBox="1"/>
          <p:nvPr userDrawn="1">
            <p:custDataLst>
              <p:tags r:id="rId4"/>
            </p:custDataLst>
          </p:nvPr>
        </p:nvSpPr>
        <p:spPr>
          <a:xfrm>
            <a:off x="8222299" y="2173015"/>
            <a:ext cx="3618230" cy="131699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7F7F7F"/>
            </a:solidFill>
          </a:ln>
        </p:spPr>
        <p:txBody>
          <a:bodyPr wrap="none" rtlCol="0">
            <a:noAutofit/>
          </a:bodyPr>
          <a:p>
            <a:pPr algn="l">
              <a:lnSpc>
                <a:spcPct val="150000"/>
              </a:lnSpc>
            </a:pPr>
            <a:r>
              <a:rPr lang="en-US" altLang="zh-CN" sz="1200" u="sng" dirty="0">
                <a:solidFill>
                  <a:srgbClr val="0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1-7 </a:t>
            </a:r>
            <a:r>
              <a:rPr lang="zh-CN" altLang="en-US" sz="1200" u="sng" dirty="0">
                <a:solidFill>
                  <a:srgbClr val="0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首登</a:t>
            </a:r>
            <a:r>
              <a:rPr lang="en-US" sz="1200" u="sng" dirty="0">
                <a:solidFill>
                  <a:srgbClr val="0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T0</a:t>
            </a:r>
            <a:r>
              <a:rPr lang="en-US" altLang="zh-CN" sz="1200" u="sng" dirty="0">
                <a:solidFill>
                  <a:srgbClr val="0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CPS</a:t>
            </a:r>
            <a:endParaRPr lang="en-US" altLang="zh-CN" sz="1200" u="sng" dirty="0">
              <a:solidFill>
                <a:srgbClr val="00000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indent="0" algn="l" defTabSz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000" dirty="0">
                <a:solidFill>
                  <a:srgbClr val="0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分子：获客投放费用</a:t>
            </a:r>
            <a:endParaRPr lang="zh-CN" altLang="en-US" sz="1000" dirty="0">
              <a:solidFill>
                <a:srgbClr val="00000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indent="0" algn="l" defTabSz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000" dirty="0">
                <a:solidFill>
                  <a:srgbClr val="0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分母：</a:t>
            </a:r>
            <a:r>
              <a:rPr lang="en-US" altLang="zh-CN" sz="1000" b="1" dirty="0">
                <a:solidFill>
                  <a:srgbClr val="0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1-7</a:t>
            </a:r>
            <a:r>
              <a:rPr lang="zh-CN" altLang="en-US" sz="1000" b="1" dirty="0">
                <a:solidFill>
                  <a:srgbClr val="0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评级首登</a:t>
            </a:r>
            <a:r>
              <a:rPr lang="en-US" altLang="zh-CN" sz="1000" b="1" dirty="0">
                <a:solidFill>
                  <a:srgbClr val="0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T0</a:t>
            </a:r>
            <a:r>
              <a:rPr lang="zh-CN" altLang="en-US" sz="1000" b="1" dirty="0">
                <a:solidFill>
                  <a:srgbClr val="0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交易额</a:t>
            </a:r>
            <a:endParaRPr lang="zh-CN" altLang="en-US" sz="1000" b="1" dirty="0">
              <a:solidFill>
                <a:srgbClr val="00000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algn="l">
              <a:lnSpc>
                <a:spcPct val="200000"/>
              </a:lnSpc>
            </a:pPr>
            <a:r>
              <a:rPr lang="zh-CN" altLang="en-US" sz="1000" dirty="0">
                <a:solidFill>
                  <a:srgbClr val="0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应用场景：观测首登当日新客业务月度经营效率</a:t>
            </a:r>
            <a:endParaRPr lang="zh-CN" altLang="en-US" sz="1000" dirty="0">
              <a:solidFill>
                <a:srgbClr val="00000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cxnSp>
        <p:nvCxnSpPr>
          <p:cNvPr id="12" name="肘形连接符 11"/>
          <p:cNvCxnSpPr/>
          <p:nvPr userDrawn="1">
            <p:custDataLst>
              <p:tags r:id="rId5"/>
            </p:custDataLst>
          </p:nvPr>
        </p:nvCxnSpPr>
        <p:spPr>
          <a:xfrm rot="10800000" flipV="1">
            <a:off x="7757160" y="3027680"/>
            <a:ext cx="464820" cy="3175"/>
          </a:xfrm>
          <a:prstGeom prst="bentConnector2">
            <a:avLst/>
          </a:prstGeom>
          <a:ln w="12700" cap="flat" cmpd="sng" algn="ctr">
            <a:solidFill>
              <a:srgbClr val="979797">
                <a:alpha val="100000"/>
              </a:srgbClr>
            </a:solidFill>
            <a:prstDash val="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肘形连接符 14"/>
          <p:cNvCxnSpPr/>
          <p:nvPr userDrawn="1">
            <p:custDataLst>
              <p:tags r:id="rId6"/>
            </p:custDataLst>
          </p:nvPr>
        </p:nvCxnSpPr>
        <p:spPr>
          <a:xfrm rot="10800000" flipV="1">
            <a:off x="7757160" y="4011930"/>
            <a:ext cx="466725" cy="3175"/>
          </a:xfrm>
          <a:prstGeom prst="bentConnector3">
            <a:avLst>
              <a:gd name="adj1" fmla="val 49932"/>
            </a:avLst>
          </a:prstGeom>
          <a:ln w="12700" cap="flat" cmpd="sng" algn="ctr">
            <a:solidFill>
              <a:srgbClr val="979797">
                <a:alpha val="100000"/>
              </a:srgbClr>
            </a:solidFill>
            <a:prstDash val="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椭圆 3"/>
          <p:cNvSpPr/>
          <p:nvPr/>
        </p:nvSpPr>
        <p:spPr>
          <a:xfrm>
            <a:off x="7317105" y="4184650"/>
            <a:ext cx="728345" cy="344805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  <a:prstDash val="sysDot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900">
                <a:solidFill>
                  <a:srgbClr val="FF0000"/>
                </a:solidFill>
              </a:rPr>
              <a:t>-0.8%</a:t>
            </a:r>
            <a:endParaRPr lang="en-US" altLang="zh-CN" sz="900">
              <a:solidFill>
                <a:srgbClr val="FF0000"/>
              </a:solidFill>
            </a:endParaRPr>
          </a:p>
        </p:txBody>
      </p:sp>
      <p:sp>
        <p:nvSpPr>
          <p:cNvPr id="8" name="椭圆 7"/>
          <p:cNvSpPr/>
          <p:nvPr/>
        </p:nvSpPr>
        <p:spPr>
          <a:xfrm>
            <a:off x="7273290" y="2249805"/>
            <a:ext cx="775970" cy="332740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  <a:prstDash val="sysDot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900">
                <a:solidFill>
                  <a:srgbClr val="FF0000"/>
                </a:solidFill>
              </a:rPr>
              <a:t>-0.2%</a:t>
            </a:r>
            <a:endParaRPr lang="en-US" altLang="zh-CN" sz="90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4" name="图表 13"/>
          <p:cNvGraphicFramePr/>
          <p:nvPr/>
        </p:nvGraphicFramePr>
        <p:xfrm>
          <a:off x="385445" y="1328420"/>
          <a:ext cx="11195685" cy="49453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" name="标题 1"/>
          <p:cNvSpPr>
            <a:spLocks noGrp="1"/>
          </p:cNvSpPr>
          <p:nvPr/>
        </p:nvSpPr>
        <p:spPr>
          <a:xfrm>
            <a:off x="344492" y="192840"/>
            <a:ext cx="11574136" cy="505208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b="1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Source Han Sans CN Bold" panose="020B0600000000000000" pitchFamily="34" charset="-128"/>
                <a:ea typeface="Source Han Sans CN Bold" panose="020B0600000000000000" pitchFamily="34" charset="-128"/>
                <a:cs typeface="+mj-cs"/>
              </a:defRPr>
            </a:lvl1pPr>
          </a:lstStyle>
          <a:p>
            <a:r>
              <a:rPr lang="zh-CN" altLang="en-US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获客质量指标</a:t>
            </a:r>
            <a:r>
              <a:rPr lang="zh-CN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：</a:t>
            </a:r>
            <a:r>
              <a:rPr lang="zh-CN" altLang="en-US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首登</a:t>
            </a:r>
            <a:r>
              <a:rPr lang="en-US" altLang="zh-CN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T0</a:t>
            </a:r>
            <a:r>
              <a:rPr lang="zh-CN" altLang="en-US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 </a:t>
            </a:r>
            <a:r>
              <a:rPr lang="en-US" altLang="zh-CN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1-3</a:t>
            </a:r>
            <a:r>
              <a:rPr lang="zh-CN" altLang="en-US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组过件率、</a:t>
            </a:r>
            <a:r>
              <a:rPr lang="en-US" altLang="zh-CN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1-7</a:t>
            </a:r>
            <a:r>
              <a:rPr lang="zh-CN" altLang="en-US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组</a:t>
            </a:r>
            <a:r>
              <a:rPr lang="zh-CN" altLang="en-US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平均授信额度</a:t>
            </a:r>
            <a:endParaRPr lang="zh-CN" altLang="en-US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冬青黑体简体中文 W6" panose="020B0300000000000000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4310" y="6379845"/>
            <a:ext cx="10005695" cy="275590"/>
          </a:xfrm>
          <a:prstGeom prst="rect">
            <a:avLst/>
          </a:prstGeom>
          <a:gradFill>
            <a:gsLst>
              <a:gs pos="0">
                <a:srgbClr val="E30000">
                  <a:alpha val="30000"/>
                </a:srgbClr>
              </a:gs>
              <a:gs pos="100000">
                <a:srgbClr val="760303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zh-CN" altLang="en-US" sz="120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+mn-ea"/>
            </a:endParaRP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344805" y="699135"/>
            <a:ext cx="11072495" cy="5226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40000"/>
              </a:lnSpc>
            </a:pPr>
            <a:r>
              <a:rPr lang="en-US" altLang="zh-CN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1</a:t>
            </a:r>
            <a:r>
              <a:rPr lang="zh-CN" altLang="en-US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月全渠道</a:t>
            </a:r>
            <a:r>
              <a:rPr lang="en-US" altLang="zh-CN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1-3 T0</a:t>
            </a:r>
            <a:r>
              <a:rPr lang="zh-CN" altLang="en-US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过件率上升</a:t>
            </a:r>
            <a:r>
              <a:rPr lang="en-US" altLang="zh-CN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4%</a:t>
            </a:r>
            <a:r>
              <a:rPr lang="zh-CN" altLang="en-US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相对值，其中投放渠道过件率上涨</a:t>
            </a:r>
            <a:r>
              <a:rPr lang="en-US" altLang="zh-CN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16%</a:t>
            </a:r>
            <a:r>
              <a:rPr lang="zh-CN" altLang="en-US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相对值</a:t>
            </a:r>
            <a:endParaRPr lang="zh-CN" altLang="en-US"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9" name="图表 28"/>
          <p:cNvGraphicFramePr/>
          <p:nvPr/>
        </p:nvGraphicFramePr>
        <p:xfrm>
          <a:off x="6263005" y="1953260"/>
          <a:ext cx="5753100" cy="41948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腾讯总览：</a:t>
            </a:r>
            <a:r>
              <a:rPr lang="zh-CN" altLang="en-US" b="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质量成本达成良好；</a:t>
            </a:r>
            <a:r>
              <a:rPr lang="zh-CN" altLang="en-US" b="0" dirty="0">
                <a:ln>
                  <a:noFill/>
                  <a:prstDash val="sysDot"/>
                </a:ln>
                <a:latin typeface="华文楷体" panose="02010600040101010101" charset="-122"/>
                <a:ea typeface="华文楷体" panose="02010600040101010101" charset="-122"/>
                <a:cs typeface="+mn-ea"/>
                <a:sym typeface="+mn-ea"/>
              </a:rPr>
              <a:t>稳定质量，探索成本继续压降的可能性</a:t>
            </a:r>
            <a:endParaRPr lang="zh-CN" altLang="en-US" b="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冬青黑体简体中文 W6" panose="020B0300000000000000" charset="-122"/>
            </a:endParaRPr>
          </a:p>
        </p:txBody>
      </p:sp>
      <p:sp>
        <p:nvSpPr>
          <p:cNvPr id="6" name="矩形 5"/>
          <p:cNvSpPr/>
          <p:nvPr>
            <p:custDataLst>
              <p:tags r:id="rId3"/>
            </p:custDataLst>
          </p:nvPr>
        </p:nvSpPr>
        <p:spPr>
          <a:xfrm>
            <a:off x="194310" y="6379845"/>
            <a:ext cx="10005695" cy="275590"/>
          </a:xfrm>
          <a:prstGeom prst="rect">
            <a:avLst/>
          </a:prstGeom>
          <a:gradFill>
            <a:gsLst>
              <a:gs pos="0">
                <a:srgbClr val="E30000">
                  <a:alpha val="30000"/>
                </a:srgbClr>
              </a:gs>
              <a:gs pos="100000">
                <a:srgbClr val="760303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200">
              <a:solidFill>
                <a:schemeClr val="bg1"/>
              </a:solidFill>
              <a:latin typeface="华文楷体" panose="02010600040101010101" charset="-122"/>
              <a:ea typeface="华文楷体" panose="02010600040101010101" charset="-122"/>
              <a:sym typeface="+mn-ea"/>
            </a:endParaRPr>
          </a:p>
        </p:txBody>
      </p:sp>
      <p:graphicFrame>
        <p:nvGraphicFramePr>
          <p:cNvPr id="4" name="图表 3"/>
          <p:cNvGraphicFramePr/>
          <p:nvPr/>
        </p:nvGraphicFramePr>
        <p:xfrm>
          <a:off x="308610" y="1924685"/>
          <a:ext cx="5753100" cy="4282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309245" y="670560"/>
            <a:ext cx="11573510" cy="82994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algn="l" fontAlgn="ctr">
              <a:lnSpc>
                <a:spcPct val="150000"/>
              </a:lnSpc>
            </a:pPr>
            <a:r>
              <a:rPr lang="zh-CN" altLang="en-US" sz="1600" b="1" dirty="0">
                <a:ln>
                  <a:noFill/>
                  <a:prstDash val="sysDot"/>
                </a:ln>
                <a:latin typeface="华文楷体" panose="02010600040101010101" charset="-122"/>
                <a:ea typeface="华文楷体" panose="02010600040101010101" charset="-122"/>
                <a:cs typeface="+mn-ea"/>
                <a:sym typeface="+mn-ea"/>
              </a:rPr>
              <a:t>数据表现：</a:t>
            </a:r>
            <a:r>
              <a:rPr lang="zh-CN" altLang="en-US" sz="1600" dirty="0">
                <a:ln>
                  <a:noFill/>
                  <a:prstDash val="sysDot"/>
                </a:ln>
                <a:latin typeface="华文楷体" panose="02010600040101010101" charset="-122"/>
                <a:ea typeface="华文楷体" panose="02010600040101010101" charset="-122"/>
                <a:cs typeface="+mn-ea"/>
                <a:sym typeface="+mn-ea"/>
              </a:rPr>
              <a:t>质量由</a:t>
            </a:r>
            <a:r>
              <a:rPr lang="en-US" altLang="zh-CN" sz="1600" dirty="0">
                <a:ln>
                  <a:noFill/>
                  <a:prstDash val="sysDot"/>
                </a:ln>
                <a:latin typeface="华文楷体" panose="02010600040101010101" charset="-122"/>
                <a:ea typeface="华文楷体" panose="02010600040101010101" charset="-122"/>
                <a:cs typeface="+mn-ea"/>
                <a:sym typeface="+mn-ea"/>
              </a:rPr>
              <a:t>1</a:t>
            </a:r>
            <a:r>
              <a:rPr lang="en-US" altLang="zh-CN" sz="16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7.4%</a:t>
            </a:r>
            <a:r>
              <a:rPr lang="zh-CN" altLang="en-US" sz="16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提升至</a:t>
            </a:r>
            <a:r>
              <a:rPr lang="en-US" altLang="zh-CN" sz="16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20%</a:t>
            </a:r>
            <a:r>
              <a:rPr lang="zh-CN" altLang="en-US" sz="16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，成本</a:t>
            </a:r>
            <a:r>
              <a:rPr lang="en-US" altLang="zh-CN" sz="16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26.6%</a:t>
            </a:r>
            <a:r>
              <a:rPr lang="zh-CN" altLang="en-US" sz="16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下降至</a:t>
            </a:r>
            <a:r>
              <a:rPr lang="en-US" altLang="zh-CN" sz="16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24.7%</a:t>
            </a:r>
            <a:r>
              <a:rPr lang="zh-CN" altLang="en-US" sz="16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，日耗下降</a:t>
            </a:r>
            <a:r>
              <a:rPr lang="en-US" altLang="zh-CN" sz="16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10</a:t>
            </a:r>
            <a:r>
              <a:rPr lang="zh-CN" altLang="en-US" sz="16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万</a:t>
            </a:r>
            <a:endParaRPr lang="zh-CN" altLang="en-US" sz="16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algn="l" fontAlgn="ctr">
              <a:lnSpc>
                <a:spcPct val="150000"/>
              </a:lnSpc>
            </a:pPr>
            <a:r>
              <a:rPr lang="zh-CN" altLang="en-US" sz="1600" b="1" dirty="0">
                <a:ln>
                  <a:noFill/>
                  <a:prstDash val="sysDot"/>
                </a:ln>
                <a:latin typeface="华文楷体" panose="02010600040101010101" charset="-122"/>
                <a:ea typeface="华文楷体" panose="02010600040101010101" charset="-122"/>
                <a:cs typeface="+mn-ea"/>
                <a:sym typeface="+mn-ea"/>
              </a:rPr>
              <a:t>未来方向：</a:t>
            </a:r>
            <a:r>
              <a:rPr lang="zh-CN" altLang="en-US" sz="1600" dirty="0">
                <a:ln>
                  <a:noFill/>
                  <a:prstDash val="sysDot"/>
                </a:ln>
                <a:latin typeface="华文楷体" panose="02010600040101010101" charset="-122"/>
                <a:ea typeface="华文楷体" panose="02010600040101010101" charset="-122"/>
                <a:cs typeface="+mn-ea"/>
                <a:sym typeface="+mn-ea"/>
              </a:rPr>
              <a:t>稳定质量，花费达标（</a:t>
            </a:r>
            <a:r>
              <a:rPr lang="en-US" altLang="zh-CN" sz="1600" dirty="0">
                <a:ln>
                  <a:noFill/>
                  <a:prstDash val="sysDot"/>
                </a:ln>
                <a:latin typeface="华文楷体" panose="02010600040101010101" charset="-122"/>
                <a:ea typeface="华文楷体" panose="02010600040101010101" charset="-122"/>
                <a:cs typeface="+mn-ea"/>
                <a:sym typeface="+mn-ea"/>
              </a:rPr>
              <a:t>50</a:t>
            </a:r>
            <a:r>
              <a:rPr lang="zh-CN" altLang="en-US" sz="1600" dirty="0">
                <a:ln>
                  <a:noFill/>
                  <a:prstDash val="sysDot"/>
                </a:ln>
                <a:latin typeface="华文楷体" panose="02010600040101010101" charset="-122"/>
                <a:ea typeface="华文楷体" panose="02010600040101010101" charset="-122"/>
                <a:cs typeface="+mn-ea"/>
                <a:sym typeface="+mn-ea"/>
              </a:rPr>
              <a:t>万日耗）下，通过扣回传、</a:t>
            </a:r>
            <a:r>
              <a:rPr lang="en-US" altLang="zh-CN" sz="1600" dirty="0">
                <a:ln>
                  <a:noFill/>
                  <a:prstDash val="sysDot"/>
                </a:ln>
                <a:latin typeface="华文楷体" panose="02010600040101010101" charset="-122"/>
                <a:ea typeface="华文楷体" panose="02010600040101010101" charset="-122"/>
                <a:cs typeface="+mn-ea"/>
                <a:sym typeface="+mn-ea"/>
              </a:rPr>
              <a:t>RTA</a:t>
            </a:r>
            <a:r>
              <a:rPr lang="zh-CN" altLang="en-US" sz="1600" dirty="0">
                <a:ln>
                  <a:noFill/>
                  <a:prstDash val="sysDot"/>
                </a:ln>
                <a:latin typeface="华文楷体" panose="02010600040101010101" charset="-122"/>
                <a:ea typeface="华文楷体" panose="02010600040101010101" charset="-122"/>
                <a:cs typeface="+mn-ea"/>
                <a:sym typeface="+mn-ea"/>
              </a:rPr>
              <a:t>尾部降价方式继续下压</a:t>
            </a:r>
            <a:r>
              <a:rPr lang="zh-CN" altLang="en-US" sz="1600" dirty="0">
                <a:ln>
                  <a:noFill/>
                  <a:prstDash val="sysDot"/>
                </a:ln>
                <a:latin typeface="华文楷体" panose="02010600040101010101" charset="-122"/>
                <a:ea typeface="华文楷体" panose="02010600040101010101" charset="-122"/>
                <a:cs typeface="+mn-ea"/>
                <a:sym typeface="+mn-ea"/>
              </a:rPr>
              <a:t>成本</a:t>
            </a:r>
            <a:endParaRPr lang="zh-CN" altLang="en-US" sz="1600" dirty="0">
              <a:ln>
                <a:noFill/>
                <a:prstDash val="sysDot"/>
              </a:ln>
              <a:latin typeface="华文楷体" panose="02010600040101010101" charset="-122"/>
              <a:ea typeface="华文楷体" panose="02010600040101010101" charset="-122"/>
              <a:cs typeface="+mn-ea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810115" y="1953260"/>
            <a:ext cx="2381885" cy="64516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algn="l" fontAlgn="ctr">
              <a:lnSpc>
                <a:spcPct val="100000"/>
              </a:lnSpc>
            </a:pPr>
            <a:r>
              <a:rPr lang="en-US" altLang="zh-CN" sz="1200" b="1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0109 </a:t>
            </a:r>
            <a:r>
              <a:rPr lang="zh-CN" altLang="en-US" sz="1200" b="1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出价方式切换为质量加权</a:t>
            </a:r>
            <a:r>
              <a:rPr lang="en-US" altLang="zh-CN" sz="1200" b="1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0113 RTAV9</a:t>
            </a:r>
            <a:r>
              <a:rPr lang="zh-CN" altLang="en-US" sz="1200" b="1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迭代排除增加</a:t>
            </a:r>
            <a:r>
              <a:rPr lang="en-US" altLang="zh-CN" sz="1200" b="1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10%</a:t>
            </a:r>
            <a:endParaRPr lang="en-US" altLang="zh-CN" sz="1200" b="1" dirty="0">
              <a:solidFill>
                <a:srgbClr val="C0000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algn="l" fontAlgn="ctr">
              <a:lnSpc>
                <a:spcPct val="100000"/>
              </a:lnSpc>
            </a:pPr>
            <a:r>
              <a:rPr lang="en-US" altLang="zh-CN" sz="1200" b="1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0119 </a:t>
            </a:r>
            <a:r>
              <a:rPr lang="zh-CN" altLang="en-US" sz="1200" b="1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回传收紧</a:t>
            </a:r>
            <a:r>
              <a:rPr lang="en-US" altLang="zh-CN" sz="1200" b="1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20%</a:t>
            </a:r>
            <a:endParaRPr kumimoji="1" lang="en-US" altLang="zh-CN" sz="1200" b="1" dirty="0" smtClean="0">
              <a:solidFill>
                <a:srgbClr val="C0000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11159466" y="2720651"/>
            <a:ext cx="0" cy="1298816"/>
          </a:xfrm>
          <a:prstGeom prst="line">
            <a:avLst/>
          </a:prstGeom>
          <a:ln w="6350" cap="flat" cmpd="sng" algn="ctr">
            <a:solidFill>
              <a:srgbClr val="C00000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9233535" y="2582545"/>
            <a:ext cx="1405890" cy="27559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algn="l"/>
            <a:r>
              <a:rPr lang="en-US" altLang="zh-CN" sz="1200" b="1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1117RTAV8迭代</a:t>
            </a:r>
            <a:endParaRPr kumimoji="1" lang="en-US" altLang="zh-CN" sz="1200" b="1" dirty="0" smtClean="0">
              <a:solidFill>
                <a:schemeClr val="bg1">
                  <a:lumMod val="6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9936456" y="2858446"/>
            <a:ext cx="0" cy="1298816"/>
          </a:xfrm>
          <a:prstGeom prst="line">
            <a:avLst/>
          </a:prstGeom>
          <a:ln w="6350" cap="flat" cmpd="sng" algn="ctr">
            <a:solidFill>
              <a:srgbClr val="CCD1D4"/>
            </a:solidFill>
            <a:prstDash val="dash"/>
            <a:miter lim="800000"/>
            <a:headEnd type="none"/>
            <a:tailEnd type="none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2048510" y="2397760"/>
            <a:ext cx="1225550" cy="46037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algn="l"/>
            <a:r>
              <a:rPr lang="en-US" altLang="zh-CN" sz="1200" b="1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0908 降价10%</a:t>
            </a:r>
            <a:endParaRPr lang="en-US" altLang="zh-CN" sz="1200" b="1">
              <a:solidFill>
                <a:schemeClr val="bg1">
                  <a:lumMod val="6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algn="l"/>
            <a:r>
              <a:rPr lang="en-US" altLang="zh-CN" sz="1200" b="1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0916收回传5%</a:t>
            </a:r>
            <a:endParaRPr kumimoji="1" lang="en-US" altLang="zh-CN" sz="1200" b="1" dirty="0" smtClean="0">
              <a:solidFill>
                <a:schemeClr val="bg1">
                  <a:lumMod val="6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2661261" y="2864796"/>
            <a:ext cx="0" cy="850900"/>
          </a:xfrm>
          <a:prstGeom prst="line">
            <a:avLst/>
          </a:prstGeom>
          <a:ln w="6350" cap="flat" cmpd="sng" algn="ctr">
            <a:solidFill>
              <a:srgbClr val="CCD1D4"/>
            </a:solidFill>
            <a:prstDash val="dash"/>
            <a:miter lim="800000"/>
            <a:headEnd type="none"/>
            <a:tailEnd type="none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腾讯转化—请求</a:t>
            </a:r>
            <a:r>
              <a:rPr lang="zh-CN" altLang="en-US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及参竞</a:t>
            </a:r>
            <a:endParaRPr lang="zh-CN" altLang="en-US" b="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冬青黑体简体中文 W6" panose="020B0300000000000000" charset="-122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194310" y="6379845"/>
            <a:ext cx="10005695" cy="275590"/>
          </a:xfrm>
          <a:prstGeom prst="rect">
            <a:avLst/>
          </a:prstGeom>
          <a:gradFill>
            <a:gsLst>
              <a:gs pos="0">
                <a:srgbClr val="E30000">
                  <a:alpha val="30000"/>
                </a:srgbClr>
              </a:gs>
              <a:gs pos="100000">
                <a:srgbClr val="760303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200">
              <a:solidFill>
                <a:schemeClr val="bg1"/>
              </a:solidFill>
              <a:latin typeface="华文楷体" panose="02010600040101010101" charset="-122"/>
              <a:ea typeface="华文楷体" panose="02010600040101010101" charset="-122"/>
              <a:sym typeface="+mn-ea"/>
            </a:endParaRPr>
          </a:p>
        </p:txBody>
      </p:sp>
      <p:graphicFrame>
        <p:nvGraphicFramePr>
          <p:cNvPr id="12" name="图表 11"/>
          <p:cNvGraphicFramePr/>
          <p:nvPr/>
        </p:nvGraphicFramePr>
        <p:xfrm>
          <a:off x="543560" y="1666875"/>
          <a:ext cx="10546715" cy="41446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432435" y="891540"/>
            <a:ext cx="6096000" cy="33718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algn="l"/>
            <a:r>
              <a:rPr lang="zh-CN" altLang="en-US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请求量稳定，</a:t>
            </a:r>
            <a:r>
              <a:rPr lang="en-US" altLang="zh-CN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RTA</a:t>
            </a:r>
            <a:r>
              <a:rPr lang="zh-CN" altLang="en-US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迭代增加排除量级，参竞下降符合预期</a:t>
            </a:r>
            <a:endParaRPr kumimoji="1" lang="zh-CN" altLang="en-US" sz="1600" dirty="0" smtClean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冬青黑体简体中文 W6" panose="020B0300000000000000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166860" y="1759585"/>
            <a:ext cx="1727835" cy="46037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algn="l"/>
            <a:r>
              <a:rPr kumimoji="1" lang="en-US" altLang="zh-CN" sz="1200" b="1" dirty="0" smtClean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0109 </a:t>
            </a:r>
            <a:endParaRPr kumimoji="1" lang="en-US" altLang="zh-CN" sz="1200" b="1" dirty="0" smtClean="0">
              <a:solidFill>
                <a:srgbClr val="C0000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algn="l"/>
            <a:r>
              <a:rPr kumimoji="1" lang="en-US" altLang="zh-CN" sz="1200" b="1" dirty="0" smtClean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RTAV9</a:t>
            </a:r>
            <a:r>
              <a:rPr kumimoji="1" lang="zh-CN" altLang="en-US" sz="1200" b="1" dirty="0" smtClean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排除增加</a:t>
            </a:r>
            <a:r>
              <a:rPr kumimoji="1" lang="en-US" altLang="zh-CN" sz="1200" b="1" dirty="0" smtClean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10%</a:t>
            </a:r>
            <a:endParaRPr kumimoji="1" lang="en-US" altLang="zh-CN" sz="1200" b="1" dirty="0" smtClean="0">
              <a:solidFill>
                <a:srgbClr val="C0000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cxnSp>
        <p:nvCxnSpPr>
          <p:cNvPr id="15" name="直接箭头连接符 14"/>
          <p:cNvCxnSpPr>
            <a:stCxn id="14" idx="2"/>
          </p:cNvCxnSpPr>
          <p:nvPr/>
        </p:nvCxnSpPr>
        <p:spPr>
          <a:xfrm>
            <a:off x="10031095" y="2219960"/>
            <a:ext cx="0" cy="42545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432435" y="6379845"/>
            <a:ext cx="8394065" cy="27559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algn="l"/>
            <a:r>
              <a:rPr lang="zh-CN" altLang="en-US" sz="1200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备注：参竞率</a:t>
            </a:r>
            <a:r>
              <a:rPr lang="en-US" altLang="zh-CN" sz="1200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 = </a:t>
            </a:r>
            <a:r>
              <a:rPr lang="zh-CN" altLang="en-US" sz="1200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参加出价的设备数</a:t>
            </a:r>
            <a:r>
              <a:rPr lang="en-US" altLang="zh-CN" sz="1200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/</a:t>
            </a:r>
            <a:r>
              <a:rPr lang="zh-CN" altLang="en-US" sz="1200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总请求设备数，排除表示不参竞</a:t>
            </a:r>
            <a:endParaRPr lang="zh-CN" altLang="en-US" sz="1200" dirty="0">
              <a:solidFill>
                <a:schemeClr val="bg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冬青黑体简体中文 W6" panose="020B03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腾讯转化—竞得</a:t>
            </a:r>
            <a:r>
              <a:rPr lang="zh-CN" altLang="en-US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率</a:t>
            </a:r>
            <a:endParaRPr lang="zh-CN" altLang="en-US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冬青黑体简体中文 W6" panose="020B0300000000000000" charset="-122"/>
            </a:endParaRPr>
          </a:p>
        </p:txBody>
      </p:sp>
      <p:sp>
        <p:nvSpPr>
          <p:cNvPr id="6" name="矩形 5"/>
          <p:cNvSpPr/>
          <p:nvPr>
            <p:custDataLst>
              <p:tags r:id="rId3"/>
            </p:custDataLst>
          </p:nvPr>
        </p:nvSpPr>
        <p:spPr>
          <a:xfrm>
            <a:off x="194310" y="6379845"/>
            <a:ext cx="10005695" cy="275590"/>
          </a:xfrm>
          <a:prstGeom prst="rect">
            <a:avLst/>
          </a:prstGeom>
          <a:gradFill>
            <a:gsLst>
              <a:gs pos="0">
                <a:srgbClr val="E30000">
                  <a:alpha val="30000"/>
                </a:srgbClr>
              </a:gs>
              <a:gs pos="100000">
                <a:srgbClr val="760303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200">
              <a:solidFill>
                <a:schemeClr val="bg1"/>
              </a:solidFill>
              <a:latin typeface="华文楷体" panose="02010600040101010101" charset="-122"/>
              <a:ea typeface="华文楷体" panose="02010600040101010101" charset="-122"/>
              <a:sym typeface="+mn-ea"/>
            </a:endParaRPr>
          </a:p>
        </p:txBody>
      </p:sp>
      <p:graphicFrame>
        <p:nvGraphicFramePr>
          <p:cNvPr id="10" name="图表 9"/>
          <p:cNvGraphicFramePr/>
          <p:nvPr/>
        </p:nvGraphicFramePr>
        <p:xfrm>
          <a:off x="403225" y="2110105"/>
          <a:ext cx="5476875" cy="34563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38" name="图表 37"/>
          <p:cNvGraphicFramePr/>
          <p:nvPr/>
        </p:nvGraphicFramePr>
        <p:xfrm>
          <a:off x="6174105" y="2140585"/>
          <a:ext cx="5476875" cy="34258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432435" y="740410"/>
            <a:ext cx="11061065" cy="92202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algn="l">
              <a:lnSpc>
                <a:spcPct val="150000"/>
              </a:lnSpc>
            </a:pPr>
            <a:r>
              <a:rPr lang="zh-CN" altLang="en-US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整体竞得率相对稳定；</a:t>
            </a:r>
            <a:r>
              <a:rPr lang="en-US" altLang="zh-CN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V9</a:t>
            </a:r>
            <a:r>
              <a:rPr lang="zh-CN" altLang="en-US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优化出价方式</a:t>
            </a:r>
            <a:r>
              <a:rPr lang="en-US" altLang="zh-CN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3Q</a:t>
            </a:r>
            <a:r>
              <a:rPr lang="zh-CN" altLang="en-US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竞得提升，</a:t>
            </a:r>
            <a:r>
              <a:rPr lang="en-US" altLang="zh-CN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2Q</a:t>
            </a:r>
            <a:r>
              <a:rPr lang="zh-CN" altLang="en-US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竞得下降。</a:t>
            </a:r>
            <a:r>
              <a:rPr lang="en-US" altLang="zh-CN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UNK</a:t>
            </a:r>
            <a:r>
              <a:rPr lang="zh-CN" altLang="en-US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（未识别）客群</a:t>
            </a:r>
            <a:r>
              <a:rPr lang="zh-CN" altLang="en-US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近期质量下降显著，做降价</a:t>
            </a:r>
            <a:r>
              <a:rPr lang="zh-CN" altLang="en-US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处理</a:t>
            </a:r>
            <a:endParaRPr lang="zh-CN" altLang="en-US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冬青黑体简体中文 W6" panose="020B03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200005" y="2501900"/>
            <a:ext cx="1483995" cy="46037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algn="l"/>
            <a:r>
              <a:rPr kumimoji="1" lang="en-US" altLang="zh-CN" sz="1200" b="1" dirty="0" smtClean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0109 </a:t>
            </a:r>
            <a:endParaRPr kumimoji="1" lang="en-US" altLang="zh-CN" sz="1200" b="1" dirty="0" smtClean="0">
              <a:solidFill>
                <a:srgbClr val="C0000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algn="l"/>
            <a:r>
              <a:rPr kumimoji="1" lang="en-US" altLang="zh-CN" sz="1200" b="1" dirty="0" smtClean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RTAV9</a:t>
            </a:r>
            <a:r>
              <a:rPr kumimoji="1" lang="zh-CN" altLang="en-US" sz="1200" b="1" dirty="0" smtClean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出价</a:t>
            </a:r>
            <a:r>
              <a:rPr kumimoji="1" lang="zh-CN" altLang="en-US" sz="1200" b="1" dirty="0" smtClean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优化</a:t>
            </a:r>
            <a:endParaRPr kumimoji="1" lang="zh-CN" altLang="en-US" sz="1200" b="1" dirty="0" smtClean="0">
              <a:solidFill>
                <a:srgbClr val="C0000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cxnSp>
        <p:nvCxnSpPr>
          <p:cNvPr id="5" name="直接箭头连接符 4"/>
          <p:cNvCxnSpPr>
            <a:stCxn id="4" idx="2"/>
          </p:cNvCxnSpPr>
          <p:nvPr/>
        </p:nvCxnSpPr>
        <p:spPr>
          <a:xfrm>
            <a:off x="10942320" y="2962275"/>
            <a:ext cx="107315" cy="42545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432435" y="6379845"/>
            <a:ext cx="8394065" cy="27559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algn="l"/>
            <a:r>
              <a:rPr lang="zh-CN" altLang="en-US" sz="1200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备注：竞得率</a:t>
            </a:r>
            <a:r>
              <a:rPr lang="en-US" altLang="zh-CN" sz="1200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 =  </a:t>
            </a:r>
            <a:r>
              <a:rPr lang="zh-CN" altLang="en-US" sz="1200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竞得的曝光设备数</a:t>
            </a:r>
            <a:r>
              <a:rPr lang="en-US" altLang="zh-CN" sz="1200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/</a:t>
            </a:r>
            <a:r>
              <a:rPr lang="zh-CN" altLang="en-US" sz="1200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参加竞价的设备</a:t>
            </a:r>
            <a:r>
              <a:rPr lang="zh-CN" altLang="en-US" sz="1200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数</a:t>
            </a:r>
            <a:endParaRPr lang="zh-CN" altLang="en-US" sz="1200" dirty="0">
              <a:solidFill>
                <a:schemeClr val="bg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冬青黑体简体中文 W6" panose="020B0300000000000000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腾讯转化—曝光</a:t>
            </a:r>
            <a:r>
              <a:rPr lang="zh-CN" altLang="en-US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至授信</a:t>
            </a:r>
            <a:endParaRPr lang="zh-CN" altLang="en-US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冬青黑体简体中文 W6" panose="020B0300000000000000" charset="-122"/>
            </a:endParaRPr>
          </a:p>
        </p:txBody>
      </p:sp>
      <p:sp>
        <p:nvSpPr>
          <p:cNvPr id="6" name="矩形 5"/>
          <p:cNvSpPr/>
          <p:nvPr>
            <p:custDataLst>
              <p:tags r:id="rId3"/>
            </p:custDataLst>
          </p:nvPr>
        </p:nvSpPr>
        <p:spPr>
          <a:xfrm>
            <a:off x="194310" y="6379845"/>
            <a:ext cx="10005695" cy="275590"/>
          </a:xfrm>
          <a:prstGeom prst="rect">
            <a:avLst/>
          </a:prstGeom>
          <a:gradFill>
            <a:gsLst>
              <a:gs pos="0">
                <a:srgbClr val="E30000">
                  <a:alpha val="30000"/>
                </a:srgbClr>
              </a:gs>
              <a:gs pos="100000">
                <a:srgbClr val="760303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200">
              <a:solidFill>
                <a:schemeClr val="bg1"/>
              </a:solidFill>
              <a:latin typeface="华文楷体" panose="02010600040101010101" charset="-122"/>
              <a:ea typeface="华文楷体" panose="02010600040101010101" charset="-122"/>
              <a:sym typeface="+mn-ea"/>
            </a:endParaRPr>
          </a:p>
        </p:txBody>
      </p:sp>
      <p:graphicFrame>
        <p:nvGraphicFramePr>
          <p:cNvPr id="46" name="图表 45"/>
          <p:cNvGraphicFramePr/>
          <p:nvPr/>
        </p:nvGraphicFramePr>
        <p:xfrm>
          <a:off x="6061710" y="1981835"/>
          <a:ext cx="5535295" cy="3594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309245" y="763905"/>
            <a:ext cx="9891395" cy="46037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algn="l">
              <a:lnSpc>
                <a:spcPct val="150000"/>
              </a:lnSpc>
            </a:pPr>
            <a:r>
              <a:rPr kumimoji="1" lang="zh-CN" altLang="en-US" sz="1600" dirty="0" smtClean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端到端转化稳定，点击</a:t>
            </a:r>
            <a:r>
              <a:rPr kumimoji="1" lang="en-US" altLang="zh-CN" sz="1600" dirty="0" smtClean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-</a:t>
            </a:r>
            <a:r>
              <a:rPr kumimoji="1" lang="zh-CN" altLang="en-US" sz="1600" dirty="0" smtClean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授信（</a:t>
            </a:r>
            <a:r>
              <a:rPr kumimoji="1" lang="en-US" altLang="zh-CN" sz="1600" dirty="0" smtClean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CVR</a:t>
            </a:r>
            <a:r>
              <a:rPr kumimoji="1" lang="zh-CN" altLang="en-US" sz="1600" dirty="0" smtClean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）小幅下跌</a:t>
            </a:r>
            <a:r>
              <a:rPr kumimoji="1" lang="en-US" altLang="zh-CN" sz="1600" dirty="0" smtClean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5%</a:t>
            </a:r>
            <a:r>
              <a:rPr kumimoji="1" lang="zh-CN" altLang="en-US" sz="1600" dirty="0" smtClean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，主要为提质后客户点击</a:t>
            </a:r>
            <a:r>
              <a:rPr kumimoji="1" lang="en-US" altLang="zh-CN" sz="1600" dirty="0" smtClean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-</a:t>
            </a:r>
            <a:r>
              <a:rPr kumimoji="1" lang="zh-CN" altLang="en-US" sz="1600" dirty="0" smtClean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注册转化下降</a:t>
            </a:r>
            <a:r>
              <a:rPr kumimoji="1" lang="zh-CN" altLang="en-US" sz="1600" dirty="0" smtClean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所致</a:t>
            </a:r>
            <a:endParaRPr kumimoji="1" lang="zh-CN" altLang="en-US" sz="1600" dirty="0" smtClean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冬青黑体简体中文 W6" panose="020B0300000000000000" charset="-122"/>
            </a:endParaRPr>
          </a:p>
        </p:txBody>
      </p:sp>
      <p:graphicFrame>
        <p:nvGraphicFramePr>
          <p:cNvPr id="4" name="图表 3"/>
          <p:cNvGraphicFramePr/>
          <p:nvPr/>
        </p:nvGraphicFramePr>
        <p:xfrm>
          <a:off x="526415" y="1986280"/>
          <a:ext cx="5535295" cy="35947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抖音总览：</a:t>
            </a:r>
            <a:r>
              <a:rPr lang="zh-CN" altLang="en-US" b="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规模不足、指标波动较大；短期适当放开排除、</a:t>
            </a:r>
            <a:r>
              <a:rPr lang="zh-CN" altLang="en-US" b="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提出价方式提升</a:t>
            </a:r>
            <a:r>
              <a:rPr lang="zh-CN" altLang="en-US" b="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规模</a:t>
            </a:r>
            <a:endParaRPr lang="zh-CN" altLang="en-US" b="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冬青黑体简体中文 W6" panose="020B0300000000000000" charset="-122"/>
            </a:endParaRPr>
          </a:p>
        </p:txBody>
      </p:sp>
      <p:sp>
        <p:nvSpPr>
          <p:cNvPr id="6" name="矩形 5"/>
          <p:cNvSpPr/>
          <p:nvPr>
            <p:custDataLst>
              <p:tags r:id="rId3"/>
            </p:custDataLst>
          </p:nvPr>
        </p:nvSpPr>
        <p:spPr>
          <a:xfrm>
            <a:off x="194310" y="6379845"/>
            <a:ext cx="10005695" cy="275590"/>
          </a:xfrm>
          <a:prstGeom prst="rect">
            <a:avLst/>
          </a:prstGeom>
          <a:gradFill>
            <a:gsLst>
              <a:gs pos="0">
                <a:srgbClr val="E30000">
                  <a:alpha val="30000"/>
                </a:srgbClr>
              </a:gs>
              <a:gs pos="100000">
                <a:srgbClr val="760303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200">
              <a:solidFill>
                <a:schemeClr val="bg1"/>
              </a:solidFill>
              <a:latin typeface="华文楷体" panose="02010600040101010101" charset="-122"/>
              <a:ea typeface="华文楷体" panose="02010600040101010101" charset="-122"/>
              <a:sym typeface="+mn-ea"/>
            </a:endParaRPr>
          </a:p>
        </p:txBody>
      </p:sp>
      <p:graphicFrame>
        <p:nvGraphicFramePr>
          <p:cNvPr id="3" name="图表 2"/>
          <p:cNvGraphicFramePr/>
          <p:nvPr/>
        </p:nvGraphicFramePr>
        <p:xfrm>
          <a:off x="189865" y="2049145"/>
          <a:ext cx="5779135" cy="41440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316865" y="661670"/>
            <a:ext cx="11085830" cy="11988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algn="l" fontAlgn="ctr">
              <a:lnSpc>
                <a:spcPct val="150000"/>
              </a:lnSpc>
            </a:pPr>
            <a:r>
              <a:rPr lang="zh-CN" altLang="en-US" sz="1600" b="1" dirty="0">
                <a:ln>
                  <a:noFill/>
                  <a:prstDash val="sysDot"/>
                </a:ln>
                <a:latin typeface="华文楷体" panose="02010600040101010101" charset="-122"/>
                <a:ea typeface="华文楷体" panose="02010600040101010101" charset="-122"/>
                <a:cs typeface="+mn-ea"/>
                <a:sym typeface="+mn-ea"/>
              </a:rPr>
              <a:t>数据表现：</a:t>
            </a:r>
            <a:r>
              <a:rPr lang="zh-CN" altLang="en-US" sz="1600" dirty="0">
                <a:ln>
                  <a:noFill/>
                  <a:prstDash val="sysDot"/>
                </a:ln>
                <a:latin typeface="华文楷体" panose="02010600040101010101" charset="-122"/>
                <a:ea typeface="华文楷体" panose="02010600040101010101" charset="-122"/>
                <a:cs typeface="+mn-ea"/>
                <a:sym typeface="+mn-ea"/>
              </a:rPr>
              <a:t>规模低于目标</a:t>
            </a:r>
            <a:r>
              <a:rPr lang="en-US" altLang="zh-CN" sz="1600" dirty="0">
                <a:ln>
                  <a:noFill/>
                  <a:prstDash val="sysDot"/>
                </a:ln>
                <a:latin typeface="华文楷体" panose="02010600040101010101" charset="-122"/>
                <a:ea typeface="华文楷体" panose="02010600040101010101" charset="-122"/>
                <a:cs typeface="+mn-ea"/>
                <a:sym typeface="+mn-ea"/>
              </a:rPr>
              <a:t>20%</a:t>
            </a:r>
            <a:r>
              <a:rPr lang="zh-CN" altLang="en-US" sz="1600" dirty="0">
                <a:ln>
                  <a:noFill/>
                  <a:prstDash val="sysDot"/>
                </a:ln>
                <a:latin typeface="华文楷体" panose="02010600040101010101" charset="-122"/>
                <a:ea typeface="华文楷体" panose="02010600040101010101" charset="-122"/>
                <a:cs typeface="+mn-ea"/>
                <a:sym typeface="+mn-ea"/>
              </a:rPr>
              <a:t>，成本</a:t>
            </a:r>
            <a:r>
              <a:rPr lang="en-US" altLang="zh-CN" sz="1600" dirty="0">
                <a:ln>
                  <a:noFill/>
                  <a:prstDash val="sysDot"/>
                </a:ln>
                <a:latin typeface="华文楷体" panose="02010600040101010101" charset="-122"/>
                <a:ea typeface="华文楷体" panose="02010600040101010101" charset="-122"/>
                <a:cs typeface="+mn-ea"/>
                <a:sym typeface="+mn-ea"/>
              </a:rPr>
              <a:t>1</a:t>
            </a:r>
            <a:r>
              <a:rPr lang="zh-CN" altLang="en-US" sz="1600" dirty="0">
                <a:ln>
                  <a:noFill/>
                  <a:prstDash val="sysDot"/>
                </a:ln>
                <a:latin typeface="华文楷体" panose="02010600040101010101" charset="-122"/>
                <a:ea typeface="华文楷体" panose="02010600040101010101" charset="-122"/>
                <a:cs typeface="+mn-ea"/>
                <a:sym typeface="+mn-ea"/>
              </a:rPr>
              <a:t>月波动较大（近一周为</a:t>
            </a:r>
            <a:r>
              <a:rPr lang="en-US" altLang="zh-CN" sz="1600" dirty="0">
                <a:ln>
                  <a:noFill/>
                  <a:prstDash val="sysDot"/>
                </a:ln>
                <a:latin typeface="华文楷体" panose="02010600040101010101" charset="-122"/>
                <a:ea typeface="华文楷体" panose="02010600040101010101" charset="-122"/>
                <a:cs typeface="+mn-ea"/>
                <a:sym typeface="+mn-ea"/>
              </a:rPr>
              <a:t>22%</a:t>
            </a:r>
            <a:r>
              <a:rPr lang="zh-CN" altLang="en-US" sz="1600" dirty="0">
                <a:ln>
                  <a:noFill/>
                  <a:prstDash val="sysDot"/>
                </a:ln>
                <a:latin typeface="华文楷体" panose="02010600040101010101" charset="-122"/>
                <a:ea typeface="华文楷体" panose="02010600040101010101" charset="-122"/>
                <a:cs typeface="+mn-ea"/>
                <a:sym typeface="+mn-ea"/>
              </a:rPr>
              <a:t>），质量与上月</a:t>
            </a:r>
            <a:r>
              <a:rPr lang="zh-CN" altLang="en-US" sz="1600" dirty="0">
                <a:ln>
                  <a:noFill/>
                  <a:prstDash val="sysDot"/>
                </a:ln>
                <a:latin typeface="华文楷体" panose="02010600040101010101" charset="-122"/>
                <a:ea typeface="华文楷体" panose="02010600040101010101" charset="-122"/>
                <a:cs typeface="+mn-ea"/>
                <a:sym typeface="+mn-ea"/>
              </a:rPr>
              <a:t>持平</a:t>
            </a:r>
            <a:endParaRPr lang="zh-CN" altLang="en-US" sz="1600" dirty="0">
              <a:ln>
                <a:noFill/>
                <a:prstDash val="sysDot"/>
              </a:ln>
              <a:latin typeface="华文楷体" panose="02010600040101010101" charset="-122"/>
              <a:ea typeface="华文楷体" panose="02010600040101010101" charset="-122"/>
              <a:cs typeface="+mn-ea"/>
              <a:sym typeface="+mn-ea"/>
            </a:endParaRPr>
          </a:p>
          <a:p>
            <a:pPr algn="l" fontAlgn="ctr">
              <a:lnSpc>
                <a:spcPct val="150000"/>
              </a:lnSpc>
            </a:pPr>
            <a:r>
              <a:rPr lang="zh-CN" altLang="en-US" sz="1600" b="1" dirty="0">
                <a:ln>
                  <a:noFill/>
                  <a:prstDash val="sysDot"/>
                </a:ln>
                <a:latin typeface="华文楷体" panose="02010600040101010101" charset="-122"/>
                <a:ea typeface="华文楷体" panose="02010600040101010101" charset="-122"/>
                <a:cs typeface="+mn-ea"/>
                <a:sym typeface="+mn-ea"/>
              </a:rPr>
              <a:t>当前问题：</a:t>
            </a:r>
            <a:r>
              <a:rPr lang="zh-CN" altLang="en-US" sz="1600" dirty="0">
                <a:ln>
                  <a:noFill/>
                  <a:prstDash val="sysDot"/>
                </a:ln>
                <a:latin typeface="华文楷体" panose="02010600040101010101" charset="-122"/>
                <a:ea typeface="华文楷体" panose="02010600040101010101" charset="-122"/>
                <a:cs typeface="+mn-ea"/>
                <a:sym typeface="+mn-ea"/>
              </a:rPr>
              <a:t>当前规模较低、成本及</a:t>
            </a:r>
            <a:r>
              <a:rPr lang="zh-CN" altLang="en-US" sz="1600" dirty="0">
                <a:ln>
                  <a:noFill/>
                  <a:prstDash val="sysDot"/>
                </a:ln>
                <a:latin typeface="华文楷体" panose="02010600040101010101" charset="-122"/>
                <a:ea typeface="华文楷体" panose="02010600040101010101" charset="-122"/>
                <a:cs typeface="+mn-ea"/>
                <a:sym typeface="+mn-ea"/>
              </a:rPr>
              <a:t>质量波动较大</a:t>
            </a:r>
            <a:endParaRPr lang="zh-CN" altLang="en-US" sz="1600" dirty="0">
              <a:ln>
                <a:noFill/>
                <a:prstDash val="sysDot"/>
              </a:ln>
              <a:latin typeface="华文楷体" panose="02010600040101010101" charset="-122"/>
              <a:ea typeface="华文楷体" panose="02010600040101010101" charset="-122"/>
              <a:cs typeface="+mn-ea"/>
              <a:sym typeface="+mn-ea"/>
            </a:endParaRPr>
          </a:p>
          <a:p>
            <a:pPr algn="l" fontAlgn="ctr">
              <a:lnSpc>
                <a:spcPct val="150000"/>
              </a:lnSpc>
            </a:pPr>
            <a:r>
              <a:rPr lang="zh-CN" altLang="en-US" sz="1600" b="1" dirty="0">
                <a:ln>
                  <a:noFill/>
                  <a:prstDash val="sysDot"/>
                </a:ln>
                <a:latin typeface="华文楷体" panose="02010600040101010101" charset="-122"/>
                <a:ea typeface="华文楷体" panose="02010600040101010101" charset="-122"/>
                <a:cs typeface="+mn-ea"/>
                <a:sym typeface="+mn-ea"/>
              </a:rPr>
              <a:t>未来方向：</a:t>
            </a:r>
            <a:r>
              <a:rPr lang="zh-CN" altLang="en-US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短期适当放开排除、提升出价方式</a:t>
            </a:r>
            <a:r>
              <a:rPr lang="zh-CN" altLang="en-US" sz="1600" dirty="0">
                <a:ln>
                  <a:noFill/>
                  <a:prstDash val="sysDot"/>
                </a:ln>
                <a:latin typeface="华文楷体" panose="02010600040101010101" charset="-122"/>
                <a:ea typeface="华文楷体" panose="02010600040101010101" charset="-122"/>
                <a:cs typeface="+mn-ea"/>
                <a:sym typeface="+mn-ea"/>
              </a:rPr>
              <a:t>提升规模</a:t>
            </a:r>
            <a:endParaRPr lang="zh-CN" altLang="en-US" sz="1600" dirty="0">
              <a:ln>
                <a:noFill/>
                <a:prstDash val="sysDot"/>
              </a:ln>
              <a:latin typeface="华文楷体" panose="02010600040101010101" charset="-122"/>
              <a:ea typeface="华文楷体" panose="02010600040101010101" charset="-122"/>
              <a:cs typeface="+mn-ea"/>
              <a:sym typeface="+mn-ea"/>
            </a:endParaRPr>
          </a:p>
        </p:txBody>
      </p:sp>
      <p:graphicFrame>
        <p:nvGraphicFramePr>
          <p:cNvPr id="28" name="图表 27"/>
          <p:cNvGraphicFramePr/>
          <p:nvPr/>
        </p:nvGraphicFramePr>
        <p:xfrm>
          <a:off x="6103620" y="1999615"/>
          <a:ext cx="5779135" cy="42424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抖音转化—请求</a:t>
            </a:r>
            <a:r>
              <a:rPr lang="zh-CN" altLang="en-US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及参竞</a:t>
            </a:r>
            <a:endParaRPr lang="zh-CN" altLang="en-US" b="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冬青黑体简体中文 W6" panose="020B0300000000000000" charset="-122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194310" y="6379845"/>
            <a:ext cx="10005695" cy="275590"/>
          </a:xfrm>
          <a:prstGeom prst="rect">
            <a:avLst/>
          </a:prstGeom>
          <a:gradFill>
            <a:gsLst>
              <a:gs pos="0">
                <a:srgbClr val="E30000">
                  <a:alpha val="30000"/>
                </a:srgbClr>
              </a:gs>
              <a:gs pos="100000">
                <a:srgbClr val="760303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200">
              <a:solidFill>
                <a:schemeClr val="bg1"/>
              </a:solidFill>
              <a:latin typeface="华文楷体" panose="02010600040101010101" charset="-122"/>
              <a:ea typeface="华文楷体" panose="02010600040101010101" charset="-122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32435" y="891540"/>
            <a:ext cx="11052810" cy="33718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algn="l"/>
            <a:r>
              <a:rPr lang="zh-CN" altLang="en-US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请求量下降</a:t>
            </a:r>
            <a:r>
              <a:rPr lang="en-US" altLang="zh-CN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9%</a:t>
            </a:r>
            <a:r>
              <a:rPr lang="zh-CN" altLang="en-US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（主要为排除客群缓存时间长，因此请求记录数量下降）。参竞率相对</a:t>
            </a:r>
            <a:r>
              <a:rPr lang="zh-CN" altLang="en-US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稳定</a:t>
            </a:r>
            <a:endParaRPr lang="zh-CN" altLang="en-US"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冬青黑体简体中文 W6" panose="020B0300000000000000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32435" y="6379845"/>
            <a:ext cx="8394065" cy="27559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algn="l"/>
            <a:r>
              <a:rPr lang="zh-CN" altLang="en-US" sz="1200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备注：</a:t>
            </a:r>
            <a:r>
              <a:rPr lang="en-US" altLang="zh-CN" sz="1200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1</a:t>
            </a:r>
            <a:r>
              <a:rPr lang="zh-CN" altLang="en-US" sz="1200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）参竞率</a:t>
            </a:r>
            <a:r>
              <a:rPr lang="en-US" altLang="zh-CN" sz="1200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 = </a:t>
            </a:r>
            <a:r>
              <a:rPr lang="zh-CN" altLang="en-US" sz="1200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参加出价的设备数</a:t>
            </a:r>
            <a:r>
              <a:rPr lang="en-US" altLang="zh-CN" sz="1200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/</a:t>
            </a:r>
            <a:r>
              <a:rPr lang="zh-CN" altLang="en-US" sz="1200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总请求设备数，排除表示不参竞</a:t>
            </a:r>
            <a:r>
              <a:rPr lang="en-US" altLang="zh-CN" sz="1200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 </a:t>
            </a:r>
            <a:endParaRPr lang="zh-CN" altLang="en-US" sz="1200" dirty="0">
              <a:solidFill>
                <a:schemeClr val="bg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冬青黑体简体中文 W6" panose="020B0300000000000000" charset="-122"/>
            </a:endParaRPr>
          </a:p>
        </p:txBody>
      </p:sp>
      <p:graphicFrame>
        <p:nvGraphicFramePr>
          <p:cNvPr id="47" name="图表 46"/>
          <p:cNvGraphicFramePr/>
          <p:nvPr/>
        </p:nvGraphicFramePr>
        <p:xfrm>
          <a:off x="2285683" y="1684020"/>
          <a:ext cx="7181215" cy="42710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5429250" y="2168525"/>
            <a:ext cx="6096000" cy="30670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algn="l"/>
            <a:r>
              <a:rPr lang="en-US" altLang="zh-CN" sz="1400" b="1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1125 RTAV8迭代</a:t>
            </a:r>
            <a:r>
              <a:rPr lang="zh-CN" altLang="en-US" sz="1400" b="1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多</a:t>
            </a:r>
            <a:r>
              <a:rPr lang="en-US" altLang="zh-CN" sz="1400" b="1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排除7%交易</a:t>
            </a:r>
            <a:endParaRPr kumimoji="1" lang="en-US" altLang="zh-CN" sz="1400" b="1" dirty="0" smtClean="0">
              <a:solidFill>
                <a:srgbClr val="C0000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>
            <a:off x="6421120" y="2536825"/>
            <a:ext cx="107315" cy="42545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腾讯转化—竞得</a:t>
            </a:r>
            <a:r>
              <a:rPr lang="zh-CN" altLang="en-US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率</a:t>
            </a:r>
            <a:endParaRPr lang="zh-CN" altLang="en-US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冬青黑体简体中文 W6" panose="020B0300000000000000" charset="-122"/>
            </a:endParaRPr>
          </a:p>
        </p:txBody>
      </p:sp>
      <p:sp>
        <p:nvSpPr>
          <p:cNvPr id="6" name="矩形 5"/>
          <p:cNvSpPr/>
          <p:nvPr>
            <p:custDataLst>
              <p:tags r:id="rId3"/>
            </p:custDataLst>
          </p:nvPr>
        </p:nvSpPr>
        <p:spPr>
          <a:xfrm>
            <a:off x="194310" y="6379845"/>
            <a:ext cx="10005695" cy="275590"/>
          </a:xfrm>
          <a:prstGeom prst="rect">
            <a:avLst/>
          </a:prstGeom>
          <a:gradFill>
            <a:gsLst>
              <a:gs pos="0">
                <a:srgbClr val="E30000">
                  <a:alpha val="30000"/>
                </a:srgbClr>
              </a:gs>
              <a:gs pos="100000">
                <a:srgbClr val="760303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200">
              <a:solidFill>
                <a:schemeClr val="bg1"/>
              </a:solidFill>
              <a:latin typeface="华文楷体" panose="02010600040101010101" charset="-122"/>
              <a:ea typeface="华文楷体" panose="02010600040101010101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32435" y="740410"/>
            <a:ext cx="11061065" cy="46037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竞得率相对稳定；</a:t>
            </a:r>
            <a:r>
              <a:rPr lang="en-US" altLang="zh-CN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preA</a:t>
            </a:r>
            <a:r>
              <a:rPr lang="zh-CN" altLang="en-US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分组竞得率也</a:t>
            </a:r>
            <a:r>
              <a:rPr lang="zh-CN" altLang="en-US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相对</a:t>
            </a:r>
            <a:endParaRPr lang="zh-CN" altLang="en-US"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冬青黑体简体中文 W6" panose="020B0300000000000000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32435" y="6379845"/>
            <a:ext cx="8394065" cy="27559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algn="l"/>
            <a:r>
              <a:rPr lang="zh-CN" altLang="en-US" sz="1200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备注：竞得率</a:t>
            </a:r>
            <a:r>
              <a:rPr lang="en-US" altLang="zh-CN" sz="1200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 =  </a:t>
            </a:r>
            <a:r>
              <a:rPr lang="zh-CN" altLang="en-US" sz="1200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竞得的曝光设备数</a:t>
            </a:r>
            <a:r>
              <a:rPr lang="en-US" altLang="zh-CN" sz="1200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/</a:t>
            </a:r>
            <a:r>
              <a:rPr lang="zh-CN" altLang="en-US" sz="1200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参加竞价的设备</a:t>
            </a:r>
            <a:r>
              <a:rPr lang="zh-CN" altLang="en-US" sz="1200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数</a:t>
            </a:r>
            <a:endParaRPr lang="zh-CN" altLang="en-US" sz="1200" dirty="0">
              <a:solidFill>
                <a:schemeClr val="bg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冬青黑体简体中文 W6" panose="020B0300000000000000" charset="-122"/>
            </a:endParaRPr>
          </a:p>
        </p:txBody>
      </p:sp>
      <p:graphicFrame>
        <p:nvGraphicFramePr>
          <p:cNvPr id="51" name="图表 50"/>
          <p:cNvGraphicFramePr/>
          <p:nvPr/>
        </p:nvGraphicFramePr>
        <p:xfrm>
          <a:off x="432435" y="1959610"/>
          <a:ext cx="5486400" cy="34397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8" name="图表 7"/>
          <p:cNvGraphicFramePr/>
          <p:nvPr/>
        </p:nvGraphicFramePr>
        <p:xfrm>
          <a:off x="6090285" y="1959610"/>
          <a:ext cx="5669280" cy="34404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抖音转化—</a:t>
            </a:r>
            <a:r>
              <a:rPr lang="zh-CN" altLang="en-US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曝光</a:t>
            </a:r>
            <a:r>
              <a:rPr lang="zh-CN" altLang="en-US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至授信</a:t>
            </a:r>
            <a:endParaRPr lang="zh-CN" altLang="en-US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冬青黑体简体中文 W6" panose="020B0300000000000000" charset="-122"/>
            </a:endParaRPr>
          </a:p>
        </p:txBody>
      </p:sp>
      <p:sp>
        <p:nvSpPr>
          <p:cNvPr id="6" name="矩形 5"/>
          <p:cNvSpPr/>
          <p:nvPr>
            <p:custDataLst>
              <p:tags r:id="rId3"/>
            </p:custDataLst>
          </p:nvPr>
        </p:nvSpPr>
        <p:spPr>
          <a:xfrm>
            <a:off x="194310" y="6379845"/>
            <a:ext cx="10005695" cy="275590"/>
          </a:xfrm>
          <a:prstGeom prst="rect">
            <a:avLst/>
          </a:prstGeom>
          <a:gradFill>
            <a:gsLst>
              <a:gs pos="0">
                <a:srgbClr val="E30000">
                  <a:alpha val="30000"/>
                </a:srgbClr>
              </a:gs>
              <a:gs pos="100000">
                <a:srgbClr val="760303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200">
              <a:solidFill>
                <a:schemeClr val="bg1"/>
              </a:solidFill>
              <a:latin typeface="华文楷体" panose="02010600040101010101" charset="-122"/>
              <a:ea typeface="华文楷体" panose="02010600040101010101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32435" y="740410"/>
            <a:ext cx="11061065" cy="46037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端到端转化下降</a:t>
            </a:r>
            <a:r>
              <a:rPr lang="en-US" altLang="zh-CN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10%</a:t>
            </a:r>
            <a:r>
              <a:rPr lang="zh-CN" altLang="en-US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，具体下降环节为点击</a:t>
            </a:r>
            <a:r>
              <a:rPr lang="en-US" altLang="zh-CN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-</a:t>
            </a:r>
            <a:r>
              <a:rPr lang="zh-CN" altLang="en-US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授信转化下降</a:t>
            </a:r>
            <a:r>
              <a:rPr lang="en-US" altLang="zh-CN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10%</a:t>
            </a:r>
            <a:r>
              <a:rPr lang="zh-CN" altLang="en-US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（</a:t>
            </a:r>
            <a:r>
              <a:rPr lang="zh-CN" altLang="en-US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体现在前端转化下降，点击</a:t>
            </a:r>
            <a:r>
              <a:rPr lang="en-US" altLang="zh-CN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-</a:t>
            </a:r>
            <a:r>
              <a:rPr lang="zh-CN" altLang="en-US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申完</a:t>
            </a:r>
            <a:r>
              <a:rPr lang="en-US" altLang="zh-CN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)</a:t>
            </a:r>
            <a:endParaRPr lang="en-US" altLang="zh-CN"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冬青黑体简体中文 W6" panose="020B0300000000000000" charset="-122"/>
            </a:endParaRPr>
          </a:p>
        </p:txBody>
      </p:sp>
      <p:graphicFrame>
        <p:nvGraphicFramePr>
          <p:cNvPr id="48" name="图表 47"/>
          <p:cNvGraphicFramePr/>
          <p:nvPr/>
        </p:nvGraphicFramePr>
        <p:xfrm>
          <a:off x="6204585" y="1873885"/>
          <a:ext cx="5535295" cy="37204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49" name="图表 48"/>
          <p:cNvGraphicFramePr/>
          <p:nvPr/>
        </p:nvGraphicFramePr>
        <p:xfrm>
          <a:off x="309245" y="1870710"/>
          <a:ext cx="5535295" cy="37503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精准总览：</a:t>
            </a:r>
            <a:r>
              <a:rPr lang="zh-CN" altLang="en-US" b="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质量提升显著</a:t>
            </a:r>
            <a:r>
              <a:rPr lang="zh-CN" altLang="en-US" b="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风险表现有待</a:t>
            </a:r>
            <a:r>
              <a:rPr lang="zh-CN" altLang="en-US" b="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观测，成本仍需压降</a:t>
            </a:r>
            <a:endParaRPr lang="zh-CN" altLang="en-US" b="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冬青黑体简体中文 W6" panose="020B0300000000000000" charset="-122"/>
            </a:endParaRPr>
          </a:p>
        </p:txBody>
      </p:sp>
      <p:sp>
        <p:nvSpPr>
          <p:cNvPr id="6" name="矩形 5"/>
          <p:cNvSpPr/>
          <p:nvPr>
            <p:custDataLst>
              <p:tags r:id="rId3"/>
            </p:custDataLst>
          </p:nvPr>
        </p:nvSpPr>
        <p:spPr>
          <a:xfrm>
            <a:off x="194310" y="6379845"/>
            <a:ext cx="10005695" cy="275590"/>
          </a:xfrm>
          <a:prstGeom prst="rect">
            <a:avLst/>
          </a:prstGeom>
          <a:gradFill>
            <a:gsLst>
              <a:gs pos="0">
                <a:srgbClr val="E30000">
                  <a:alpha val="30000"/>
                </a:srgbClr>
              </a:gs>
              <a:gs pos="100000">
                <a:srgbClr val="760303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200">
              <a:solidFill>
                <a:schemeClr val="bg1"/>
              </a:solidFill>
              <a:latin typeface="华文楷体" panose="02010600040101010101" charset="-122"/>
              <a:ea typeface="华文楷体" panose="02010600040101010101" charset="-122"/>
              <a:sym typeface="+mn-ea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470535" y="2063750"/>
            <a:ext cx="5625662" cy="4161790"/>
            <a:chOff x="741" y="3250"/>
            <a:chExt cx="17728" cy="6554"/>
          </a:xfrm>
        </p:grpSpPr>
        <p:graphicFrame>
          <p:nvGraphicFramePr>
            <p:cNvPr id="4" name="图表 3"/>
            <p:cNvGraphicFramePr/>
            <p:nvPr/>
          </p:nvGraphicFramePr>
          <p:xfrm>
            <a:off x="741" y="3250"/>
            <a:ext cx="17009" cy="6554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"/>
            </a:graphicData>
          </a:graphic>
        </p:graphicFrame>
        <p:sp>
          <p:nvSpPr>
            <p:cNvPr id="5" name="文本框 4"/>
            <p:cNvSpPr txBox="1"/>
            <p:nvPr/>
          </p:nvSpPr>
          <p:spPr>
            <a:xfrm>
              <a:off x="11711" y="4724"/>
              <a:ext cx="4592" cy="725"/>
            </a:xfrm>
            <a:prstGeom prst="rect">
              <a:avLst/>
            </a:prstGeom>
            <a:noFill/>
          </p:spPr>
          <p:txBody>
            <a:bodyPr wrap="square" rtlCol="0" anchor="t" anchorCtr="0">
              <a:spAutoFit/>
            </a:bodyPr>
            <a:p>
              <a:pPr algn="ctr"/>
              <a:r>
                <a:rPr lang="en-US" altLang="zh-CN" sz="1200" b="1">
                  <a:solidFill>
                    <a:srgbClr val="C00000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1211降价10%</a:t>
              </a:r>
              <a:endParaRPr lang="en-US" altLang="zh-CN" sz="1200" b="1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endParaRPr>
            </a:p>
            <a:p>
              <a:pPr algn="ctr"/>
              <a:r>
                <a:rPr lang="en-US" altLang="zh-CN" sz="1200" b="1">
                  <a:solidFill>
                    <a:srgbClr val="C00000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1213 </a:t>
              </a:r>
              <a:r>
                <a:rPr lang="zh-CN" altLang="en-US" sz="1200" b="1">
                  <a:solidFill>
                    <a:srgbClr val="C00000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增加排除</a:t>
              </a:r>
              <a:r>
                <a:rPr lang="en-US" altLang="zh-CN" sz="1200" b="1">
                  <a:solidFill>
                    <a:srgbClr val="C00000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25%</a:t>
              </a:r>
              <a:endParaRPr kumimoji="1" lang="en-US" altLang="zh-CN" sz="1200" b="1" dirty="0" smtClean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endParaRPr>
            </a:p>
          </p:txBody>
        </p:sp>
        <p:cxnSp>
          <p:nvCxnSpPr>
            <p:cNvPr id="24" name="直接连接符 23"/>
            <p:cNvCxnSpPr/>
            <p:nvPr/>
          </p:nvCxnSpPr>
          <p:spPr>
            <a:xfrm>
              <a:off x="14093" y="5436"/>
              <a:ext cx="0" cy="1258"/>
            </a:xfrm>
            <a:prstGeom prst="line">
              <a:avLst/>
            </a:prstGeom>
            <a:ln w="6350" cap="flat" cmpd="sng" algn="ctr">
              <a:solidFill>
                <a:srgbClr val="C00000"/>
              </a:solidFill>
              <a:prstDash val="dash"/>
              <a:miter lim="800000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2" name="文本框 21"/>
            <p:cNvSpPr txBox="1"/>
            <p:nvPr/>
          </p:nvSpPr>
          <p:spPr>
            <a:xfrm>
              <a:off x="15389" y="4079"/>
              <a:ext cx="3080" cy="644"/>
            </a:xfrm>
            <a:prstGeom prst="rect">
              <a:avLst/>
            </a:prstGeom>
          </p:spPr>
          <p:txBody>
            <a:bodyPr vertOverflow="clip" horzOverflow="clip" wrap="square" rtlCol="0" anchor="t"/>
            <a:lstStyle>
              <a:defPPr>
                <a:defRPr lang="zh-CN"/>
              </a:defPPr>
              <a:lvl1pPr marL="0" algn="l" defTabSz="914400" rtl="0" eaLnBrk="1" latinLnBrk="0" hangingPunct="1">
                <a:defRPr sz="1100"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100"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100"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100"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100"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100"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100"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100"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200" b="1">
                  <a:solidFill>
                    <a:srgbClr val="C00000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rPr>
                <a:t>0121 降价15%</a:t>
              </a:r>
              <a:endParaRPr lang="en-US" altLang="zh-CN" sz="1200" b="1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endParaRPr>
            </a:p>
            <a:p>
              <a:pPr algn="ctr"/>
              <a:endParaRPr lang="en-US" altLang="zh-CN" sz="1200" b="1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endParaRPr>
            </a:p>
          </p:txBody>
        </p:sp>
        <p:cxnSp>
          <p:nvCxnSpPr>
            <p:cNvPr id="7" name="直接连接符 6"/>
            <p:cNvCxnSpPr/>
            <p:nvPr/>
          </p:nvCxnSpPr>
          <p:spPr>
            <a:xfrm>
              <a:off x="16304" y="4541"/>
              <a:ext cx="0" cy="1970"/>
            </a:xfrm>
            <a:prstGeom prst="line">
              <a:avLst/>
            </a:prstGeom>
            <a:ln w="6350" cap="flat" cmpd="sng" algn="ctr">
              <a:solidFill>
                <a:srgbClr val="C00000"/>
              </a:solidFill>
              <a:prstDash val="dash"/>
              <a:miter lim="800000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8" name="文本框 7"/>
            <p:cNvSpPr txBox="1"/>
            <p:nvPr/>
          </p:nvSpPr>
          <p:spPr>
            <a:xfrm>
              <a:off x="8283" y="4079"/>
              <a:ext cx="3428" cy="463"/>
            </a:xfrm>
            <a:prstGeom prst="rect">
              <a:avLst/>
            </a:prstGeom>
          </p:spPr>
          <p:txBody>
            <a:bodyPr vertOverflow="clip" horzOverflow="clip" wrap="square" rtlCol="0" anchor="t"/>
            <a:lstStyle>
              <a:defPPr>
                <a:defRPr lang="zh-CN"/>
              </a:defPPr>
              <a:lvl1pPr marL="0" algn="l" defTabSz="914400" rtl="0" eaLnBrk="1" latinLnBrk="0" hangingPunct="1">
                <a:defRPr sz="1100"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100"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100"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100"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100"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100"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100"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100"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200" b="1">
                  <a:solidFill>
                    <a:srgbClr val="C00000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1031降价15%</a:t>
              </a:r>
              <a:endParaRPr lang="en-US" altLang="zh-CN" sz="1200" b="1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endParaRPr>
            </a:p>
            <a:p>
              <a:pPr algn="ctr"/>
              <a:endParaRPr lang="en-US" altLang="zh-CN" sz="1200" b="1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endParaRPr>
            </a:p>
          </p:txBody>
        </p:sp>
        <p:cxnSp>
          <p:nvCxnSpPr>
            <p:cNvPr id="9" name="直接连接符 8"/>
            <p:cNvCxnSpPr/>
            <p:nvPr/>
          </p:nvCxnSpPr>
          <p:spPr>
            <a:xfrm>
              <a:off x="10185" y="4395"/>
              <a:ext cx="0" cy="929"/>
            </a:xfrm>
            <a:prstGeom prst="line">
              <a:avLst/>
            </a:prstGeom>
            <a:ln w="6350" cap="flat" cmpd="sng" algn="ctr">
              <a:solidFill>
                <a:srgbClr val="C00000"/>
              </a:solidFill>
              <a:prstDash val="dash"/>
              <a:miter lim="800000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11" name="文本框 10"/>
          <p:cNvSpPr txBox="1"/>
          <p:nvPr/>
        </p:nvSpPr>
        <p:spPr>
          <a:xfrm>
            <a:off x="470535" y="725170"/>
            <a:ext cx="11296650" cy="11988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algn="l" fontAlgn="ctr">
              <a:lnSpc>
                <a:spcPct val="150000"/>
              </a:lnSpc>
            </a:pPr>
            <a:r>
              <a:rPr lang="zh-CN" altLang="en-US" sz="1600" b="1" dirty="0">
                <a:ln>
                  <a:noFill/>
                  <a:prstDash val="sysDot"/>
                </a:ln>
                <a:latin typeface="华文楷体" panose="02010600040101010101" charset="-122"/>
                <a:ea typeface="华文楷体" panose="02010600040101010101" charset="-122"/>
                <a:cs typeface="+mn-ea"/>
                <a:sym typeface="+mn-ea"/>
              </a:rPr>
              <a:t>数据表现：</a:t>
            </a:r>
            <a:r>
              <a:rPr lang="zh-CN" altLang="en-US" sz="16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质量</a:t>
            </a:r>
            <a:r>
              <a:rPr lang="en-US" altLang="zh-CN" sz="16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10.5%</a:t>
            </a:r>
            <a:r>
              <a:rPr lang="zh-CN" altLang="en-US" sz="16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提升至</a:t>
            </a:r>
            <a:r>
              <a:rPr lang="en-US" altLang="zh-CN" sz="16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15.7%</a:t>
            </a:r>
            <a:r>
              <a:rPr lang="zh-CN" altLang="en-US" sz="160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，</a:t>
            </a:r>
            <a:r>
              <a:rPr lang="zh-CN" altLang="en-US" sz="16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近</a:t>
            </a:r>
            <a:r>
              <a:rPr lang="en-US" altLang="zh-CN" sz="16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2</a:t>
            </a:r>
            <a:r>
              <a:rPr lang="zh-CN" altLang="en-US" sz="16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周稳定</a:t>
            </a:r>
            <a:r>
              <a:rPr lang="en-US" altLang="zh-CN" sz="16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17%</a:t>
            </a:r>
            <a:r>
              <a:rPr lang="zh-CN" altLang="en-US" sz="16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；</a:t>
            </a:r>
            <a:r>
              <a:rPr lang="zh-CN" altLang="en-US" sz="16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成本</a:t>
            </a:r>
            <a:r>
              <a:rPr lang="en-US" altLang="zh-CN" sz="16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19.3%</a:t>
            </a:r>
            <a:r>
              <a:rPr lang="zh-CN" altLang="en-US" sz="16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基本持平</a:t>
            </a:r>
            <a:endParaRPr lang="zh-CN" altLang="en-US" sz="16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algn="l" fontAlgn="ctr">
              <a:lnSpc>
                <a:spcPct val="150000"/>
              </a:lnSpc>
            </a:pPr>
            <a:r>
              <a:rPr lang="zh-CN" altLang="en-US" sz="16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当前问题：</a:t>
            </a:r>
            <a:r>
              <a:rPr lang="zh-CN" altLang="en-US" sz="16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随质量提升，后端转化降低</a:t>
            </a:r>
            <a:r>
              <a:rPr lang="en-US" altLang="zh-CN" sz="16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CPS</a:t>
            </a:r>
            <a:r>
              <a:rPr lang="zh-CN" altLang="en-US" sz="16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相对较高</a:t>
            </a:r>
            <a:endParaRPr lang="zh-CN" altLang="en-US" sz="160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algn="l" fontAlgn="ctr">
              <a:lnSpc>
                <a:spcPct val="150000"/>
              </a:lnSpc>
            </a:pPr>
            <a:r>
              <a:rPr lang="zh-CN" altLang="en-US" sz="1600" b="1" dirty="0">
                <a:ln>
                  <a:noFill/>
                  <a:prstDash val="sysDot"/>
                </a:ln>
                <a:latin typeface="华文楷体" panose="02010600040101010101" charset="-122"/>
                <a:ea typeface="华文楷体" panose="02010600040101010101" charset="-122"/>
                <a:cs typeface="+mn-ea"/>
                <a:sym typeface="+mn-ea"/>
              </a:rPr>
              <a:t>未来方向：</a:t>
            </a:r>
            <a:r>
              <a:rPr lang="zh-CN" altLang="en-US" sz="1600">
                <a:latin typeface="华文楷体" panose="02010600040101010101" charset="-122"/>
                <a:ea typeface="华文楷体" panose="02010600040101010101" charset="-122"/>
                <a:sym typeface="+mn-ea"/>
              </a:rPr>
              <a:t>通过增加排除继续提升质量到</a:t>
            </a:r>
            <a:r>
              <a:rPr lang="en-US" altLang="zh-CN" sz="1600">
                <a:latin typeface="华文楷体" panose="02010600040101010101" charset="-122"/>
                <a:ea typeface="华文楷体" panose="02010600040101010101" charset="-122"/>
                <a:sym typeface="+mn-ea"/>
              </a:rPr>
              <a:t>20%</a:t>
            </a:r>
            <a:r>
              <a:rPr lang="zh-CN" altLang="en-US" sz="1600">
                <a:latin typeface="华文楷体" panose="02010600040101010101" charset="-122"/>
                <a:ea typeface="华文楷体" panose="02010600040101010101" charset="-122"/>
                <a:sym typeface="+mn-ea"/>
              </a:rPr>
              <a:t>；通过扣量、降价方式成本压降至</a:t>
            </a:r>
            <a:r>
              <a:rPr lang="en-US" altLang="zh-CN" sz="1600">
                <a:latin typeface="华文楷体" panose="02010600040101010101" charset="-122"/>
                <a:ea typeface="华文楷体" panose="02010600040101010101" charset="-122"/>
                <a:sym typeface="+mn-ea"/>
              </a:rPr>
              <a:t>15%</a:t>
            </a:r>
            <a:endParaRPr kumimoji="1" lang="zh-CN" altLang="en-US" sz="1600" dirty="0" smtClean="0">
              <a:ln>
                <a:noFill/>
                <a:prstDash val="sysDot"/>
              </a:ln>
              <a:latin typeface="华文楷体" panose="02010600040101010101" charset="-122"/>
              <a:ea typeface="华文楷体" panose="02010600040101010101" charset="-122"/>
              <a:cs typeface="+mn-ea"/>
              <a:sym typeface="+mn-ea"/>
            </a:endParaRPr>
          </a:p>
        </p:txBody>
      </p:sp>
      <p:graphicFrame>
        <p:nvGraphicFramePr>
          <p:cNvPr id="30" name="图表 29"/>
          <p:cNvGraphicFramePr/>
          <p:nvPr/>
        </p:nvGraphicFramePr>
        <p:xfrm>
          <a:off x="6369685" y="2063750"/>
          <a:ext cx="5397500" cy="40671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精准转化</a:t>
            </a:r>
            <a:r>
              <a:rPr lang="en-US" altLang="zh-CN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-</a:t>
            </a:r>
            <a:r>
              <a:rPr lang="zh-CN" altLang="en-US" b="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撞库</a:t>
            </a:r>
            <a:r>
              <a:rPr lang="zh-CN" altLang="en-US" b="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至可营销</a:t>
            </a:r>
            <a:endParaRPr lang="zh-CN" altLang="en-US" b="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冬青黑体简体中文 W6" panose="020B0300000000000000" charset="-122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194310" y="6379845"/>
            <a:ext cx="10005695" cy="275590"/>
          </a:xfrm>
          <a:prstGeom prst="rect">
            <a:avLst/>
          </a:prstGeom>
          <a:gradFill>
            <a:gsLst>
              <a:gs pos="0">
                <a:srgbClr val="E30000">
                  <a:alpha val="30000"/>
                </a:srgbClr>
              </a:gs>
              <a:gs pos="100000">
                <a:srgbClr val="760303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200">
              <a:solidFill>
                <a:schemeClr val="bg1"/>
              </a:solidFill>
              <a:latin typeface="华文楷体" panose="02010600040101010101" charset="-122"/>
              <a:ea typeface="华文楷体" panose="02010600040101010101" charset="-122"/>
              <a:sym typeface="+mn-ea"/>
            </a:endParaRPr>
          </a:p>
        </p:txBody>
      </p:sp>
      <p:graphicFrame>
        <p:nvGraphicFramePr>
          <p:cNvPr id="35" name="图表 34"/>
          <p:cNvGraphicFramePr/>
          <p:nvPr/>
        </p:nvGraphicFramePr>
        <p:xfrm>
          <a:off x="392430" y="1707515"/>
          <a:ext cx="11033760" cy="43097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544195" y="976630"/>
            <a:ext cx="8662670" cy="33718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algn="l"/>
            <a:r>
              <a:rPr lang="zh-CN" altLang="en-US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撞库量稳定，收紧</a:t>
            </a:r>
            <a:r>
              <a:rPr lang="en-US" altLang="zh-CN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RTA</a:t>
            </a:r>
            <a:r>
              <a:rPr lang="zh-CN" altLang="en-US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排除导致可营销率下降，符合业务</a:t>
            </a:r>
            <a:r>
              <a:rPr lang="zh-CN" altLang="en-US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预期</a:t>
            </a:r>
            <a:endParaRPr lang="zh-CN" altLang="en-US"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冬青黑体简体中文 W6" panose="020B0300000000000000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精准转化</a:t>
            </a:r>
            <a:r>
              <a:rPr lang="en-US" altLang="zh-CN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-</a:t>
            </a:r>
            <a:r>
              <a:rPr lang="zh-CN" altLang="en-US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可营销</a:t>
            </a:r>
            <a:r>
              <a:rPr lang="zh-CN" altLang="en-US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至授信</a:t>
            </a:r>
            <a:endParaRPr lang="zh-CN" altLang="en-US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冬青黑体简体中文 W6" panose="020B0300000000000000" charset="-122"/>
            </a:endParaRPr>
          </a:p>
        </p:txBody>
      </p:sp>
      <p:sp>
        <p:nvSpPr>
          <p:cNvPr id="6" name="矩形 5"/>
          <p:cNvSpPr/>
          <p:nvPr>
            <p:custDataLst>
              <p:tags r:id="rId3"/>
            </p:custDataLst>
          </p:nvPr>
        </p:nvSpPr>
        <p:spPr>
          <a:xfrm>
            <a:off x="194310" y="6379845"/>
            <a:ext cx="10005695" cy="275590"/>
          </a:xfrm>
          <a:prstGeom prst="rect">
            <a:avLst/>
          </a:prstGeom>
          <a:gradFill>
            <a:gsLst>
              <a:gs pos="0">
                <a:srgbClr val="E30000">
                  <a:alpha val="30000"/>
                </a:srgbClr>
              </a:gs>
              <a:gs pos="100000">
                <a:srgbClr val="760303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200">
              <a:solidFill>
                <a:schemeClr val="bg1"/>
              </a:solidFill>
              <a:latin typeface="华文楷体" panose="02010600040101010101" charset="-122"/>
              <a:ea typeface="华文楷体" panose="02010600040101010101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09245" y="893445"/>
            <a:ext cx="8662670" cy="33718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algn="l"/>
            <a:r>
              <a:rPr lang="zh-CN" altLang="en-US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端到端转化</a:t>
            </a:r>
            <a:r>
              <a:rPr lang="en-US" altLang="zh-CN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1</a:t>
            </a:r>
            <a:r>
              <a:rPr lang="zh-CN" altLang="en-US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月提升</a:t>
            </a:r>
            <a:r>
              <a:rPr lang="en-US" altLang="zh-CN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37%</a:t>
            </a:r>
            <a:r>
              <a:rPr lang="zh-CN" altLang="en-US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，主要为</a:t>
            </a:r>
            <a:r>
              <a:rPr lang="en-US" altLang="zh-CN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RTA</a:t>
            </a:r>
            <a:r>
              <a:rPr lang="zh-CN" altLang="en-US" sz="1600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收紧尾部，客群授信率提升</a:t>
            </a:r>
            <a:endParaRPr lang="zh-CN" altLang="en-US" sz="160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冬青黑体简体中文 W6" panose="020B0300000000000000" charset="-122"/>
            </a:endParaRPr>
          </a:p>
        </p:txBody>
      </p:sp>
      <p:graphicFrame>
        <p:nvGraphicFramePr>
          <p:cNvPr id="5" name="图表 4"/>
          <p:cNvGraphicFramePr/>
          <p:nvPr/>
        </p:nvGraphicFramePr>
        <p:xfrm>
          <a:off x="544195" y="1887220"/>
          <a:ext cx="5322570" cy="38360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7" name="图表 6"/>
          <p:cNvGraphicFramePr/>
          <p:nvPr/>
        </p:nvGraphicFramePr>
        <p:xfrm>
          <a:off x="6448425" y="1885950"/>
          <a:ext cx="5322570" cy="38373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latin typeface="华文楷体" panose="02010600040101010101" charset="-122"/>
                <a:ea typeface="华文楷体" panose="02010600040101010101" charset="-122"/>
              </a:rPr>
              <a:t>2</a:t>
            </a:r>
            <a:endParaRPr lang="en-US" altLang="zh-CN" dirty="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2" name="标题 1"/>
          <p:cNvSpPr>
            <a:spLocks noGrp="1"/>
          </p:cNvSpPr>
          <p:nvPr/>
        </p:nvSpPr>
        <p:spPr>
          <a:xfrm>
            <a:off x="851535" y="1647190"/>
            <a:ext cx="4769485" cy="346964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21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defRPr>
            </a:lvl1pPr>
          </a:lstStyle>
          <a:p>
            <a:pPr>
              <a:lnSpc>
                <a:spcPct val="130000"/>
              </a:lnSpc>
              <a:spcAft>
                <a:spcPts val="1200"/>
              </a:spcAft>
            </a:pPr>
            <a:br>
              <a:rPr kumimoji="1" lang="en-US" altLang="zh-CN" dirty="0">
                <a:solidFill>
                  <a:srgbClr val="004FF0"/>
                </a:solidFill>
                <a:latin typeface="华文楷体" panose="02010600040101010101" charset="-122"/>
                <a:ea typeface="华文楷体" panose="02010600040101010101" charset="-122"/>
              </a:rPr>
            </a:br>
            <a:r>
              <a:rPr kumimoji="1" lang="en-US" altLang="zh-CN" sz="28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</a:rPr>
              <a:t>1.业务</a:t>
            </a:r>
            <a:r>
              <a:rPr kumimoji="1" lang="en-US" altLang="zh-CN" sz="28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rPr>
              <a:t>指标</a:t>
            </a:r>
            <a:br>
              <a:rPr kumimoji="1" lang="en-US" altLang="zh-CN" sz="2800" dirty="0">
                <a:solidFill>
                  <a:srgbClr val="FFFFFF"/>
                </a:solidFill>
                <a:latin typeface="华文楷体" panose="02010600040101010101" charset="-122"/>
                <a:ea typeface="华文楷体" panose="02010600040101010101" charset="-122"/>
              </a:rPr>
            </a:br>
            <a:r>
              <a:rPr kumimoji="1" lang="en-US" altLang="zh-CN" sz="28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2.专题分析</a:t>
            </a:r>
            <a:br>
              <a:rPr kumimoji="1" lang="en-US" altLang="zh-CN" sz="2800" dirty="0">
                <a:solidFill>
                  <a:srgbClr val="FFFFFF"/>
                </a:solidFill>
                <a:latin typeface="华文楷体" panose="02010600040101010101" charset="-122"/>
                <a:ea typeface="华文楷体" panose="02010600040101010101" charset="-122"/>
              </a:rPr>
            </a:br>
            <a:r>
              <a:rPr kumimoji="1" lang="en-US" altLang="zh-CN" sz="2800" dirty="0">
                <a:solidFill>
                  <a:srgbClr val="FFFFFF"/>
                </a:solidFill>
                <a:latin typeface="华文楷体" panose="02010600040101010101" charset="-122"/>
                <a:ea typeface="华文楷体" panose="02010600040101010101" charset="-122"/>
              </a:rPr>
              <a:t>3.</a:t>
            </a:r>
            <a:r>
              <a:rPr kumimoji="1" lang="zh-CN" altLang="en-US" sz="2800" dirty="0">
                <a:solidFill>
                  <a:srgbClr val="FFFFFF"/>
                </a:solidFill>
                <a:latin typeface="华文楷体" panose="02010600040101010101" charset="-122"/>
                <a:ea typeface="华文楷体" panose="02010600040101010101" charset="-122"/>
              </a:rPr>
              <a:t>获客模型</a:t>
            </a:r>
            <a:br>
              <a:rPr kumimoji="1" lang="zh-CN" altLang="en-US" sz="2800" dirty="0">
                <a:solidFill>
                  <a:schemeClr val="bg2"/>
                </a:solidFill>
                <a:latin typeface="华文楷体" panose="02010600040101010101" charset="-122"/>
                <a:ea typeface="华文楷体" panose="02010600040101010101" charset="-122"/>
              </a:rPr>
            </a:br>
            <a:endParaRPr kumimoji="1" lang="zh-CN" altLang="en-US" sz="2800" dirty="0">
              <a:solidFill>
                <a:schemeClr val="bg2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目录</a:t>
            </a:r>
            <a:endParaRPr lang="zh-CN" altLang="en-US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冬青黑体简体中文 W6" panose="020B0300000000000000" charset="-122"/>
            </a:endParaRPr>
          </a:p>
        </p:txBody>
      </p:sp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194310" y="6379845"/>
            <a:ext cx="10005695" cy="275590"/>
          </a:xfrm>
          <a:prstGeom prst="rect">
            <a:avLst/>
          </a:prstGeom>
          <a:gradFill>
            <a:gsLst>
              <a:gs pos="0">
                <a:srgbClr val="E30000">
                  <a:alpha val="30000"/>
                </a:srgbClr>
              </a:gs>
              <a:gs pos="100000">
                <a:srgbClr val="760303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200">
              <a:solidFill>
                <a:schemeClr val="bg1"/>
              </a:solidFill>
              <a:latin typeface="华文楷体" panose="02010600040101010101" charset="-122"/>
              <a:ea typeface="华文楷体" panose="02010600040101010101" charset="-122"/>
              <a:sym typeface="+mn-ea"/>
            </a:endParaRPr>
          </a:p>
        </p:txBody>
      </p:sp>
      <p:sp>
        <p:nvSpPr>
          <p:cNvPr id="5" name="标题 1"/>
          <p:cNvSpPr>
            <a:spLocks noGrp="1"/>
          </p:cNvSpPr>
          <p:nvPr/>
        </p:nvSpPr>
        <p:spPr>
          <a:xfrm>
            <a:off x="435610" y="1365885"/>
            <a:ext cx="11574145" cy="3256915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b="1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Source Han Sans CN Bold" panose="020B0600000000000000" pitchFamily="34" charset="-128"/>
                <a:ea typeface="Source Han Sans CN Bold" panose="020B0600000000000000" pitchFamily="34" charset="-128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b="0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冬青黑体简体中文 W6" panose="020B0300000000000000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专题：</a:t>
            </a:r>
            <a:r>
              <a:rPr lang="en-US" altLang="zh-CN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24</a:t>
            </a:r>
            <a:r>
              <a:rPr lang="zh-CN" altLang="en-US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冬青黑体简体中文 W6" panose="020B0300000000000000" charset="-122"/>
              </a:rPr>
              <a:t>迭代专项</a:t>
            </a:r>
            <a:endParaRPr lang="zh-CN" altLang="en-US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冬青黑体简体中文 W6" panose="020B0300000000000000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>
            <p:custDataLst>
              <p:tags r:id="rId1"/>
            </p:custDataLst>
          </p:nvPr>
        </p:nvSpPr>
        <p:spPr>
          <a:xfrm>
            <a:off x="194310" y="6212840"/>
            <a:ext cx="10005695" cy="275590"/>
          </a:xfrm>
          <a:prstGeom prst="rect">
            <a:avLst/>
          </a:prstGeom>
          <a:gradFill>
            <a:gsLst>
              <a:gs pos="0">
                <a:srgbClr val="E30000">
                  <a:alpha val="30000"/>
                </a:srgbClr>
              </a:gs>
              <a:gs pos="100000">
                <a:srgbClr val="760303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 fontAlgn="ctr">
              <a:lnSpc>
                <a:spcPct val="150000"/>
              </a:lnSpc>
            </a:pPr>
            <a:r>
              <a:rPr lang="zh-CN" altLang="en-US" sz="120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备注：效果表现中变化幅度，</a:t>
            </a:r>
            <a:r>
              <a:rPr lang="zh-CN" altLang="en-US" sz="120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均为相对值</a:t>
            </a:r>
            <a:endParaRPr lang="zh-CN" altLang="en-US" sz="1200">
              <a:solidFill>
                <a:schemeClr val="bg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24" name="标题 18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401955" y="162560"/>
            <a:ext cx="11336020" cy="56134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楷体" panose="02010609060101010101" pitchFamily="49" charset="-122"/>
                <a:ea typeface="楷体" panose="02010609060101010101" pitchFamily="49" charset="-122"/>
                <a:cs typeface="+mj-cs"/>
              </a:defRPr>
            </a:lvl1pPr>
          </a:lstStyle>
          <a:p>
            <a:r>
              <a:rPr lang="zh-CN" altLang="en-US" sz="21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一</a:t>
            </a:r>
            <a:r>
              <a:rPr lang="en-US" altLang="zh-CN" sz="21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.</a:t>
            </a:r>
            <a:r>
              <a:rPr lang="zh-CN" altLang="en-US" sz="21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腾讯迭代总览—动作</a:t>
            </a:r>
            <a:r>
              <a:rPr lang="zh-CN" altLang="en-US" sz="21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概述：</a:t>
            </a:r>
            <a:r>
              <a:rPr lang="zh-CN" altLang="en-US" sz="2100" b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完成从“规模优先”向</a:t>
            </a:r>
            <a:r>
              <a:rPr lang="en-US" altLang="zh-CN" sz="2100" b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“</a:t>
            </a:r>
            <a:r>
              <a:rPr lang="zh-CN" altLang="en-US" sz="2100" b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质量优先</a:t>
            </a:r>
            <a:r>
              <a:rPr lang="en-US" altLang="zh-CN" sz="2100" b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”</a:t>
            </a:r>
            <a:r>
              <a:rPr lang="zh-CN" altLang="en-US" sz="2100" b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的</a:t>
            </a:r>
            <a:r>
              <a:rPr lang="zh-CN" altLang="en-US" sz="2100" b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切换</a:t>
            </a:r>
            <a:endParaRPr lang="zh-CN" altLang="en-US" sz="2100" b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graphicFrame>
        <p:nvGraphicFramePr>
          <p:cNvPr id="91" name="表格 90"/>
          <p:cNvGraphicFramePr/>
          <p:nvPr>
            <p:custDataLst>
              <p:tags r:id="rId3"/>
            </p:custDataLst>
          </p:nvPr>
        </p:nvGraphicFramePr>
        <p:xfrm>
          <a:off x="637540" y="1002030"/>
          <a:ext cx="10701020" cy="4923790"/>
        </p:xfrm>
        <a:graphic>
          <a:graphicData uri="http://schemas.openxmlformats.org/drawingml/2006/table">
            <a:tbl>
              <a:tblPr/>
              <a:tblGrid>
                <a:gridCol w="895985"/>
                <a:gridCol w="1961007"/>
                <a:gridCol w="1961007"/>
                <a:gridCol w="1961007"/>
                <a:gridCol w="1961007"/>
                <a:gridCol w="1961007"/>
              </a:tblGrid>
              <a:tr h="748665"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动作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1117</a:t>
                      </a:r>
                      <a:br>
                        <a:rPr lang="en-US" altLang="zh-CN" sz="14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</a:br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RTAV8</a:t>
                      </a:r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加排</a:t>
                      </a:r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10%</a:t>
                      </a:r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交易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1" i="0">
                          <a:solidFill>
                            <a:srgbClr val="C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1226</a:t>
                      </a:r>
                      <a:br>
                        <a:rPr lang="en-US" altLang="zh-CN" sz="1400" b="1" i="0">
                          <a:solidFill>
                            <a:srgbClr val="C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</a:br>
                      <a:r>
                        <a:rPr lang="en-US" altLang="zh-CN" sz="1400" b="1" i="0">
                          <a:solidFill>
                            <a:srgbClr val="C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RTA</a:t>
                      </a:r>
                      <a:r>
                        <a:rPr lang="zh-CN" altLang="en-US" sz="1400" b="1" i="0">
                          <a:solidFill>
                            <a:srgbClr val="C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对照组加排</a:t>
                      </a:r>
                      <a:endParaRPr lang="zh-CN" altLang="en-US" sz="1400" b="1" i="0">
                        <a:solidFill>
                          <a:srgbClr val="C00000"/>
                        </a:solidFill>
                        <a:latin typeface="华文楷体" panose="02010600040101010101" charset="-122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1" i="0">
                          <a:solidFill>
                            <a:srgbClr val="C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0109</a:t>
                      </a:r>
                      <a:br>
                        <a:rPr lang="en-US" altLang="zh-CN" sz="1400" b="1" i="0">
                          <a:solidFill>
                            <a:srgbClr val="C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</a:br>
                      <a:r>
                        <a:rPr lang="zh-CN" altLang="en-US" sz="1400" b="1" i="0">
                          <a:solidFill>
                            <a:srgbClr val="C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出价质量加权</a:t>
                      </a:r>
                      <a:endParaRPr lang="zh-CN" altLang="en-US" sz="1400" b="1" i="0">
                        <a:solidFill>
                          <a:srgbClr val="C00000"/>
                        </a:solidFill>
                        <a:latin typeface="华文楷体" panose="02010600040101010101" charset="-122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0113</a:t>
                      </a:r>
                      <a:br>
                        <a:rPr lang="en-US" altLang="zh-CN" sz="14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</a:br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 </a:t>
                      </a:r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收回传</a:t>
                      </a:r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20%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1" i="0">
                          <a:solidFill>
                            <a:srgbClr val="C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0119</a:t>
                      </a:r>
                      <a:br>
                        <a:rPr lang="en-US" altLang="zh-CN" sz="1400" b="1" i="0">
                          <a:solidFill>
                            <a:srgbClr val="C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</a:br>
                      <a:r>
                        <a:rPr lang="en-US" altLang="zh-CN" sz="1400" b="1" i="0">
                          <a:solidFill>
                            <a:srgbClr val="C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 RTAV9</a:t>
                      </a:r>
                      <a:r>
                        <a:rPr lang="zh-CN" altLang="en-US" sz="1400" b="1" i="0">
                          <a:solidFill>
                            <a:srgbClr val="C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迭代</a:t>
                      </a:r>
                      <a:endParaRPr lang="zh-CN" altLang="en-US" sz="1400" b="1" i="0">
                        <a:solidFill>
                          <a:srgbClr val="C00000"/>
                        </a:solidFill>
                        <a:latin typeface="华文楷体" panose="02010600040101010101" charset="-122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430655"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调整逻辑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Q2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放开部分过件率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7-10%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客群放规模，当前以质量优先因此增加排除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排未排客群过件率稳定低，且申完占大盘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8%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，影响大盘质量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转化出价会高价拿一些质量中等转化好的量，当前以质量优先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腾讯当前回传比例相比抖音仍然偏高，部分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4-5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客户仍在回传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模型排序提升，</a:t>
                      </a:r>
                      <a:br>
                        <a:rPr lang="zh-CN" altLang="en-US" sz="14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</a:b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进行常规迭代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031240"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动作简介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将排除边界由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7%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调整至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10%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将对照组增加排除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将转化加权调整为质量加权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按评级收紧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4-5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模型迭代</a:t>
                      </a:r>
                      <a:br>
                        <a:rPr lang="zh-CN" altLang="en-US" sz="14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</a:b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排除比例增加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10%</a:t>
                      </a:r>
                      <a:br>
                        <a:rPr lang="en-US" altLang="zh-CN" sz="14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</a:b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质量加权出价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713230"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上线效果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sz="1400" b="0" i="0">
                          <a:solidFill>
                            <a:schemeClr val="tx1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符合预期</a:t>
                      </a:r>
                      <a:endParaRPr lang="zh-CN" altLang="en-US" sz="1400" b="0" i="0">
                        <a:solidFill>
                          <a:schemeClr val="tx1"/>
                        </a:solidFill>
                        <a:latin typeface="华文楷体" panose="02010600040101010101" charset="-122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sz="1400" b="0" i="0">
                          <a:solidFill>
                            <a:schemeClr val="tx1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质量相比上版本提升</a:t>
                      </a:r>
                      <a:r>
                        <a:rPr lang="en-US" altLang="zh-CN" sz="1400" b="0" i="0">
                          <a:solidFill>
                            <a:schemeClr val="tx1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5%</a:t>
                      </a:r>
                      <a:endParaRPr lang="zh-CN" altLang="en-US" sz="1400" b="0" i="0">
                        <a:solidFill>
                          <a:schemeClr val="tx1"/>
                        </a:solidFill>
                        <a:latin typeface="华文楷体" panose="02010600040101010101" charset="-122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符合预期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质量前后对比提升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4%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符合预期</a:t>
                      </a:r>
                      <a:br>
                        <a:rPr lang="zh-CN" altLang="en-US" sz="14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</a:b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质量提升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+16%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，成本上升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+21%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待回收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lnSpc>
                          <a:spcPct val="150000"/>
                        </a:lnSpc>
                      </a:pPr>
                      <a:endParaRPr lang="zh-CN" altLang="en-US" sz="1400" b="0" i="0">
                        <a:solidFill>
                          <a:srgbClr val="FF0000"/>
                        </a:solidFill>
                        <a:latin typeface="华文楷体" panose="02010600040101010101" charset="-122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2" name="直接箭头连接符 1"/>
          <p:cNvCxnSpPr/>
          <p:nvPr/>
        </p:nvCxnSpPr>
        <p:spPr>
          <a:xfrm>
            <a:off x="848995" y="1783715"/>
            <a:ext cx="10440670" cy="75565"/>
          </a:xfrm>
          <a:prstGeom prst="straightConnector1">
            <a:avLst/>
          </a:prstGeom>
          <a:ln w="25400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图表 3"/>
          <p:cNvGraphicFramePr/>
          <p:nvPr/>
        </p:nvGraphicFramePr>
        <p:xfrm>
          <a:off x="914400" y="1560830"/>
          <a:ext cx="10006330" cy="451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" name="标题 18"/>
          <p:cNvSpPr>
            <a:spLocks noGrp="1"/>
          </p:cNvSpPr>
          <p:nvPr/>
        </p:nvSpPr>
        <p:spPr>
          <a:xfrm>
            <a:off x="401955" y="162560"/>
            <a:ext cx="11550015" cy="56134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楷体" panose="02010609060101010101" pitchFamily="49" charset="-122"/>
                <a:ea typeface="楷体" panose="02010609060101010101" pitchFamily="49" charset="-122"/>
                <a:cs typeface="+mj-cs"/>
              </a:defRPr>
            </a:lvl1pPr>
          </a:lstStyle>
          <a:p>
            <a:r>
              <a:rPr lang="zh-CN" altLang="en-US" sz="21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一</a:t>
            </a:r>
            <a:r>
              <a:rPr lang="en-US" altLang="zh-CN" sz="21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.</a:t>
            </a:r>
            <a:r>
              <a:rPr lang="zh-CN" altLang="en-US" sz="21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腾讯迭代总览—结果表现：</a:t>
            </a:r>
            <a:r>
              <a:rPr lang="zh-CN" altLang="en-US" sz="2100" b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质量优化至</a:t>
            </a:r>
            <a:r>
              <a:rPr lang="en-US" altLang="zh-CN" sz="2100" b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27%</a:t>
            </a:r>
            <a:r>
              <a:rPr lang="zh-CN" altLang="en-US" sz="2100" b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，成本维持</a:t>
            </a:r>
            <a:r>
              <a:rPr lang="en-US" altLang="zh-CN" sz="2100" b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25%</a:t>
            </a:r>
            <a:r>
              <a:rPr lang="zh-CN" altLang="en-US" sz="2100" b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低位</a:t>
            </a:r>
            <a:endParaRPr lang="zh-CN" altLang="en-US" sz="2100" b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20" name="矩形 19"/>
          <p:cNvSpPr/>
          <p:nvPr>
            <p:custDataLst>
              <p:tags r:id="rId2"/>
            </p:custDataLst>
          </p:nvPr>
        </p:nvSpPr>
        <p:spPr>
          <a:xfrm>
            <a:off x="194310" y="6379845"/>
            <a:ext cx="10005695" cy="275590"/>
          </a:xfrm>
          <a:prstGeom prst="rect">
            <a:avLst/>
          </a:prstGeom>
          <a:gradFill>
            <a:gsLst>
              <a:gs pos="0">
                <a:srgbClr val="E30000">
                  <a:alpha val="30000"/>
                </a:srgbClr>
              </a:gs>
              <a:gs pos="100000">
                <a:srgbClr val="760303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endParaRPr lang="zh-CN" altLang="en-US" sz="1200">
              <a:solidFill>
                <a:schemeClr val="bg1"/>
              </a:solidFill>
              <a:latin typeface="华文楷体" panose="02010600040101010101" charset="-122"/>
              <a:ea typeface="华文楷体" panose="02010600040101010101" charset="-122"/>
              <a:sym typeface="+mn-ea"/>
            </a:endParaRPr>
          </a:p>
        </p:txBody>
      </p:sp>
      <p:cxnSp>
        <p:nvCxnSpPr>
          <p:cNvPr id="21" name="直接连接符 20"/>
          <p:cNvCxnSpPr/>
          <p:nvPr/>
        </p:nvCxnSpPr>
        <p:spPr>
          <a:xfrm>
            <a:off x="9116060" y="2816860"/>
            <a:ext cx="0" cy="1243965"/>
          </a:xfrm>
          <a:prstGeom prst="line">
            <a:avLst/>
          </a:prstGeom>
          <a:ln w="6350" cap="flat" cmpd="sng" algn="ctr">
            <a:solidFill>
              <a:srgbClr val="C00000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9671685" y="2527935"/>
            <a:ext cx="0" cy="288925"/>
          </a:xfrm>
          <a:prstGeom prst="line">
            <a:avLst/>
          </a:prstGeom>
          <a:ln w="6350" cap="flat" cmpd="sng" algn="ctr">
            <a:solidFill>
              <a:srgbClr val="C00000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7703820" y="2858770"/>
            <a:ext cx="0" cy="1341120"/>
          </a:xfrm>
          <a:prstGeom prst="line">
            <a:avLst/>
          </a:prstGeom>
          <a:ln w="6350" cap="flat" cmpd="sng" algn="ctr">
            <a:solidFill>
              <a:srgbClr val="C00000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4657725" y="2552065"/>
            <a:ext cx="0" cy="1160780"/>
          </a:xfrm>
          <a:prstGeom prst="line">
            <a:avLst/>
          </a:prstGeom>
          <a:ln w="6350" cap="flat" cmpd="sng" algn="ctr">
            <a:solidFill>
              <a:srgbClr val="C00000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9481185" y="1941830"/>
            <a:ext cx="1637665" cy="30670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algn="l"/>
            <a:r>
              <a:rPr kumimoji="1" lang="en-US" altLang="zh-CN" sz="1400" b="1" dirty="0" smtClean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0119 RTAV9</a:t>
            </a:r>
            <a:r>
              <a:rPr kumimoji="1" lang="zh-CN" altLang="en-US" sz="1400" b="1" dirty="0" smtClean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迭代</a:t>
            </a:r>
            <a:endParaRPr kumimoji="1" lang="zh-CN" altLang="en-US" sz="1400" b="1" dirty="0" smtClean="0">
              <a:solidFill>
                <a:srgbClr val="C0000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8297545" y="2552065"/>
            <a:ext cx="1637665" cy="30670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algn="l"/>
            <a:r>
              <a:rPr kumimoji="1" lang="en-US" altLang="zh-CN" sz="1400" b="1" dirty="0" smtClean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0113 </a:t>
            </a:r>
            <a:r>
              <a:rPr kumimoji="1" lang="zh-CN" altLang="en-US" sz="1400" b="1" dirty="0" smtClean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收回传</a:t>
            </a:r>
            <a:r>
              <a:rPr kumimoji="1" lang="en-US" altLang="zh-CN" sz="1400" b="1" dirty="0" smtClean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20%</a:t>
            </a:r>
            <a:endParaRPr kumimoji="1" lang="en-US" altLang="zh-CN" sz="1400" b="1" dirty="0" smtClean="0">
              <a:solidFill>
                <a:srgbClr val="C0000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659880" y="2552065"/>
            <a:ext cx="1637665" cy="30670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algn="l"/>
            <a:r>
              <a:rPr kumimoji="1" lang="en-US" altLang="zh-CN" sz="1400" b="1" dirty="0" smtClean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1226 </a:t>
            </a:r>
            <a:r>
              <a:rPr kumimoji="1" lang="zh-CN" altLang="en-US" sz="1400" b="1" dirty="0" smtClean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对照组加</a:t>
            </a:r>
            <a:r>
              <a:rPr kumimoji="1" lang="zh-CN" altLang="en-US" sz="1400" b="1" dirty="0" smtClean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排</a:t>
            </a:r>
            <a:endParaRPr kumimoji="1" lang="zh-CN" altLang="en-US" sz="1400" b="1" dirty="0" smtClean="0">
              <a:solidFill>
                <a:srgbClr val="C0000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3925570" y="1941830"/>
            <a:ext cx="2059305" cy="30670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algn="l"/>
            <a:r>
              <a:rPr kumimoji="1" lang="en-US" altLang="zh-CN" sz="1400" b="1" dirty="0" smtClean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1117 RTAV8</a:t>
            </a:r>
            <a:r>
              <a:rPr kumimoji="1" lang="zh-CN" altLang="en-US" sz="1400" b="1" dirty="0" smtClean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加排</a:t>
            </a:r>
            <a:r>
              <a:rPr kumimoji="1" lang="en-US" altLang="zh-CN" sz="1400" b="1" dirty="0" smtClean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10%</a:t>
            </a:r>
            <a:endParaRPr kumimoji="1" lang="en-US" altLang="zh-CN" sz="1400" b="1" dirty="0" smtClean="0">
              <a:solidFill>
                <a:srgbClr val="C0000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401955" y="890270"/>
            <a:ext cx="11215370" cy="36830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algn="l"/>
            <a:r>
              <a:rPr lang="zh-CN" altLang="en-US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动作调整前后，大盘质量</a:t>
            </a:r>
            <a:r>
              <a:rPr lang="zh-CN" altLang="en-US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变化基本符合预期。有部分无动作节点质量</a:t>
            </a:r>
            <a:r>
              <a:rPr lang="zh-CN" altLang="en-US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下降</a:t>
            </a:r>
            <a:endParaRPr lang="zh-CN" altLang="en-US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cxnSp>
        <p:nvCxnSpPr>
          <p:cNvPr id="30" name="直接连接符 29"/>
          <p:cNvCxnSpPr/>
          <p:nvPr/>
        </p:nvCxnSpPr>
        <p:spPr>
          <a:xfrm>
            <a:off x="8814435" y="2301240"/>
            <a:ext cx="0" cy="1898650"/>
          </a:xfrm>
          <a:prstGeom prst="line">
            <a:avLst/>
          </a:prstGeom>
          <a:ln w="6350" cap="flat" cmpd="sng" algn="ctr">
            <a:solidFill>
              <a:srgbClr val="C00000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7843520" y="1941830"/>
            <a:ext cx="1637665" cy="30670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algn="l"/>
            <a:r>
              <a:rPr kumimoji="1" lang="en-US" altLang="zh-CN" sz="1400" b="1" dirty="0" smtClean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0109</a:t>
            </a:r>
            <a:r>
              <a:rPr kumimoji="1" lang="zh-CN" altLang="en-US" sz="1400" b="1" dirty="0" smtClean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出价质量</a:t>
            </a:r>
            <a:r>
              <a:rPr kumimoji="1" lang="zh-CN" altLang="en-US" sz="1400" b="1" dirty="0" smtClean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加权</a:t>
            </a:r>
            <a:endParaRPr kumimoji="1" lang="zh-CN" altLang="en-US" sz="1400" b="1" dirty="0" smtClean="0">
              <a:solidFill>
                <a:srgbClr val="C0000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>
            <p:custDataLst>
              <p:tags r:id="rId3"/>
            </p:custDataLst>
          </p:nvPr>
        </p:nvSpPr>
        <p:spPr>
          <a:xfrm>
            <a:off x="194310" y="6379845"/>
            <a:ext cx="10005695" cy="275590"/>
          </a:xfrm>
          <a:prstGeom prst="rect">
            <a:avLst/>
          </a:prstGeom>
          <a:gradFill>
            <a:gsLst>
              <a:gs pos="0">
                <a:srgbClr val="E30000">
                  <a:alpha val="30000"/>
                </a:srgbClr>
              </a:gs>
              <a:gs pos="100000">
                <a:srgbClr val="760303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endParaRPr lang="zh-CN" altLang="en-US" sz="1200">
              <a:solidFill>
                <a:schemeClr val="bg1"/>
              </a:solidFill>
              <a:latin typeface="华文楷体" panose="02010600040101010101" charset="-122"/>
              <a:ea typeface="华文楷体" panose="02010600040101010101" charset="-122"/>
              <a:sym typeface="+mn-ea"/>
            </a:endParaRPr>
          </a:p>
        </p:txBody>
      </p:sp>
      <p:sp>
        <p:nvSpPr>
          <p:cNvPr id="24" name="标题 18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401955" y="162560"/>
            <a:ext cx="11336020" cy="56134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楷体" panose="02010609060101010101" pitchFamily="49" charset="-122"/>
                <a:ea typeface="楷体" panose="02010609060101010101" pitchFamily="49" charset="-122"/>
                <a:cs typeface="+mj-cs"/>
              </a:defRPr>
            </a:lvl1pPr>
          </a:lstStyle>
          <a:p>
            <a:r>
              <a:rPr lang="zh-CN" altLang="en-US" sz="21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二</a:t>
            </a:r>
            <a:r>
              <a:rPr lang="en-US" altLang="zh-CN" sz="21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.RTA</a:t>
            </a:r>
            <a:r>
              <a:rPr lang="zh-CN" altLang="en-US" sz="21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对照组加排</a:t>
            </a:r>
            <a:r>
              <a:rPr lang="en-US" altLang="zh-CN" sz="21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:</a:t>
            </a:r>
            <a:r>
              <a:rPr lang="zh-CN" altLang="en-US" sz="2100" b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对照组尾部质量低、申完量大，影响大盘整体</a:t>
            </a:r>
            <a:r>
              <a:rPr lang="zh-CN" altLang="en-US" sz="2100" b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质量</a:t>
            </a:r>
            <a:endParaRPr lang="zh-CN" altLang="en-US" sz="2100" b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01955" y="723900"/>
            <a:ext cx="11191240" cy="92202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algn="l">
              <a:lnSpc>
                <a:spcPct val="150000"/>
              </a:lnSpc>
            </a:pPr>
            <a:r>
              <a:rPr kumimoji="1" lang="zh-CN" altLang="en-US" dirty="0" smtClean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历史为验证</a:t>
            </a:r>
            <a:r>
              <a:rPr kumimoji="1" lang="en-US" altLang="zh-CN" dirty="0" smtClean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RTA</a:t>
            </a:r>
            <a:r>
              <a:rPr kumimoji="1" lang="zh-CN" altLang="en-US" dirty="0" smtClean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效果，保留</a:t>
            </a:r>
            <a:r>
              <a:rPr kumimoji="1" lang="en-US" altLang="zh-CN" dirty="0" smtClean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20%</a:t>
            </a:r>
            <a:r>
              <a:rPr kumimoji="1" lang="zh-CN" altLang="en-US" dirty="0" smtClean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灰度对照组。应排未排客群过件率稳定低，且申完占比达</a:t>
            </a:r>
            <a:r>
              <a:rPr kumimoji="1" lang="en-US" altLang="zh-CN" dirty="0" smtClean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40%</a:t>
            </a:r>
            <a:r>
              <a:rPr kumimoji="1" lang="zh-CN" altLang="en-US" dirty="0" smtClean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（全渠道</a:t>
            </a:r>
            <a:r>
              <a:rPr kumimoji="1" lang="en-US" altLang="zh-CN" dirty="0" smtClean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8%</a:t>
            </a:r>
            <a:r>
              <a:rPr kumimoji="1" lang="zh-CN" altLang="en-US" dirty="0" smtClean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）；</a:t>
            </a:r>
            <a:r>
              <a:rPr kumimoji="1" lang="en-US" altLang="zh-CN" dirty="0" smtClean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12.26</a:t>
            </a:r>
            <a:r>
              <a:rPr kumimoji="1" lang="zh-CN" altLang="en-US" dirty="0" smtClean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日针对对照组尾部进行排除。</a:t>
            </a:r>
            <a:endParaRPr kumimoji="1" lang="en-US" altLang="zh-CN" dirty="0" smtClean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graphicFrame>
        <p:nvGraphicFramePr>
          <p:cNvPr id="6" name="图表 5"/>
          <p:cNvGraphicFramePr/>
          <p:nvPr/>
        </p:nvGraphicFramePr>
        <p:xfrm>
          <a:off x="401955" y="1940560"/>
          <a:ext cx="5507355" cy="4216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7" name="图表 6"/>
          <p:cNvGraphicFramePr/>
          <p:nvPr/>
        </p:nvGraphicFramePr>
        <p:xfrm>
          <a:off x="6230620" y="1939925"/>
          <a:ext cx="5507355" cy="42157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8147685" y="3089275"/>
            <a:ext cx="2052320" cy="73723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algn="l"/>
            <a:r>
              <a:rPr kumimoji="1" lang="zh-CN" altLang="en-US" sz="1400" b="1" dirty="0" smtClean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模型</a:t>
            </a:r>
            <a:r>
              <a:rPr kumimoji="1" lang="en-US" altLang="zh-CN" sz="1400" b="1" dirty="0" smtClean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LIFT</a:t>
            </a:r>
            <a:r>
              <a:rPr kumimoji="1" lang="zh-CN" altLang="en-US" sz="1400" b="1" dirty="0" smtClean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稳定，可通过观测未排除的最差组进行策略有效性监控。</a:t>
            </a:r>
            <a:endParaRPr kumimoji="1" lang="zh-CN" altLang="en-US" sz="1400" b="1" dirty="0" smtClean="0">
              <a:solidFill>
                <a:srgbClr val="C0000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7877810" y="3368675"/>
            <a:ext cx="0" cy="2192020"/>
          </a:xfrm>
          <a:prstGeom prst="line">
            <a:avLst/>
          </a:prstGeom>
          <a:ln w="6350" cap="flat" cmpd="sng" algn="ctr">
            <a:solidFill>
              <a:srgbClr val="C00000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椭圆 9"/>
          <p:cNvSpPr/>
          <p:nvPr/>
        </p:nvSpPr>
        <p:spPr>
          <a:xfrm>
            <a:off x="7805420" y="4994910"/>
            <a:ext cx="138430" cy="13843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标题 18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401955" y="162560"/>
            <a:ext cx="11336020" cy="56134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楷体" panose="02010609060101010101" pitchFamily="49" charset="-122"/>
                <a:ea typeface="楷体" panose="02010609060101010101" pitchFamily="49" charset="-122"/>
                <a:cs typeface="+mj-cs"/>
              </a:defRPr>
            </a:lvl1pPr>
          </a:lstStyle>
          <a:p>
            <a:r>
              <a:rPr lang="zh-CN" altLang="en-US" sz="21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二</a:t>
            </a:r>
            <a:r>
              <a:rPr lang="en-US" altLang="zh-CN" sz="21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.RTA</a:t>
            </a:r>
            <a:r>
              <a:rPr lang="zh-CN" altLang="en-US" sz="21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对照组加排</a:t>
            </a:r>
            <a:r>
              <a:rPr lang="en-US" altLang="zh-CN" sz="21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:</a:t>
            </a:r>
            <a:r>
              <a:rPr lang="zh-CN" altLang="en-US" sz="2100" b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大盘过件率提升</a:t>
            </a:r>
            <a:r>
              <a:rPr lang="en-US" altLang="zh-CN" sz="2100" b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4%</a:t>
            </a:r>
            <a:r>
              <a:rPr lang="zh-CN" altLang="en-US" sz="2100" b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相对值，成本略降、规模变化</a:t>
            </a:r>
            <a:r>
              <a:rPr lang="zh-CN" altLang="en-US" sz="2100" b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不显著</a:t>
            </a:r>
            <a:endParaRPr lang="zh-CN" altLang="en-US" sz="2100" b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194310" y="2134870"/>
            <a:ext cx="11754485" cy="4520565"/>
            <a:chOff x="306" y="3362"/>
            <a:chExt cx="18511" cy="7119"/>
          </a:xfrm>
        </p:grpSpPr>
        <p:sp>
          <p:nvSpPr>
            <p:cNvPr id="14" name="矩形 13"/>
            <p:cNvSpPr/>
            <p:nvPr>
              <p:custDataLst>
                <p:tags r:id="rId5"/>
              </p:custDataLst>
            </p:nvPr>
          </p:nvSpPr>
          <p:spPr>
            <a:xfrm>
              <a:off x="306" y="10047"/>
              <a:ext cx="15757" cy="434"/>
            </a:xfrm>
            <a:prstGeom prst="rect">
              <a:avLst/>
            </a:prstGeom>
            <a:gradFill>
              <a:gsLst>
                <a:gs pos="0">
                  <a:srgbClr val="E30000">
                    <a:alpha val="30000"/>
                  </a:srgbClr>
                </a:gs>
                <a:gs pos="100000">
                  <a:srgbClr val="760303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l"/>
              <a:endParaRPr lang="zh-CN" altLang="en-US" sz="120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endParaRPr>
            </a:p>
          </p:txBody>
        </p:sp>
        <p:graphicFrame>
          <p:nvGraphicFramePr>
            <p:cNvPr id="12" name="图表 11"/>
            <p:cNvGraphicFramePr/>
            <p:nvPr/>
          </p:nvGraphicFramePr>
          <p:xfrm>
            <a:off x="1169" y="3524"/>
            <a:ext cx="5660" cy="6025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"/>
            </a:graphicData>
          </a:graphic>
        </p:graphicFrame>
        <p:sp>
          <p:nvSpPr>
            <p:cNvPr id="3" name="文本框 2"/>
            <p:cNvSpPr txBox="1"/>
            <p:nvPr/>
          </p:nvSpPr>
          <p:spPr>
            <a:xfrm>
              <a:off x="1695" y="6124"/>
              <a:ext cx="1390" cy="483"/>
            </a:xfrm>
            <a:prstGeom prst="rect">
              <a:avLst/>
            </a:prstGeom>
            <a:noFill/>
          </p:spPr>
          <p:txBody>
            <a:bodyPr wrap="square" rtlCol="0" anchor="t" anchorCtr="0">
              <a:spAutoFit/>
            </a:bodyPr>
            <a:p>
              <a:pPr algn="ctr"/>
              <a:r>
                <a:rPr kumimoji="1" lang="en-US" altLang="zh-CN" sz="1400" b="1" dirty="0" smtClean="0">
                  <a:solidFill>
                    <a:srgbClr val="C00000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2.8%</a:t>
              </a:r>
              <a:endParaRPr kumimoji="1" lang="en-US" altLang="zh-CN" sz="1400" b="1" dirty="0" smtClean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endParaRPr>
            </a:p>
          </p:txBody>
        </p:sp>
        <p:cxnSp>
          <p:nvCxnSpPr>
            <p:cNvPr id="4" name="直接箭头连接符 3"/>
            <p:cNvCxnSpPr/>
            <p:nvPr/>
          </p:nvCxnSpPr>
          <p:spPr>
            <a:xfrm>
              <a:off x="3085" y="6015"/>
              <a:ext cx="0" cy="1043"/>
            </a:xfrm>
            <a:prstGeom prst="straightConnector1">
              <a:avLst/>
            </a:prstGeom>
            <a:ln>
              <a:solidFill>
                <a:srgbClr val="C00000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5" name="文本框 4"/>
            <p:cNvSpPr txBox="1"/>
            <p:nvPr/>
          </p:nvSpPr>
          <p:spPr>
            <a:xfrm>
              <a:off x="5701" y="4917"/>
              <a:ext cx="1128" cy="483"/>
            </a:xfrm>
            <a:prstGeom prst="rect">
              <a:avLst/>
            </a:prstGeom>
            <a:noFill/>
          </p:spPr>
          <p:txBody>
            <a:bodyPr wrap="square" rtlCol="0" anchor="t" anchorCtr="0">
              <a:spAutoFit/>
            </a:bodyPr>
            <a:p>
              <a:pPr algn="ctr"/>
              <a:r>
                <a:rPr kumimoji="1" lang="en-US" altLang="zh-CN" sz="1400" b="1" dirty="0" smtClean="0">
                  <a:solidFill>
                    <a:srgbClr val="C00000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1.3%</a:t>
              </a:r>
              <a:endParaRPr kumimoji="1" lang="en-US" altLang="zh-CN" sz="1400" b="1" dirty="0" smtClean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endParaRPr>
            </a:p>
          </p:txBody>
        </p:sp>
        <p:cxnSp>
          <p:nvCxnSpPr>
            <p:cNvPr id="11" name="直接箭头连接符 10"/>
            <p:cNvCxnSpPr/>
            <p:nvPr/>
          </p:nvCxnSpPr>
          <p:spPr>
            <a:xfrm>
              <a:off x="5424" y="4917"/>
              <a:ext cx="0" cy="483"/>
            </a:xfrm>
            <a:prstGeom prst="straightConnector1">
              <a:avLst/>
            </a:prstGeom>
            <a:ln>
              <a:solidFill>
                <a:srgbClr val="C00000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aphicFrame>
          <p:nvGraphicFramePr>
            <p:cNvPr id="13" name="图表 12"/>
            <p:cNvGraphicFramePr/>
            <p:nvPr/>
          </p:nvGraphicFramePr>
          <p:xfrm>
            <a:off x="7216" y="3524"/>
            <a:ext cx="5726" cy="600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cxnSp>
          <p:nvCxnSpPr>
            <p:cNvPr id="16" name="直接箭头连接符 15"/>
            <p:cNvCxnSpPr/>
            <p:nvPr/>
          </p:nvCxnSpPr>
          <p:spPr>
            <a:xfrm>
              <a:off x="9116" y="5238"/>
              <a:ext cx="0" cy="618"/>
            </a:xfrm>
            <a:prstGeom prst="straightConnector1">
              <a:avLst/>
            </a:prstGeom>
            <a:ln>
              <a:solidFill>
                <a:srgbClr val="C00000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7" name="文本框 16"/>
            <p:cNvSpPr txBox="1"/>
            <p:nvPr/>
          </p:nvSpPr>
          <p:spPr>
            <a:xfrm>
              <a:off x="7726" y="5238"/>
              <a:ext cx="1128" cy="483"/>
            </a:xfrm>
            <a:prstGeom prst="rect">
              <a:avLst/>
            </a:prstGeom>
            <a:noFill/>
          </p:spPr>
          <p:txBody>
            <a:bodyPr wrap="square" rtlCol="0" anchor="t" anchorCtr="0">
              <a:spAutoFit/>
            </a:bodyPr>
            <a:p>
              <a:pPr algn="ctr"/>
              <a:r>
                <a:rPr kumimoji="1" lang="en-US" altLang="zh-CN" sz="1400" b="1" dirty="0" smtClean="0">
                  <a:solidFill>
                    <a:srgbClr val="C00000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2.3%</a:t>
              </a:r>
              <a:endParaRPr kumimoji="1" lang="en-US" altLang="zh-CN" sz="1400" b="1" dirty="0" smtClean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11552" y="5921"/>
              <a:ext cx="1390" cy="483"/>
            </a:xfrm>
            <a:prstGeom prst="rect">
              <a:avLst/>
            </a:prstGeom>
            <a:noFill/>
          </p:spPr>
          <p:txBody>
            <a:bodyPr wrap="square" rtlCol="0" anchor="t" anchorCtr="0">
              <a:spAutoFit/>
            </a:bodyPr>
            <a:p>
              <a:pPr algn="ctr"/>
              <a:r>
                <a:rPr kumimoji="1" lang="en-US" altLang="zh-CN" sz="1400" b="1" dirty="0" smtClean="0">
                  <a:solidFill>
                    <a:srgbClr val="C00000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1.5%</a:t>
              </a:r>
              <a:endParaRPr kumimoji="1" lang="en-US" altLang="zh-CN" sz="1400" b="1" dirty="0" smtClean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endParaRPr>
            </a:p>
          </p:txBody>
        </p:sp>
        <p:cxnSp>
          <p:nvCxnSpPr>
            <p:cNvPr id="19" name="直接箭头连接符 18"/>
            <p:cNvCxnSpPr/>
            <p:nvPr/>
          </p:nvCxnSpPr>
          <p:spPr>
            <a:xfrm>
              <a:off x="11552" y="5921"/>
              <a:ext cx="0" cy="483"/>
            </a:xfrm>
            <a:prstGeom prst="straightConnector1">
              <a:avLst/>
            </a:prstGeom>
            <a:ln>
              <a:solidFill>
                <a:srgbClr val="C00000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aphicFrame>
          <p:nvGraphicFramePr>
            <p:cNvPr id="20" name="图表 19"/>
            <p:cNvGraphicFramePr/>
            <p:nvPr/>
          </p:nvGraphicFramePr>
          <p:xfrm>
            <a:off x="12951" y="3362"/>
            <a:ext cx="5726" cy="6007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21" name="文本框 20"/>
            <p:cNvSpPr txBox="1"/>
            <p:nvPr/>
          </p:nvSpPr>
          <p:spPr>
            <a:xfrm>
              <a:off x="13482" y="5532"/>
              <a:ext cx="1128" cy="483"/>
            </a:xfrm>
            <a:prstGeom prst="rect">
              <a:avLst/>
            </a:prstGeom>
            <a:noFill/>
          </p:spPr>
          <p:txBody>
            <a:bodyPr wrap="square" rtlCol="0" anchor="t" anchorCtr="0">
              <a:spAutoFit/>
            </a:bodyPr>
            <a:p>
              <a:pPr algn="ctr"/>
              <a:r>
                <a:rPr kumimoji="1" lang="en-US" altLang="zh-CN" sz="1400" b="1" dirty="0" smtClean="0">
                  <a:solidFill>
                    <a:srgbClr val="C00000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11</a:t>
              </a:r>
              <a:endParaRPr kumimoji="1" lang="en-US" altLang="zh-CN" sz="1400" b="1" dirty="0" smtClean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endParaRPr>
            </a:p>
          </p:txBody>
        </p:sp>
        <p:cxnSp>
          <p:nvCxnSpPr>
            <p:cNvPr id="22" name="直接箭头连接符 21"/>
            <p:cNvCxnSpPr/>
            <p:nvPr/>
          </p:nvCxnSpPr>
          <p:spPr>
            <a:xfrm>
              <a:off x="14734" y="5506"/>
              <a:ext cx="0" cy="618"/>
            </a:xfrm>
            <a:prstGeom prst="straightConnector1">
              <a:avLst/>
            </a:prstGeom>
            <a:ln>
              <a:solidFill>
                <a:srgbClr val="C00000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3" name="文本框 22"/>
            <p:cNvSpPr txBox="1"/>
            <p:nvPr/>
          </p:nvSpPr>
          <p:spPr>
            <a:xfrm>
              <a:off x="17427" y="5856"/>
              <a:ext cx="1390" cy="483"/>
            </a:xfrm>
            <a:prstGeom prst="rect">
              <a:avLst/>
            </a:prstGeom>
            <a:noFill/>
          </p:spPr>
          <p:txBody>
            <a:bodyPr wrap="square" rtlCol="0" anchor="t" anchorCtr="0">
              <a:spAutoFit/>
            </a:bodyPr>
            <a:p>
              <a:pPr algn="ctr"/>
              <a:r>
                <a:rPr kumimoji="1" lang="en-US" altLang="zh-CN" sz="1400" b="1" dirty="0" smtClean="0">
                  <a:solidFill>
                    <a:srgbClr val="C00000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11</a:t>
              </a:r>
              <a:endParaRPr kumimoji="1" lang="en-US" altLang="zh-CN" sz="1400" b="1" dirty="0" smtClean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endParaRPr>
            </a:p>
          </p:txBody>
        </p:sp>
        <p:cxnSp>
          <p:nvCxnSpPr>
            <p:cNvPr id="25" name="直接箭头连接符 24"/>
            <p:cNvCxnSpPr/>
            <p:nvPr/>
          </p:nvCxnSpPr>
          <p:spPr>
            <a:xfrm>
              <a:off x="17201" y="5721"/>
              <a:ext cx="0" cy="886"/>
            </a:xfrm>
            <a:prstGeom prst="straightConnector1">
              <a:avLst/>
            </a:prstGeom>
            <a:ln>
              <a:solidFill>
                <a:srgbClr val="C00000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27" name="文本框 26"/>
          <p:cNvSpPr txBox="1"/>
          <p:nvPr/>
        </p:nvSpPr>
        <p:spPr>
          <a:xfrm>
            <a:off x="412750" y="874395"/>
            <a:ext cx="11082655" cy="82994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algn="l">
              <a:lnSpc>
                <a:spcPct val="150000"/>
              </a:lnSpc>
            </a:pPr>
            <a:r>
              <a:rPr kumimoji="1" lang="zh-CN" altLang="en-US" sz="1600" dirty="0" smtClean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对照组加排后，与实验组质量</a:t>
            </a:r>
            <a:r>
              <a:rPr kumimoji="1" lang="en-US" altLang="zh-CN" sz="1600" dirty="0" smtClean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GAP</a:t>
            </a:r>
            <a:r>
              <a:rPr kumimoji="1" lang="zh-CN" altLang="en-US" sz="1600" dirty="0" smtClean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由</a:t>
            </a:r>
            <a:r>
              <a:rPr kumimoji="1" lang="en-US" altLang="zh-CN" sz="1600" dirty="0" smtClean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2.8%</a:t>
            </a:r>
            <a:r>
              <a:rPr kumimoji="1" lang="zh-CN" altLang="en-US" sz="1600" dirty="0" smtClean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缩窄至</a:t>
            </a:r>
            <a:r>
              <a:rPr kumimoji="1" lang="en-US" altLang="zh-CN" sz="1600" dirty="0" smtClean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1.3%</a:t>
            </a:r>
            <a:r>
              <a:rPr kumimoji="1" lang="zh-CN" altLang="en-US" sz="1600" dirty="0" smtClean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（剩余</a:t>
            </a:r>
            <a:r>
              <a:rPr kumimoji="1" lang="en-US" altLang="zh-CN" sz="1600" dirty="0" smtClean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GAP</a:t>
            </a:r>
            <a:r>
              <a:rPr kumimoji="1" lang="zh-CN" altLang="en-US" sz="1600" dirty="0" smtClean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为出价策略带来），对大盘整体影响预估为</a:t>
            </a:r>
            <a:r>
              <a:rPr kumimoji="1" lang="en-US" altLang="zh-CN" sz="1600" dirty="0" smtClean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4%</a:t>
            </a:r>
            <a:r>
              <a:rPr kumimoji="1" lang="zh-CN" altLang="en-US" sz="1600" dirty="0" smtClean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相对值；成本小幅下降，影响大盘略降</a:t>
            </a:r>
            <a:r>
              <a:rPr kumimoji="1" lang="en-US" altLang="zh-CN" sz="1600" dirty="0" smtClean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1%</a:t>
            </a:r>
            <a:r>
              <a:rPr kumimoji="1" lang="zh-CN" altLang="en-US" sz="1600" dirty="0" smtClean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相对值，规模变化</a:t>
            </a:r>
            <a:r>
              <a:rPr kumimoji="1" lang="zh-CN" altLang="en-US" sz="1600" dirty="0" smtClean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不显著</a:t>
            </a:r>
            <a:endParaRPr kumimoji="1" lang="zh-CN" altLang="en-US" sz="1600" dirty="0" smtClean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图表 7"/>
          <p:cNvGraphicFramePr/>
          <p:nvPr/>
        </p:nvGraphicFramePr>
        <p:xfrm>
          <a:off x="444500" y="1887220"/>
          <a:ext cx="3091180" cy="3667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4" name="图表 3"/>
          <p:cNvGraphicFramePr/>
          <p:nvPr>
            <p:custDataLst>
              <p:tags r:id="rId4"/>
            </p:custDataLst>
          </p:nvPr>
        </p:nvGraphicFramePr>
        <p:xfrm>
          <a:off x="4213860" y="1923733"/>
          <a:ext cx="3091180" cy="36493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" name="矩形 13"/>
          <p:cNvSpPr/>
          <p:nvPr>
            <p:custDataLst>
              <p:tags r:id="rId5"/>
            </p:custDataLst>
          </p:nvPr>
        </p:nvSpPr>
        <p:spPr>
          <a:xfrm>
            <a:off x="194310" y="6379845"/>
            <a:ext cx="10005695" cy="275590"/>
          </a:xfrm>
          <a:prstGeom prst="rect">
            <a:avLst/>
          </a:prstGeom>
          <a:gradFill>
            <a:gsLst>
              <a:gs pos="0">
                <a:srgbClr val="E30000">
                  <a:alpha val="30000"/>
                </a:srgbClr>
              </a:gs>
              <a:gs pos="100000">
                <a:srgbClr val="760303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endParaRPr lang="zh-CN" altLang="en-US" sz="1200">
              <a:solidFill>
                <a:schemeClr val="bg1"/>
              </a:solidFill>
              <a:latin typeface="华文楷体" panose="02010600040101010101" charset="-122"/>
              <a:ea typeface="华文楷体" panose="02010600040101010101" charset="-122"/>
              <a:sym typeface="+mn-ea"/>
            </a:endParaRPr>
          </a:p>
        </p:txBody>
      </p:sp>
      <p:sp>
        <p:nvSpPr>
          <p:cNvPr id="24" name="标题 18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401955" y="162560"/>
            <a:ext cx="11336020" cy="56134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楷体" panose="02010609060101010101" pitchFamily="49" charset="-122"/>
                <a:ea typeface="楷体" panose="02010609060101010101" pitchFamily="49" charset="-122"/>
                <a:cs typeface="+mj-cs"/>
              </a:defRPr>
            </a:lvl1pPr>
          </a:lstStyle>
          <a:p>
            <a:r>
              <a:rPr lang="zh-CN" altLang="en-US" sz="21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三</a:t>
            </a:r>
            <a:r>
              <a:rPr lang="en-US" altLang="zh-CN" sz="21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.RTA</a:t>
            </a:r>
            <a:r>
              <a:rPr lang="zh-CN" altLang="en-US" sz="21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出价优化—背景：</a:t>
            </a:r>
            <a:r>
              <a:rPr lang="zh-CN" altLang="en-US" sz="2100" b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腾讯实验组优质客群竞得率</a:t>
            </a:r>
            <a:r>
              <a:rPr lang="zh-CN" altLang="en-US" sz="2100" b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较低</a:t>
            </a:r>
            <a:endParaRPr lang="zh-CN" altLang="en-US" sz="2100" b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5" name="文本框 4"/>
          <p:cNvSpPr txBox="1"/>
          <p:nvPr>
            <p:custDataLst>
              <p:tags r:id="rId7"/>
            </p:custDataLst>
          </p:nvPr>
        </p:nvSpPr>
        <p:spPr>
          <a:xfrm>
            <a:off x="700405" y="2366010"/>
            <a:ext cx="2756535" cy="330200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p>
            <a:pPr algn="ctr"/>
            <a:r>
              <a:rPr kumimoji="1" lang="en-US" altLang="zh-CN" sz="1400" b="1" dirty="0" smtClean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3Q/2Q</a:t>
            </a:r>
            <a:r>
              <a:rPr kumimoji="1" lang="zh-CN" altLang="en-US" sz="1400" b="1" dirty="0" smtClean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竞得率高</a:t>
            </a:r>
            <a:r>
              <a:rPr kumimoji="1" lang="en-US" altLang="zh-CN" sz="1400" b="1" dirty="0" smtClean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4%</a:t>
            </a:r>
            <a:r>
              <a:rPr kumimoji="1" lang="zh-CN" altLang="en-US" sz="1400" b="1" dirty="0" smtClean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相对值</a:t>
            </a:r>
            <a:endParaRPr kumimoji="1" lang="zh-CN" altLang="en-US" sz="1400" b="1" dirty="0" smtClean="0">
              <a:solidFill>
                <a:srgbClr val="C0000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cxnSp>
        <p:nvCxnSpPr>
          <p:cNvPr id="6" name="直接箭头连接符 5"/>
          <p:cNvCxnSpPr/>
          <p:nvPr>
            <p:custDataLst>
              <p:tags r:id="rId8"/>
            </p:custDataLst>
          </p:nvPr>
        </p:nvCxnSpPr>
        <p:spPr>
          <a:xfrm flipH="1">
            <a:off x="1980565" y="3147060"/>
            <a:ext cx="488315" cy="56515"/>
          </a:xfrm>
          <a:prstGeom prst="straightConnector1">
            <a:avLst/>
          </a:prstGeom>
          <a:ln>
            <a:solidFill>
              <a:srgbClr val="C000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>
            <p:custDataLst>
              <p:tags r:id="rId9"/>
            </p:custDataLst>
          </p:nvPr>
        </p:nvSpPr>
        <p:spPr>
          <a:xfrm>
            <a:off x="4585970" y="2366010"/>
            <a:ext cx="2756535" cy="330200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p>
            <a:pPr algn="ctr"/>
            <a:r>
              <a:rPr kumimoji="1" lang="en-US" altLang="zh-CN" sz="1400" b="1" dirty="0" smtClean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3Q/2Q</a:t>
            </a:r>
            <a:r>
              <a:rPr kumimoji="1" lang="zh-CN" altLang="en-US" sz="1400" b="1" dirty="0" smtClean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竞得率高</a:t>
            </a:r>
            <a:r>
              <a:rPr kumimoji="1" lang="en-US" altLang="zh-CN" sz="1400" b="1" dirty="0" smtClean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29%</a:t>
            </a:r>
            <a:r>
              <a:rPr kumimoji="1" lang="zh-CN" altLang="en-US" sz="1400" b="1" dirty="0" smtClean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相对值</a:t>
            </a:r>
            <a:endParaRPr kumimoji="1" lang="zh-CN" altLang="en-US" sz="1400" b="1" dirty="0" smtClean="0">
              <a:solidFill>
                <a:srgbClr val="C0000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graphicFrame>
        <p:nvGraphicFramePr>
          <p:cNvPr id="12" name="图表 11"/>
          <p:cNvGraphicFramePr/>
          <p:nvPr>
            <p:custDataLst>
              <p:tags r:id="rId10"/>
            </p:custDataLst>
          </p:nvPr>
        </p:nvGraphicFramePr>
        <p:xfrm>
          <a:off x="8234680" y="1887220"/>
          <a:ext cx="3091180" cy="3667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16" name="直接箭头连接符 15"/>
          <p:cNvCxnSpPr/>
          <p:nvPr>
            <p:custDataLst>
              <p:tags r:id="rId11"/>
            </p:custDataLst>
          </p:nvPr>
        </p:nvCxnSpPr>
        <p:spPr>
          <a:xfrm flipH="1">
            <a:off x="5801995" y="2982595"/>
            <a:ext cx="488315" cy="403860"/>
          </a:xfrm>
          <a:prstGeom prst="straightConnector1">
            <a:avLst/>
          </a:prstGeom>
          <a:ln>
            <a:solidFill>
              <a:srgbClr val="C000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>
            <p:custDataLst>
              <p:tags r:id="rId12"/>
            </p:custDataLst>
          </p:nvPr>
        </p:nvCxnSpPr>
        <p:spPr>
          <a:xfrm flipH="1">
            <a:off x="9705975" y="2799715"/>
            <a:ext cx="494030" cy="403860"/>
          </a:xfrm>
          <a:prstGeom prst="straightConnector1">
            <a:avLst/>
          </a:prstGeom>
          <a:ln>
            <a:solidFill>
              <a:srgbClr val="C000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>
            <p:custDataLst>
              <p:tags r:id="rId13"/>
            </p:custDataLst>
          </p:nvPr>
        </p:nvSpPr>
        <p:spPr>
          <a:xfrm>
            <a:off x="8402320" y="2366010"/>
            <a:ext cx="2756535" cy="330200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p>
            <a:pPr algn="ctr"/>
            <a:r>
              <a:rPr kumimoji="1" lang="en-US" altLang="zh-CN" sz="1400" b="1" dirty="0" smtClean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3Q/2Q</a:t>
            </a:r>
            <a:r>
              <a:rPr kumimoji="1" lang="zh-CN" altLang="en-US" sz="1400" b="1" dirty="0" smtClean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竞得率高</a:t>
            </a:r>
            <a:r>
              <a:rPr kumimoji="1" lang="en-US" altLang="zh-CN" sz="1400" b="1" dirty="0" smtClean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33%</a:t>
            </a:r>
            <a:r>
              <a:rPr kumimoji="1" lang="zh-CN" altLang="en-US" sz="1400" b="1" dirty="0" smtClean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相对值</a:t>
            </a:r>
            <a:endParaRPr kumimoji="1" lang="zh-CN" altLang="en-US" sz="1400" b="1" dirty="0" smtClean="0">
              <a:solidFill>
                <a:srgbClr val="C0000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15950" y="6382385"/>
            <a:ext cx="6096000" cy="27559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algn="l"/>
            <a:r>
              <a:rPr lang="zh-CN" altLang="en-US" sz="120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数据周期：</a:t>
            </a:r>
            <a:r>
              <a:rPr lang="en-US" altLang="zh-CN" sz="120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Q4</a:t>
            </a:r>
            <a:r>
              <a:rPr lang="zh-CN" altLang="en-US" sz="120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整体</a:t>
            </a:r>
            <a:endParaRPr lang="zh-CN" altLang="en-US" sz="1200">
              <a:solidFill>
                <a:schemeClr val="bg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504825" y="966470"/>
            <a:ext cx="10837545" cy="46037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algn="l">
              <a:lnSpc>
                <a:spcPct val="150000"/>
              </a:lnSpc>
            </a:pPr>
            <a:r>
              <a:rPr kumimoji="1" lang="zh-CN" altLang="en-US" sz="1600" dirty="0" smtClean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腾讯实验组对比腾讯对照组及抖音，</a:t>
            </a:r>
            <a:r>
              <a:rPr kumimoji="1" lang="en-US" altLang="zh-CN" sz="1600" dirty="0" smtClean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2Q</a:t>
            </a:r>
            <a:r>
              <a:rPr kumimoji="1" lang="zh-CN" altLang="en-US" sz="1600" dirty="0" smtClean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、</a:t>
            </a:r>
            <a:r>
              <a:rPr kumimoji="1" lang="en-US" altLang="zh-CN" sz="1600" dirty="0" smtClean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3Q</a:t>
            </a:r>
            <a:r>
              <a:rPr kumimoji="1" lang="zh-CN" altLang="en-US" sz="1600" dirty="0" smtClean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客群的竞得率</a:t>
            </a:r>
            <a:r>
              <a:rPr kumimoji="1" lang="en-US" altLang="zh-CN" sz="1600" dirty="0" smtClean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GAP</a:t>
            </a:r>
            <a:r>
              <a:rPr kumimoji="1" lang="zh-CN" altLang="en-US" sz="1600" dirty="0" smtClean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较小</a:t>
            </a:r>
            <a:endParaRPr kumimoji="1" lang="zh-CN" altLang="en-US" sz="1600" dirty="0" smtClean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>
            <p:custDataLst>
              <p:tags r:id="rId3"/>
            </p:custDataLst>
          </p:nvPr>
        </p:nvSpPr>
        <p:spPr>
          <a:xfrm>
            <a:off x="194310" y="6379845"/>
            <a:ext cx="10005695" cy="275590"/>
          </a:xfrm>
          <a:prstGeom prst="rect">
            <a:avLst/>
          </a:prstGeom>
          <a:gradFill>
            <a:gsLst>
              <a:gs pos="0">
                <a:srgbClr val="E30000">
                  <a:alpha val="30000"/>
                </a:srgbClr>
              </a:gs>
              <a:gs pos="100000">
                <a:srgbClr val="760303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endParaRPr lang="zh-CN" altLang="en-US" sz="1200">
              <a:solidFill>
                <a:schemeClr val="bg1"/>
              </a:solidFill>
              <a:latin typeface="华文楷体" panose="02010600040101010101" charset="-122"/>
              <a:ea typeface="华文楷体" panose="02010600040101010101" charset="-122"/>
              <a:sym typeface="+mn-ea"/>
            </a:endParaRPr>
          </a:p>
        </p:txBody>
      </p:sp>
      <p:sp>
        <p:nvSpPr>
          <p:cNvPr id="24" name="标题 18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401955" y="162560"/>
            <a:ext cx="11336020" cy="56134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楷体" panose="02010609060101010101" pitchFamily="49" charset="-122"/>
                <a:ea typeface="楷体" panose="02010609060101010101" pitchFamily="49" charset="-122"/>
                <a:cs typeface="+mj-cs"/>
              </a:defRPr>
            </a:lvl1pPr>
          </a:lstStyle>
          <a:p>
            <a:r>
              <a:rPr lang="zh-CN" altLang="en-US" sz="21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三</a:t>
            </a:r>
            <a:r>
              <a:rPr lang="en-US" altLang="zh-CN" sz="21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.RTA</a:t>
            </a:r>
            <a:r>
              <a:rPr lang="zh-CN" altLang="en-US" sz="21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出价优化—</a:t>
            </a:r>
            <a:r>
              <a:rPr lang="zh-CN" altLang="en-US" sz="21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优化方案：</a:t>
            </a:r>
            <a:r>
              <a:rPr lang="zh-CN" altLang="en-US" sz="2100" b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转化出价调整为质量出价</a:t>
            </a:r>
            <a:endParaRPr lang="zh-CN" altLang="en-US" sz="2100" b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graphicFrame>
        <p:nvGraphicFramePr>
          <p:cNvPr id="10" name="图表 9"/>
          <p:cNvGraphicFramePr/>
          <p:nvPr/>
        </p:nvGraphicFramePr>
        <p:xfrm>
          <a:off x="401955" y="1897380"/>
          <a:ext cx="5485765" cy="37509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1" name="图表 10"/>
          <p:cNvGraphicFramePr/>
          <p:nvPr/>
        </p:nvGraphicFramePr>
        <p:xfrm>
          <a:off x="6252210" y="1899920"/>
          <a:ext cx="5485765" cy="37509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401955" y="723900"/>
            <a:ext cx="10869295" cy="92202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algn="l">
              <a:lnSpc>
                <a:spcPct val="150000"/>
              </a:lnSpc>
            </a:pPr>
            <a:r>
              <a:rPr kumimoji="1" lang="en-US" altLang="zh-CN" dirty="0" smtClean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V8.2</a:t>
            </a:r>
            <a:r>
              <a:rPr kumimoji="1" lang="zh-CN" altLang="en-US" dirty="0" smtClean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出价策略在质量维度上梯度不够。</a:t>
            </a:r>
            <a:r>
              <a:rPr lang="zh-CN" altLang="en-US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在质量优先的业务方向</a:t>
            </a:r>
            <a:r>
              <a:rPr lang="zh-CN" altLang="en-US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下，基于转化出价切换为基于质量出价，</a:t>
            </a:r>
            <a:r>
              <a:rPr lang="zh-CN" altLang="en-US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短期允许高质量客户成本有一定</a:t>
            </a:r>
            <a:r>
              <a:rPr lang="zh-CN" altLang="en-US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空间</a:t>
            </a:r>
            <a:endParaRPr lang="zh-CN" altLang="en-US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>
            <p:custDataLst>
              <p:tags r:id="rId4"/>
            </p:custDataLst>
          </p:nvPr>
        </p:nvSpPr>
        <p:spPr>
          <a:xfrm>
            <a:off x="194310" y="6379845"/>
            <a:ext cx="10005695" cy="275590"/>
          </a:xfrm>
          <a:prstGeom prst="rect">
            <a:avLst/>
          </a:prstGeom>
          <a:gradFill>
            <a:gsLst>
              <a:gs pos="0">
                <a:srgbClr val="E30000">
                  <a:alpha val="30000"/>
                </a:srgbClr>
              </a:gs>
              <a:gs pos="100000">
                <a:srgbClr val="760303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endParaRPr lang="zh-CN" altLang="en-US" sz="1200">
              <a:solidFill>
                <a:schemeClr val="bg1"/>
              </a:solidFill>
              <a:latin typeface="华文楷体" panose="02010600040101010101" charset="-122"/>
              <a:ea typeface="华文楷体" panose="02010600040101010101" charset="-122"/>
              <a:sym typeface="+mn-ea"/>
            </a:endParaRPr>
          </a:p>
        </p:txBody>
      </p:sp>
      <p:sp>
        <p:nvSpPr>
          <p:cNvPr id="24" name="标题 18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401955" y="162560"/>
            <a:ext cx="11336020" cy="56134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楷体" panose="02010609060101010101" pitchFamily="49" charset="-122"/>
                <a:ea typeface="楷体" panose="02010609060101010101" pitchFamily="49" charset="-122"/>
                <a:cs typeface="+mj-cs"/>
              </a:defRPr>
            </a:lvl1pPr>
          </a:lstStyle>
          <a:p>
            <a:r>
              <a:rPr lang="zh-CN" altLang="en-US" sz="21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三</a:t>
            </a:r>
            <a:r>
              <a:rPr lang="en-US" altLang="zh-CN" sz="21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.RTA</a:t>
            </a:r>
            <a:r>
              <a:rPr lang="zh-CN" altLang="en-US" sz="21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出价优化—上线</a:t>
            </a:r>
            <a:r>
              <a:rPr lang="zh-CN" altLang="en-US" sz="21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效果：</a:t>
            </a:r>
            <a:r>
              <a:rPr lang="zh-CN" altLang="en-US" sz="2100" b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转化出价调整为质量出价，质量提升</a:t>
            </a:r>
            <a:r>
              <a:rPr lang="en-US" altLang="zh-CN" sz="2100" b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16%</a:t>
            </a:r>
            <a:endParaRPr lang="zh-CN" altLang="en-US" sz="2100" b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01955" y="1003935"/>
            <a:ext cx="10869295" cy="36830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algn="l"/>
            <a:r>
              <a:rPr lang="zh-CN" altLang="en-US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优质客户竞得率提升显著，相比</a:t>
            </a:r>
            <a:r>
              <a:rPr lang="en-US" altLang="zh-CN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v8.2</a:t>
            </a:r>
            <a:r>
              <a:rPr lang="zh-CN" altLang="en-US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质量提升</a:t>
            </a:r>
            <a:r>
              <a:rPr lang="en-US" altLang="zh-CN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16%</a:t>
            </a:r>
            <a:r>
              <a:rPr lang="zh-CN" altLang="en-US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，成本上升</a:t>
            </a:r>
            <a:r>
              <a:rPr lang="en-US" altLang="zh-CN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21%</a:t>
            </a:r>
            <a:r>
              <a:rPr lang="zh-CN" altLang="en-US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，</a:t>
            </a:r>
            <a:r>
              <a:rPr lang="en-US" altLang="zh-CN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V9</a:t>
            </a:r>
            <a:r>
              <a:rPr lang="zh-CN" altLang="en-US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中将低转化客户进行排除压降</a:t>
            </a:r>
            <a:r>
              <a:rPr lang="zh-CN" altLang="en-US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成本</a:t>
            </a:r>
            <a:endParaRPr lang="zh-CN" altLang="en-US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graphicFrame>
        <p:nvGraphicFramePr>
          <p:cNvPr id="17" name="图表 16"/>
          <p:cNvGraphicFramePr/>
          <p:nvPr/>
        </p:nvGraphicFramePr>
        <p:xfrm>
          <a:off x="654685" y="1846580"/>
          <a:ext cx="4841875" cy="36163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8" name="图表 17"/>
          <p:cNvGraphicFramePr/>
          <p:nvPr/>
        </p:nvGraphicFramePr>
        <p:xfrm>
          <a:off x="8661400" y="1862455"/>
          <a:ext cx="2828925" cy="3654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0" name="图表 19"/>
          <p:cNvGraphicFramePr/>
          <p:nvPr/>
        </p:nvGraphicFramePr>
        <p:xfrm>
          <a:off x="5664835" y="1898015"/>
          <a:ext cx="2828290" cy="3616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21" name="直接箭头连接符 20"/>
          <p:cNvCxnSpPr/>
          <p:nvPr/>
        </p:nvCxnSpPr>
        <p:spPr>
          <a:xfrm flipV="1">
            <a:off x="6856095" y="2769235"/>
            <a:ext cx="777240" cy="412750"/>
          </a:xfrm>
          <a:prstGeom prst="straightConnector1">
            <a:avLst/>
          </a:prstGeom>
          <a:ln w="12700" cap="flat" cmpd="sng">
            <a:solidFill>
              <a:srgbClr val="C00000"/>
            </a:solidFill>
            <a:prstDash val="solid"/>
            <a:miter lim="800000"/>
            <a:headEnd type="none"/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6856730" y="2466975"/>
            <a:ext cx="776605" cy="412115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p>
            <a:pPr algn="l"/>
            <a:r>
              <a:rPr lang="en-US" altLang="zh-CN" b="1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16%</a:t>
            </a:r>
            <a:endParaRPr kumimoji="1" lang="en-US" altLang="zh-CN" sz="1600" b="1" dirty="0" smtClean="0">
              <a:solidFill>
                <a:srgbClr val="C0000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9862185" y="2357120"/>
            <a:ext cx="776605" cy="412115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p>
            <a:pPr algn="l"/>
            <a:r>
              <a:rPr lang="en-US" altLang="zh-CN" b="1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21%</a:t>
            </a:r>
            <a:endParaRPr kumimoji="1" lang="en-US" altLang="zh-CN" sz="1600" b="1" dirty="0" smtClean="0">
              <a:solidFill>
                <a:srgbClr val="C0000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cxnSp>
        <p:nvCxnSpPr>
          <p:cNvPr id="25" name="直接箭头连接符 24"/>
          <p:cNvCxnSpPr/>
          <p:nvPr/>
        </p:nvCxnSpPr>
        <p:spPr>
          <a:xfrm flipV="1">
            <a:off x="9861550" y="2879090"/>
            <a:ext cx="777240" cy="412750"/>
          </a:xfrm>
          <a:prstGeom prst="straightConnector1">
            <a:avLst/>
          </a:prstGeom>
          <a:ln w="12700" cap="flat" cmpd="sng">
            <a:solidFill>
              <a:srgbClr val="C00000"/>
            </a:solidFill>
            <a:prstDash val="solid"/>
            <a:miter lim="800000"/>
            <a:headEnd type="none"/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/>
          <p:nvPr>
            <p:ph type="title"/>
          </p:nvPr>
        </p:nvSpPr>
        <p:spPr/>
        <p:txBody>
          <a:bodyPr/>
          <a:p>
            <a:r>
              <a:rPr kumimoji="1" lang="zh-CN" altLang="en-US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四</a:t>
            </a:r>
            <a:r>
              <a:rPr kumimoji="1" lang="en-US" altLang="zh-CN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.RTAV9</a:t>
            </a:r>
            <a:r>
              <a:rPr kumimoji="1" lang="zh-CN" altLang="en-US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迭代—迭代前准备：</a:t>
            </a:r>
            <a:r>
              <a:rPr kumimoji="1" lang="zh-CN" altLang="en-US" b="0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框架优化</a:t>
            </a:r>
            <a:endParaRPr kumimoji="1" lang="zh-CN" altLang="en-US" b="0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77800" y="6388100"/>
            <a:ext cx="10005695" cy="275590"/>
          </a:xfrm>
          <a:prstGeom prst="rect">
            <a:avLst/>
          </a:prstGeom>
          <a:gradFill>
            <a:gsLst>
              <a:gs pos="0">
                <a:srgbClr val="E30000">
                  <a:alpha val="30000"/>
                </a:srgbClr>
              </a:gs>
              <a:gs pos="100000">
                <a:srgbClr val="760303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endParaRPr kumimoji="1" lang="zh-CN" altLang="en-US" sz="120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37515" y="774065"/>
            <a:ext cx="10006330" cy="1337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lnSpc>
                <a:spcPct val="150000"/>
              </a:lnSpc>
              <a:buFont typeface="Wingdings" panose="05000000000000000000" charset="0"/>
              <a:buNone/>
              <a:defRPr/>
            </a:pPr>
            <a:r>
              <a:rPr lang="zh-CN" altLang="en-US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前期实验验证，基于质量</a:t>
            </a:r>
            <a:r>
              <a:rPr lang="zh-CN" altLang="en-US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加权出价可以提升用户质量，但成本有</a:t>
            </a:r>
            <a:r>
              <a:rPr lang="zh-CN" altLang="en-US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上升。</a:t>
            </a:r>
            <a:endParaRPr lang="zh-CN" altLang="en-US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Noto Sans SC"/>
            </a:endParaRPr>
          </a:p>
          <a:p>
            <a:pPr marL="0" lvl="1" indent="0" algn="l">
              <a:lnSpc>
                <a:spcPct val="150000"/>
              </a:lnSpc>
              <a:buFont typeface="Wingdings" panose="05000000000000000000" charset="0"/>
              <a:buNone/>
              <a:defRPr/>
            </a:pPr>
            <a:r>
              <a:rPr lang="zh-CN" altLang="en-US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因此本次</a:t>
            </a:r>
            <a:r>
              <a:rPr lang="en-US" altLang="zh-CN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V</a:t>
            </a:r>
            <a:r>
              <a:rPr lang="en-US" altLang="zh-CN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9</a:t>
            </a:r>
            <a:r>
              <a:rPr lang="zh-CN" altLang="en-US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考虑用端到端模型直接排除低转化用户</a:t>
            </a:r>
            <a:endParaRPr lang="zh-CN" altLang="en-US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Noto Sans SC"/>
            </a:endParaRPr>
          </a:p>
          <a:p>
            <a:pPr indent="0" algn="l">
              <a:lnSpc>
                <a:spcPct val="150000"/>
              </a:lnSpc>
              <a:buFont typeface="Wingdings" panose="05000000000000000000" charset="0"/>
              <a:buNone/>
              <a:defRPr/>
            </a:pPr>
            <a:endParaRPr lang="zh-CN" altLang="en-US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Noto Sans SC"/>
            </a:endParaRPr>
          </a:p>
        </p:txBody>
      </p:sp>
      <p:sp>
        <p:nvSpPr>
          <p:cNvPr id="98" name="矩形 97"/>
          <p:cNvSpPr/>
          <p:nvPr/>
        </p:nvSpPr>
        <p:spPr>
          <a:xfrm>
            <a:off x="1291590" y="1980565"/>
            <a:ext cx="1393190" cy="18008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From</a:t>
            </a:r>
            <a:endParaRPr lang="en-US" altLang="zh-CN" sz="1200" b="1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68" name="矩形 67"/>
          <p:cNvSpPr/>
          <p:nvPr>
            <p:custDataLst>
              <p:tags r:id="rId1"/>
            </p:custDataLst>
          </p:nvPr>
        </p:nvSpPr>
        <p:spPr>
          <a:xfrm>
            <a:off x="3152140" y="1986915"/>
            <a:ext cx="1013460" cy="314325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latin typeface="华文楷体" panose="02010600040101010101" charset="-122"/>
                <a:ea typeface="华文楷体" panose="02010600040101010101" charset="-122"/>
              </a:rPr>
              <a:t>板块</a:t>
            </a:r>
            <a:endParaRPr lang="zh-CN" altLang="en-US" sz="120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69" name="矩形 68"/>
          <p:cNvSpPr/>
          <p:nvPr>
            <p:custDataLst>
              <p:tags r:id="rId2"/>
            </p:custDataLst>
          </p:nvPr>
        </p:nvSpPr>
        <p:spPr>
          <a:xfrm>
            <a:off x="3152140" y="2421255"/>
            <a:ext cx="1013460" cy="314325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latin typeface="华文楷体" panose="02010600040101010101" charset="-122"/>
                <a:ea typeface="华文楷体" panose="02010600040101010101" charset="-122"/>
              </a:rPr>
              <a:t>指标</a:t>
            </a:r>
            <a:endParaRPr lang="zh-CN" altLang="en-US" sz="120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70" name="矩形 69"/>
          <p:cNvSpPr/>
          <p:nvPr>
            <p:custDataLst>
              <p:tags r:id="rId3"/>
            </p:custDataLst>
          </p:nvPr>
        </p:nvSpPr>
        <p:spPr>
          <a:xfrm>
            <a:off x="3152140" y="2855595"/>
            <a:ext cx="1013460" cy="925195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latin typeface="华文楷体" panose="02010600040101010101" charset="-122"/>
                <a:ea typeface="华文楷体" panose="02010600040101010101" charset="-122"/>
              </a:rPr>
              <a:t>工具</a:t>
            </a:r>
            <a:endParaRPr lang="zh-CN" altLang="en-US" sz="120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71" name="矩形 70"/>
          <p:cNvSpPr/>
          <p:nvPr>
            <p:custDataLst>
              <p:tags r:id="rId4"/>
            </p:custDataLst>
          </p:nvPr>
        </p:nvSpPr>
        <p:spPr>
          <a:xfrm>
            <a:off x="4633595" y="1988185"/>
            <a:ext cx="2886075" cy="314325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 fontAlgn="t">
              <a:buClrTx/>
              <a:buSzTx/>
              <a:buFontTx/>
            </a:pPr>
            <a:r>
              <a:rPr lang="zh-CN" altLang="en-US" sz="12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rPr>
              <a:t>①排除</a:t>
            </a:r>
            <a:r>
              <a:rPr lang="zh-CN" altLang="en-US" sz="12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rPr>
              <a:t>策略</a:t>
            </a:r>
            <a:endParaRPr lang="zh-CN" altLang="en-US" sz="120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sym typeface="+mn-ea"/>
            </a:endParaRPr>
          </a:p>
        </p:txBody>
      </p:sp>
      <p:sp>
        <p:nvSpPr>
          <p:cNvPr id="72" name="矩形 71"/>
          <p:cNvSpPr/>
          <p:nvPr>
            <p:custDataLst>
              <p:tags r:id="rId5"/>
            </p:custDataLst>
          </p:nvPr>
        </p:nvSpPr>
        <p:spPr>
          <a:xfrm>
            <a:off x="8064500" y="1988185"/>
            <a:ext cx="2515870" cy="294005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t"/>
            <a:r>
              <a:rPr lang="zh-CN" altLang="en-US" sz="12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②</a:t>
            </a:r>
            <a:r>
              <a:rPr lang="zh-CN" altLang="en-US" sz="12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出价策略</a:t>
            </a:r>
            <a:endParaRPr lang="zh-CN" altLang="en-US" sz="120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75" name="矩形 74"/>
          <p:cNvSpPr/>
          <p:nvPr>
            <p:custDataLst>
              <p:tags r:id="rId6"/>
            </p:custDataLst>
          </p:nvPr>
        </p:nvSpPr>
        <p:spPr>
          <a:xfrm>
            <a:off x="4658360" y="2421890"/>
            <a:ext cx="2884805" cy="3143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安全</a:t>
            </a:r>
            <a:r>
              <a:rPr lang="zh-CN" altLang="en-US" sz="12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过件率</a:t>
            </a:r>
            <a:endParaRPr lang="zh-CN" altLang="en-US" sz="120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76" name="矩形 75"/>
          <p:cNvSpPr/>
          <p:nvPr>
            <p:custDataLst>
              <p:tags r:id="rId7"/>
            </p:custDataLst>
          </p:nvPr>
        </p:nvSpPr>
        <p:spPr>
          <a:xfrm>
            <a:off x="8049260" y="2428875"/>
            <a:ext cx="2515870" cy="3143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</a:rPr>
              <a:t>CPS</a:t>
            </a:r>
            <a:endParaRPr lang="en-US" altLang="zh-CN" sz="1200" b="1">
              <a:solidFill>
                <a:srgbClr val="C00000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86" name="矩形 85"/>
          <p:cNvSpPr/>
          <p:nvPr>
            <p:custDataLst>
              <p:tags r:id="rId8"/>
            </p:custDataLst>
          </p:nvPr>
        </p:nvSpPr>
        <p:spPr>
          <a:xfrm>
            <a:off x="8068310" y="3459480"/>
            <a:ext cx="2515870" cy="3143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端到端</a:t>
            </a:r>
            <a:r>
              <a:rPr lang="zh-CN" altLang="en-US" sz="12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模型</a:t>
            </a:r>
            <a:endParaRPr lang="zh-CN" altLang="en-US" sz="120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87" name="乘号 86"/>
          <p:cNvSpPr/>
          <p:nvPr>
            <p:custDataLst>
              <p:tags r:id="rId9"/>
            </p:custDataLst>
          </p:nvPr>
        </p:nvSpPr>
        <p:spPr>
          <a:xfrm>
            <a:off x="8936355" y="3157855"/>
            <a:ext cx="620395" cy="331470"/>
          </a:xfrm>
          <a:prstGeom prst="mathMultiply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/>
          </a:p>
        </p:txBody>
      </p:sp>
      <p:sp>
        <p:nvSpPr>
          <p:cNvPr id="19" name="矩形 18"/>
          <p:cNvSpPr/>
          <p:nvPr>
            <p:custDataLst>
              <p:tags r:id="rId10"/>
            </p:custDataLst>
          </p:nvPr>
        </p:nvSpPr>
        <p:spPr>
          <a:xfrm>
            <a:off x="4653280" y="2856230"/>
            <a:ext cx="2865755" cy="3143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Pre</a:t>
            </a:r>
            <a:r>
              <a:rPr lang="en-US" altLang="zh-CN" sz="12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A</a:t>
            </a:r>
            <a:endParaRPr lang="en-US" altLang="zh-CN" sz="120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20" name="矩形 19"/>
          <p:cNvSpPr/>
          <p:nvPr>
            <p:custDataLst>
              <p:tags r:id="rId11"/>
            </p:custDataLst>
          </p:nvPr>
        </p:nvSpPr>
        <p:spPr>
          <a:xfrm>
            <a:off x="8069580" y="2843530"/>
            <a:ext cx="2515870" cy="3143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Pre</a:t>
            </a:r>
            <a:r>
              <a:rPr lang="en-US" altLang="zh-CN" sz="12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A</a:t>
            </a:r>
            <a:endParaRPr lang="en-US" altLang="zh-CN" sz="120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305560" y="4221480"/>
            <a:ext cx="1453515" cy="18008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T</a:t>
            </a:r>
            <a:r>
              <a:rPr lang="en-US" altLang="zh-CN" sz="12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o</a:t>
            </a:r>
            <a:endParaRPr lang="en-US" altLang="zh-CN" sz="1200" b="1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22" name="矩形 21"/>
          <p:cNvSpPr/>
          <p:nvPr>
            <p:custDataLst>
              <p:tags r:id="rId12"/>
            </p:custDataLst>
          </p:nvPr>
        </p:nvSpPr>
        <p:spPr>
          <a:xfrm>
            <a:off x="3152140" y="4228465"/>
            <a:ext cx="1013460" cy="314325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latin typeface="华文楷体" panose="02010600040101010101" charset="-122"/>
                <a:ea typeface="华文楷体" panose="02010600040101010101" charset="-122"/>
              </a:rPr>
              <a:t>板块</a:t>
            </a:r>
            <a:endParaRPr lang="zh-CN" altLang="en-US" sz="120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23" name="矩形 22"/>
          <p:cNvSpPr/>
          <p:nvPr>
            <p:custDataLst>
              <p:tags r:id="rId13"/>
            </p:custDataLst>
          </p:nvPr>
        </p:nvSpPr>
        <p:spPr>
          <a:xfrm>
            <a:off x="3152140" y="4662805"/>
            <a:ext cx="1013460" cy="314325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latin typeface="华文楷体" panose="02010600040101010101" charset="-122"/>
                <a:ea typeface="华文楷体" panose="02010600040101010101" charset="-122"/>
              </a:rPr>
              <a:t>指标</a:t>
            </a:r>
            <a:endParaRPr lang="zh-CN" altLang="en-US" sz="120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24" name="矩形 23"/>
          <p:cNvSpPr/>
          <p:nvPr>
            <p:custDataLst>
              <p:tags r:id="rId14"/>
            </p:custDataLst>
          </p:nvPr>
        </p:nvSpPr>
        <p:spPr>
          <a:xfrm>
            <a:off x="3152140" y="5095875"/>
            <a:ext cx="1013460" cy="926465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latin typeface="华文楷体" panose="02010600040101010101" charset="-122"/>
                <a:ea typeface="华文楷体" panose="02010600040101010101" charset="-122"/>
              </a:rPr>
              <a:t>工具</a:t>
            </a:r>
            <a:endParaRPr lang="zh-CN" altLang="en-US" sz="120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25" name="矩形 24"/>
          <p:cNvSpPr/>
          <p:nvPr>
            <p:custDataLst>
              <p:tags r:id="rId15"/>
            </p:custDataLst>
          </p:nvPr>
        </p:nvSpPr>
        <p:spPr>
          <a:xfrm>
            <a:off x="4658360" y="4229100"/>
            <a:ext cx="2893060" cy="314325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 fontAlgn="t">
              <a:buClrTx/>
              <a:buSzTx/>
              <a:buFontTx/>
            </a:pPr>
            <a:r>
              <a:rPr lang="zh-CN" altLang="en-US" sz="12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rPr>
              <a:t>①排除</a:t>
            </a:r>
            <a:r>
              <a:rPr lang="zh-CN" altLang="en-US" sz="12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rPr>
              <a:t>策略</a:t>
            </a:r>
            <a:endParaRPr lang="zh-CN" altLang="en-US" sz="120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sym typeface="+mn-ea"/>
            </a:endParaRPr>
          </a:p>
        </p:txBody>
      </p:sp>
      <p:sp>
        <p:nvSpPr>
          <p:cNvPr id="26" name="矩形 25"/>
          <p:cNvSpPr/>
          <p:nvPr>
            <p:custDataLst>
              <p:tags r:id="rId16"/>
            </p:custDataLst>
          </p:nvPr>
        </p:nvSpPr>
        <p:spPr>
          <a:xfrm>
            <a:off x="8064500" y="4229100"/>
            <a:ext cx="2515870" cy="294005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fontAlgn="t"/>
            <a:r>
              <a:rPr lang="zh-CN" altLang="en-US" sz="12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②</a:t>
            </a:r>
            <a:r>
              <a:rPr lang="zh-CN" altLang="en-US" sz="12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出价策略</a:t>
            </a:r>
            <a:endParaRPr lang="zh-CN" altLang="en-US" sz="120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27" name="矩形 26"/>
          <p:cNvSpPr/>
          <p:nvPr>
            <p:custDataLst>
              <p:tags r:id="rId17"/>
            </p:custDataLst>
          </p:nvPr>
        </p:nvSpPr>
        <p:spPr>
          <a:xfrm>
            <a:off x="4683760" y="4663440"/>
            <a:ext cx="1508760" cy="3143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安全过件率</a:t>
            </a:r>
            <a:endParaRPr lang="zh-CN" altLang="en-US" sz="120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28" name="矩形 27"/>
          <p:cNvSpPr/>
          <p:nvPr>
            <p:custDataLst>
              <p:tags r:id="rId18"/>
            </p:custDataLst>
          </p:nvPr>
        </p:nvSpPr>
        <p:spPr>
          <a:xfrm>
            <a:off x="8049260" y="4670425"/>
            <a:ext cx="2515870" cy="3143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</a:rPr>
              <a:t>安全过件率</a:t>
            </a:r>
            <a:endParaRPr lang="zh-CN" altLang="en-US" sz="1200" b="1">
              <a:solidFill>
                <a:srgbClr val="C00000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29" name="矩形 28"/>
          <p:cNvSpPr/>
          <p:nvPr>
            <p:custDataLst>
              <p:tags r:id="rId19"/>
            </p:custDataLst>
          </p:nvPr>
        </p:nvSpPr>
        <p:spPr>
          <a:xfrm>
            <a:off x="4678680" y="5730240"/>
            <a:ext cx="2840355" cy="3143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端到端</a:t>
            </a:r>
            <a:r>
              <a:rPr lang="zh-CN" altLang="en-US" sz="12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模型</a:t>
            </a:r>
            <a:endParaRPr lang="zh-CN" altLang="en-US" sz="120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30" name="乘号 29"/>
          <p:cNvSpPr/>
          <p:nvPr>
            <p:custDataLst>
              <p:tags r:id="rId20"/>
            </p:custDataLst>
          </p:nvPr>
        </p:nvSpPr>
        <p:spPr>
          <a:xfrm>
            <a:off x="5795010" y="5409565"/>
            <a:ext cx="620395" cy="331470"/>
          </a:xfrm>
          <a:prstGeom prst="mathMultiply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/>
          </a:p>
        </p:txBody>
      </p:sp>
      <p:sp>
        <p:nvSpPr>
          <p:cNvPr id="31" name="矩形 30"/>
          <p:cNvSpPr/>
          <p:nvPr>
            <p:custDataLst>
              <p:tags r:id="rId21"/>
            </p:custDataLst>
          </p:nvPr>
        </p:nvSpPr>
        <p:spPr>
          <a:xfrm>
            <a:off x="4678680" y="5097145"/>
            <a:ext cx="2840355" cy="3143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Pre</a:t>
            </a:r>
            <a:r>
              <a:rPr lang="en-US" altLang="zh-CN" sz="12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A</a:t>
            </a:r>
            <a:endParaRPr lang="en-US" altLang="zh-CN" sz="120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32" name="矩形 31"/>
          <p:cNvSpPr/>
          <p:nvPr>
            <p:custDataLst>
              <p:tags r:id="rId22"/>
            </p:custDataLst>
          </p:nvPr>
        </p:nvSpPr>
        <p:spPr>
          <a:xfrm>
            <a:off x="8069580" y="5084445"/>
            <a:ext cx="2515870" cy="3143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Pre</a:t>
            </a:r>
            <a:r>
              <a:rPr lang="en-US" altLang="zh-CN" sz="12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A</a:t>
            </a:r>
            <a:endParaRPr lang="en-US" altLang="zh-CN" sz="120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4" name="矩形 3"/>
          <p:cNvSpPr/>
          <p:nvPr>
            <p:custDataLst>
              <p:tags r:id="rId23"/>
            </p:custDataLst>
          </p:nvPr>
        </p:nvSpPr>
        <p:spPr>
          <a:xfrm>
            <a:off x="6329045" y="4663440"/>
            <a:ext cx="1189355" cy="3143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曝光</a:t>
            </a:r>
            <a:r>
              <a:rPr lang="zh-CN" altLang="en-US" sz="12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单产</a:t>
            </a:r>
            <a:endParaRPr lang="zh-CN" altLang="en-US" sz="120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图表 10"/>
          <p:cNvGraphicFramePr/>
          <p:nvPr/>
        </p:nvGraphicFramePr>
        <p:xfrm>
          <a:off x="611505" y="4023360"/>
          <a:ext cx="4860290" cy="20275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标题 6"/>
          <p:cNvSpPr/>
          <p:nvPr>
            <p:ph type="title"/>
          </p:nvPr>
        </p:nvSpPr>
        <p:spPr/>
        <p:txBody>
          <a:bodyPr/>
          <a:p>
            <a:r>
              <a:rPr kumimoji="1" lang="zh-CN" altLang="en-US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四</a:t>
            </a:r>
            <a:r>
              <a:rPr kumimoji="1" lang="en-US" altLang="zh-CN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.RTAV9</a:t>
            </a:r>
            <a:r>
              <a:rPr kumimoji="1" lang="zh-CN" altLang="en-US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迭代—迭代前准备：</a:t>
            </a:r>
            <a:r>
              <a:rPr kumimoji="1" lang="zh-CN" altLang="en-US" b="0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模型能力提升显著</a:t>
            </a:r>
            <a:endParaRPr kumimoji="1" lang="zh-CN" altLang="en-US" b="0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05765" y="742315"/>
            <a:ext cx="7666990" cy="4133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l">
              <a:lnSpc>
                <a:spcPct val="100000"/>
              </a:lnSpc>
              <a:buFont typeface="Wingdings" panose="05000000000000000000" charset="0"/>
              <a:buNone/>
              <a:defRPr/>
            </a:pPr>
            <a:r>
              <a:rPr lang="en-US" altLang="zh-CN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V9 preA</a:t>
            </a:r>
            <a:r>
              <a:rPr lang="zh-CN" altLang="en-US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模型和端到端模型对用户的质量和意愿识别能力提升均</a:t>
            </a:r>
            <a:r>
              <a:rPr lang="zh-CN" altLang="en-US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显著</a:t>
            </a:r>
            <a:endParaRPr lang="zh-CN" altLang="en-US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Noto Sans SC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77800" y="6388100"/>
            <a:ext cx="10005695" cy="275590"/>
          </a:xfrm>
          <a:prstGeom prst="rect">
            <a:avLst/>
          </a:prstGeom>
          <a:gradFill>
            <a:gsLst>
              <a:gs pos="0">
                <a:srgbClr val="E30000">
                  <a:alpha val="30000"/>
                </a:srgbClr>
              </a:gs>
              <a:gs pos="100000">
                <a:srgbClr val="760303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endParaRPr kumimoji="1" lang="zh-CN" altLang="en-US" sz="120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14045" y="1250315"/>
            <a:ext cx="4857750" cy="6508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①</a:t>
            </a:r>
            <a:r>
              <a:rPr lang="en-US" altLang="zh-CN" sz="14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preA</a:t>
            </a:r>
            <a:r>
              <a:rPr lang="zh-CN" altLang="en-US" sz="14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模型</a:t>
            </a:r>
            <a:r>
              <a:rPr lang="zh-CN" altLang="en-US" sz="1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在曝光分布对齐的情况下：</a:t>
            </a:r>
            <a:endParaRPr lang="zh-CN" altLang="en-US" sz="1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Noto Sans SC"/>
            </a:endParaRPr>
          </a:p>
          <a:p>
            <a:pPr marL="742950" lvl="1" indent="-285750">
              <a:lnSpc>
                <a:spcPct val="160000"/>
              </a:lnSpc>
              <a:buFont typeface="Arial" panose="020B0604020202090204" pitchFamily="34" charset="0"/>
              <a:buChar char="•"/>
            </a:pPr>
            <a:r>
              <a:rPr lang="en-US" altLang="zh-CN" sz="1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v9</a:t>
            </a:r>
            <a:r>
              <a:rPr lang="zh-CN" altLang="en-US" sz="1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模型的安全过件率和额度的排序均好于</a:t>
            </a:r>
            <a:r>
              <a:rPr lang="en-US" altLang="zh-CN" sz="1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v8</a:t>
            </a:r>
            <a:endParaRPr lang="en-US" altLang="zh-CN" sz="1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Noto Sans SC"/>
            </a:endParaRPr>
          </a:p>
        </p:txBody>
      </p:sp>
      <p:graphicFrame>
        <p:nvGraphicFramePr>
          <p:cNvPr id="8" name="表格 7"/>
          <p:cNvGraphicFramePr/>
          <p:nvPr>
            <p:custDataLst>
              <p:tags r:id="rId5"/>
            </p:custDataLst>
          </p:nvPr>
        </p:nvGraphicFramePr>
        <p:xfrm>
          <a:off x="854710" y="6414135"/>
          <a:ext cx="4376420" cy="219075"/>
        </p:xfrm>
        <a:graphic>
          <a:graphicData uri="http://schemas.openxmlformats.org/drawingml/2006/table">
            <a:tbl>
              <a:tblPr/>
              <a:tblGrid>
                <a:gridCol w="4376420"/>
              </a:tblGrid>
              <a:tr h="219075">
                <a:tc>
                  <a:txBody>
                    <a:bodyPr/>
                    <a:p>
                      <a:pPr algn="l" fontAlgn="ctr"/>
                      <a:r>
                        <a:rPr lang="en-US" altLang="zh-CN" sz="1200" b="0" i="1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2025</a:t>
                      </a:r>
                      <a:r>
                        <a:rPr lang="zh-CN" altLang="en-US" sz="1200" b="0" i="1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年</a:t>
                      </a:r>
                      <a:r>
                        <a:rPr lang="en-US" altLang="zh-CN" sz="1200" b="0" i="1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12</a:t>
                      </a:r>
                      <a:r>
                        <a:rPr lang="zh-CN" altLang="en-US" sz="1200" b="0" i="1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月</a:t>
                      </a:r>
                      <a:r>
                        <a:rPr lang="en-US" altLang="zh-CN" sz="1200" b="0" i="1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12</a:t>
                      </a:r>
                      <a:r>
                        <a:rPr lang="zh-CN" altLang="en-US" sz="1200" b="0" i="1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日 </a:t>
                      </a:r>
                      <a:r>
                        <a:rPr lang="en-US" altLang="zh-CN" sz="1200" b="0" i="1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- 2025</a:t>
                      </a:r>
                      <a:r>
                        <a:rPr lang="zh-CN" altLang="en-US" sz="1200" b="0" i="1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年</a:t>
                      </a:r>
                      <a:r>
                        <a:rPr lang="en-US" altLang="zh-CN" sz="1200" b="0" i="1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12</a:t>
                      </a:r>
                      <a:r>
                        <a:rPr lang="zh-CN" altLang="en-US" sz="1200" b="0" i="1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月</a:t>
                      </a:r>
                      <a:r>
                        <a:rPr lang="en-US" altLang="zh-CN" sz="1200" b="0" i="1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25</a:t>
                      </a:r>
                      <a:r>
                        <a:rPr lang="zh-CN" altLang="en-US" sz="1200" b="0" i="1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日</a:t>
                      </a:r>
                      <a:r>
                        <a:rPr lang="zh-CN" altLang="en-US" sz="1200" b="0" i="1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腾讯对照组数据</a:t>
                      </a:r>
                      <a:endParaRPr lang="zh-CN" altLang="en-US" sz="1200" b="0" i="1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6538595" y="1254760"/>
            <a:ext cx="4857750" cy="6508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②端到端模型</a:t>
            </a:r>
            <a:r>
              <a:rPr lang="zh-CN" altLang="en-US" sz="1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在曝光分布对齐的情况下：</a:t>
            </a:r>
            <a:endParaRPr lang="zh-CN" altLang="en-US" sz="1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Noto Sans SC"/>
            </a:endParaRPr>
          </a:p>
          <a:p>
            <a:pPr lvl="1">
              <a:lnSpc>
                <a:spcPct val="160000"/>
              </a:lnSpc>
            </a:pPr>
            <a:r>
              <a:rPr lang="en-US" altLang="zh-CN" sz="1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v9</a:t>
            </a:r>
            <a:r>
              <a:rPr lang="zh-CN" altLang="en-US" sz="1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模型的曝光单产和</a:t>
            </a:r>
            <a:r>
              <a:rPr lang="en-US" altLang="zh-CN" sz="1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CPS</a:t>
            </a:r>
            <a:r>
              <a:rPr lang="zh-CN" altLang="en-US" sz="1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的排序均好于</a:t>
            </a:r>
            <a:r>
              <a:rPr lang="en-US" altLang="zh-CN" sz="1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v8</a:t>
            </a:r>
            <a:endParaRPr lang="en-US" altLang="zh-CN" sz="1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Noto Sans SC"/>
            </a:endParaRPr>
          </a:p>
        </p:txBody>
      </p:sp>
      <p:graphicFrame>
        <p:nvGraphicFramePr>
          <p:cNvPr id="5" name="图表 4"/>
          <p:cNvGraphicFramePr/>
          <p:nvPr/>
        </p:nvGraphicFramePr>
        <p:xfrm>
          <a:off x="622935" y="1906905"/>
          <a:ext cx="4864735" cy="2026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" name="图表 1"/>
          <p:cNvGraphicFramePr/>
          <p:nvPr/>
        </p:nvGraphicFramePr>
        <p:xfrm>
          <a:off x="6359525" y="4169410"/>
          <a:ext cx="4857750" cy="20497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图表 5"/>
          <p:cNvGraphicFramePr/>
          <p:nvPr/>
        </p:nvGraphicFramePr>
        <p:xfrm>
          <a:off x="6359525" y="1931035"/>
          <a:ext cx="4864735" cy="20275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/>
          <p:nvPr>
            <p:ph type="title"/>
          </p:nvPr>
        </p:nvSpPr>
        <p:spPr/>
        <p:txBody>
          <a:bodyPr/>
          <a:p>
            <a:r>
              <a:rPr kumimoji="1" lang="zh-CN" altLang="en-US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四</a:t>
            </a:r>
            <a:r>
              <a:rPr kumimoji="1" lang="en-US" altLang="zh-CN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.RTAV9</a:t>
            </a:r>
            <a:r>
              <a:rPr kumimoji="1" lang="zh-CN" altLang="en-US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迭代—</a:t>
            </a:r>
            <a:r>
              <a:rPr kumimoji="1" lang="zh-CN" altLang="en-US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排除策略</a:t>
            </a:r>
            <a:endParaRPr kumimoji="1" lang="zh-CN" altLang="en-US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77800" y="6388100"/>
            <a:ext cx="10005695" cy="275590"/>
          </a:xfrm>
          <a:prstGeom prst="rect">
            <a:avLst/>
          </a:prstGeom>
          <a:gradFill>
            <a:gsLst>
              <a:gs pos="0">
                <a:srgbClr val="E30000">
                  <a:alpha val="30000"/>
                </a:srgbClr>
              </a:gs>
              <a:gs pos="100000">
                <a:srgbClr val="760303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endParaRPr kumimoji="1" lang="zh-CN" altLang="en-US" sz="120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97865" y="858520"/>
            <a:ext cx="5756910" cy="506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 algn="l">
              <a:lnSpc>
                <a:spcPct val="150000"/>
              </a:lnSpc>
              <a:buFont typeface="Wingdings" panose="05000000000000000000" charset="0"/>
              <a:buChar char="Ø"/>
              <a:defRPr/>
            </a:pPr>
            <a:r>
              <a:rPr lang="zh-CN" altLang="en-US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排除</a:t>
            </a:r>
            <a:r>
              <a:rPr lang="zh-CN" altLang="en-US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策略预估</a:t>
            </a:r>
            <a:r>
              <a:rPr lang="zh-CN" altLang="en-US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效果</a:t>
            </a:r>
            <a:endParaRPr lang="zh-CN" altLang="en-US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Noto Sans SC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97865" y="2740660"/>
            <a:ext cx="10411460" cy="13760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285750" indent="-285750" algn="l">
              <a:lnSpc>
                <a:spcPct val="150000"/>
              </a:lnSpc>
              <a:buFont typeface="Wingdings" panose="05000000000000000000" charset="0"/>
              <a:buChar char="Ø"/>
              <a:defRPr/>
            </a:pPr>
            <a:r>
              <a:rPr lang="zh-CN" altLang="en-US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上线后对照组实际</a:t>
            </a:r>
            <a:r>
              <a:rPr lang="en-US" altLang="zh-CN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before-after</a:t>
            </a:r>
            <a:r>
              <a:rPr lang="zh-CN" altLang="en-US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对比</a:t>
            </a:r>
            <a:endParaRPr lang="zh-CN" altLang="en-US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Noto Sans SC"/>
            </a:endParaRPr>
          </a:p>
          <a:p>
            <a:pPr marL="742950" lvl="1" indent="-285750" algn="l">
              <a:lnSpc>
                <a:spcPct val="200000"/>
              </a:lnSpc>
              <a:buFont typeface="Arial" panose="020B0604020202090204" pitchFamily="34" charset="0"/>
              <a:buChar char="•"/>
              <a:defRPr/>
            </a:pPr>
            <a:r>
              <a:rPr lang="zh-CN" altLang="en-US" sz="1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安全过件率提升</a:t>
            </a:r>
            <a:r>
              <a:rPr lang="en-US" altLang="zh-CN" sz="1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8%</a:t>
            </a:r>
            <a:r>
              <a:rPr lang="zh-CN" altLang="en-US" sz="1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，但其中叠加了回传策略的影响（</a:t>
            </a:r>
            <a:r>
              <a:rPr lang="en-US" altLang="zh-CN" sz="1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6%</a:t>
            </a:r>
            <a:r>
              <a:rPr lang="zh-CN" altLang="en-US" sz="1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），对比</a:t>
            </a:r>
            <a:r>
              <a:rPr lang="en-US" altLang="zh-CN" sz="1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 </a:t>
            </a:r>
            <a:r>
              <a:rPr lang="zh-CN" altLang="en-US" sz="1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策略不变组，</a:t>
            </a:r>
            <a:r>
              <a:rPr lang="zh-CN" altLang="en-US" sz="1400" b="1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实际排除策略带来</a:t>
            </a:r>
            <a:r>
              <a:rPr lang="en-US" altLang="zh-CN" sz="1400" b="1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3%</a:t>
            </a:r>
            <a:r>
              <a:rPr lang="zh-CN" altLang="en-US" sz="1400" b="1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安全过件率</a:t>
            </a:r>
            <a:r>
              <a:rPr lang="zh-CN" altLang="en-US" sz="1400" b="1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提升</a:t>
            </a:r>
            <a:endParaRPr lang="zh-CN" altLang="en-US" sz="1400" b="1">
              <a:solidFill>
                <a:srgbClr val="C0000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Noto Sans SC"/>
            </a:endParaRPr>
          </a:p>
          <a:p>
            <a:pPr marL="742950" lvl="1" indent="-285750" algn="l">
              <a:lnSpc>
                <a:spcPct val="120000"/>
              </a:lnSpc>
              <a:buFont typeface="Arial" panose="020B0604020202090204" pitchFamily="34" charset="0"/>
              <a:buChar char="•"/>
              <a:defRPr/>
            </a:pPr>
            <a:r>
              <a:rPr lang="zh-CN" altLang="en-US" sz="1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同样逻辑得出</a:t>
            </a:r>
            <a:r>
              <a:rPr lang="en-US" altLang="zh-CN" sz="1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cps</a:t>
            </a:r>
            <a:r>
              <a:rPr lang="zh-CN" altLang="en-US" sz="1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下降</a:t>
            </a:r>
            <a:r>
              <a:rPr lang="en-US" altLang="zh-CN" sz="1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1</a:t>
            </a:r>
            <a:r>
              <a:rPr lang="en-US" altLang="zh-CN" sz="1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%</a:t>
            </a:r>
            <a:r>
              <a:rPr lang="zh-CN" altLang="en-US" sz="1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，和预估基本一致</a:t>
            </a:r>
            <a:endParaRPr lang="zh-CN" altLang="en-US" sz="1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Noto Sans SC"/>
            </a:endParaRPr>
          </a:p>
        </p:txBody>
      </p:sp>
      <p:graphicFrame>
        <p:nvGraphicFramePr>
          <p:cNvPr id="9" name="表格 8"/>
          <p:cNvGraphicFramePr/>
          <p:nvPr>
            <p:custDataLst>
              <p:tags r:id="rId3"/>
            </p:custDataLst>
          </p:nvPr>
        </p:nvGraphicFramePr>
        <p:xfrm>
          <a:off x="1033780" y="1486535"/>
          <a:ext cx="6197600" cy="967740"/>
        </p:xfrm>
        <a:graphic>
          <a:graphicData uri="http://schemas.openxmlformats.org/drawingml/2006/table">
            <a:tbl>
              <a:tblPr/>
              <a:tblGrid>
                <a:gridCol w="1144905"/>
                <a:gridCol w="1144905"/>
                <a:gridCol w="1144905"/>
                <a:gridCol w="1617980"/>
                <a:gridCol w="1144905"/>
              </a:tblGrid>
              <a:tr h="241935">
                <a:tc>
                  <a:txBody>
                    <a:bodyPr/>
                    <a:p>
                      <a:pPr algn="ctr" fontAlgn="ctr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预估效果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排除请求占比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排除交易占比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排除用户安全过件率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排除用户</a:t>
                      </a:r>
                      <a:r>
                        <a:rPr lang="en-US" altLang="zh-CN" sz="12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CPS</a:t>
                      </a:r>
                      <a:endParaRPr lang="en-US" altLang="zh-CN" sz="1200" b="1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1935">
                <a:tc>
                  <a:txBody>
                    <a:bodyPr/>
                    <a:p>
                      <a:pPr algn="ctr" fontAlgn="ctr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现状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40%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9%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3.00%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2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241935">
                <a:tc>
                  <a:txBody>
                    <a:bodyPr/>
                    <a:p>
                      <a:pPr algn="ctr" fontAlgn="ctr"/>
                      <a:r>
                        <a:rPr lang="en-US" altLang="zh-CN" sz="12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v9</a:t>
                      </a:r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质量排除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53%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18%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2.80%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2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41935">
                <a:tc>
                  <a:txBody>
                    <a:bodyPr/>
                    <a:p>
                      <a:pPr algn="ctr" fontAlgn="ctr"/>
                      <a:r>
                        <a:rPr lang="en-US" altLang="zh-CN" sz="12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V9</a:t>
                      </a:r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转化排除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14%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1%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2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114%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右箭头 9"/>
          <p:cNvSpPr/>
          <p:nvPr/>
        </p:nvSpPr>
        <p:spPr>
          <a:xfrm>
            <a:off x="7597140" y="1769745"/>
            <a:ext cx="516255" cy="400685"/>
          </a:xfrm>
          <a:prstGeom prst="rightArrow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12" name="表格 11"/>
          <p:cNvGraphicFramePr/>
          <p:nvPr/>
        </p:nvGraphicFramePr>
        <p:xfrm>
          <a:off x="8406765" y="1577975"/>
          <a:ext cx="2965450" cy="876300"/>
        </p:xfrm>
        <a:graphic>
          <a:graphicData uri="http://schemas.openxmlformats.org/drawingml/2006/table">
            <a:tbl>
              <a:tblPr/>
              <a:tblGrid>
                <a:gridCol w="958850"/>
                <a:gridCol w="958850"/>
                <a:gridCol w="1047750"/>
              </a:tblGrid>
              <a:tr h="219075">
                <a:tc>
                  <a:txBody>
                    <a:bodyPr/>
                    <a:p>
                      <a:pPr algn="ctr" fontAlgn="ctr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预估效果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安全过件率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CPS</a:t>
                      </a:r>
                      <a:endParaRPr lang="en-US" altLang="zh-CN" sz="1200" b="1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9075"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现状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18.4%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18.9%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219075"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v9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排除策略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23.5%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16.7%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19075"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Δ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1" i="0">
                          <a:solidFill>
                            <a:srgbClr val="C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5%</a:t>
                      </a:r>
                      <a:endParaRPr lang="en-US" altLang="zh-CN" sz="1200" b="1" i="0">
                        <a:solidFill>
                          <a:srgbClr val="C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1" i="0">
                          <a:solidFill>
                            <a:srgbClr val="C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-2%</a:t>
                      </a:r>
                      <a:endParaRPr lang="en-US" altLang="zh-CN" sz="1200" b="1" i="0">
                        <a:solidFill>
                          <a:srgbClr val="C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5" name="图表 14"/>
          <p:cNvGraphicFramePr/>
          <p:nvPr/>
        </p:nvGraphicFramePr>
        <p:xfrm>
          <a:off x="1149350" y="4051300"/>
          <a:ext cx="4872355" cy="22675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6" name="文本框 15"/>
          <p:cNvSpPr txBox="1"/>
          <p:nvPr/>
        </p:nvSpPr>
        <p:spPr>
          <a:xfrm>
            <a:off x="4130040" y="4220210"/>
            <a:ext cx="129857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回传影响</a:t>
            </a:r>
            <a:r>
              <a:rPr lang="en-US" altLang="zh-CN" sz="1200" b="1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+6%</a:t>
            </a:r>
            <a:endParaRPr lang="en-US" altLang="zh-CN" sz="1200" b="1">
              <a:solidFill>
                <a:srgbClr val="C0000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991360" y="4283710"/>
            <a:ext cx="99314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整体</a:t>
            </a:r>
            <a:r>
              <a:rPr lang="en-US" altLang="zh-CN" sz="1200" b="1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+9%</a:t>
            </a:r>
            <a:endParaRPr lang="en-US" altLang="zh-CN" sz="1200" b="1">
              <a:solidFill>
                <a:srgbClr val="C0000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graphicFrame>
        <p:nvGraphicFramePr>
          <p:cNvPr id="22" name="图表 21"/>
          <p:cNvGraphicFramePr/>
          <p:nvPr/>
        </p:nvGraphicFramePr>
        <p:xfrm>
          <a:off x="6266180" y="4116705"/>
          <a:ext cx="4644390" cy="21774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3" name="文本框 22"/>
          <p:cNvSpPr txBox="1"/>
          <p:nvPr/>
        </p:nvSpPr>
        <p:spPr>
          <a:xfrm>
            <a:off x="7231380" y="4739640"/>
            <a:ext cx="99314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整体</a:t>
            </a:r>
            <a:r>
              <a:rPr lang="en-US" altLang="zh-CN" sz="1200" b="1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-1</a:t>
            </a:r>
            <a:r>
              <a:rPr lang="en-US" altLang="zh-CN" sz="1200" b="1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%</a:t>
            </a:r>
            <a:endParaRPr lang="en-US" altLang="zh-CN" sz="1200" b="1">
              <a:solidFill>
                <a:srgbClr val="C0000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9156065" y="4495800"/>
            <a:ext cx="11303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回传影响</a:t>
            </a:r>
            <a:r>
              <a:rPr lang="en-US" altLang="zh-CN" sz="1200" b="1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0</a:t>
            </a:r>
            <a:r>
              <a:rPr lang="en-US" altLang="zh-CN" sz="1200" b="1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%</a:t>
            </a:r>
            <a:endParaRPr lang="en-US" altLang="zh-CN" sz="1200" b="1">
              <a:solidFill>
                <a:srgbClr val="C0000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/>
          <p:nvPr>
            <p:ph type="title"/>
          </p:nvPr>
        </p:nvSpPr>
        <p:spPr/>
        <p:txBody>
          <a:bodyPr/>
          <a:p>
            <a:r>
              <a:rPr kumimoji="1" lang="zh-CN" altLang="en-US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四</a:t>
            </a:r>
            <a:r>
              <a:rPr kumimoji="1" lang="en-US" altLang="zh-CN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.RTAV9</a:t>
            </a:r>
            <a:r>
              <a:rPr kumimoji="1" lang="zh-CN" altLang="en-US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迭代—出价策略</a:t>
            </a:r>
            <a:endParaRPr kumimoji="1" lang="zh-CN" altLang="en-US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77800" y="6388100"/>
            <a:ext cx="10005695" cy="275590"/>
          </a:xfrm>
          <a:prstGeom prst="rect">
            <a:avLst/>
          </a:prstGeom>
          <a:gradFill>
            <a:gsLst>
              <a:gs pos="0">
                <a:srgbClr val="E30000">
                  <a:alpha val="30000"/>
                </a:srgbClr>
              </a:gs>
              <a:gs pos="100000">
                <a:srgbClr val="760303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endParaRPr kumimoji="1" lang="zh-CN" altLang="en-US" sz="120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69900" y="753110"/>
            <a:ext cx="7919720" cy="506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lnSpc>
                <a:spcPct val="150000"/>
              </a:lnSpc>
              <a:buFont typeface="Wingdings" panose="05000000000000000000" charset="0"/>
              <a:buNone/>
              <a:defRPr/>
            </a:pPr>
            <a:r>
              <a:rPr lang="zh-CN" altLang="en-US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出价策略：由基于转化出价调整为基于质量</a:t>
            </a:r>
            <a:r>
              <a:rPr lang="zh-CN" altLang="en-US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出价</a:t>
            </a:r>
            <a:endParaRPr lang="zh-CN" altLang="en-US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Noto Sans SC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6468110" y="2617470"/>
          <a:ext cx="4349115" cy="1623695"/>
        </p:xfrm>
        <a:graphic>
          <a:graphicData uri="http://schemas.openxmlformats.org/drawingml/2006/table">
            <a:tbl>
              <a:tblPr/>
              <a:tblGrid>
                <a:gridCol w="997585"/>
                <a:gridCol w="869950"/>
                <a:gridCol w="760095"/>
                <a:gridCol w="860425"/>
                <a:gridCol w="861060"/>
              </a:tblGrid>
              <a:tr h="368300">
                <a:tc>
                  <a:txBody>
                    <a:bodyPr/>
                    <a:p>
                      <a:pPr algn="ctr" fontAlgn="ctr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系数出价迁移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安全过件率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CPS</a:t>
                      </a:r>
                      <a:endParaRPr lang="en-US" altLang="zh-CN" sz="1200" b="1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申完量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交易占比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8915"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1.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大于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100%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1" i="0">
                          <a:solidFill>
                            <a:srgbClr val="C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43%</a:t>
                      </a:r>
                      <a:endParaRPr lang="en-US" altLang="zh-CN" sz="1200" b="1" i="0">
                        <a:solidFill>
                          <a:srgbClr val="C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14%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30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7%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209550"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2.50~100%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1" i="0">
                          <a:solidFill>
                            <a:srgbClr val="C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33%</a:t>
                      </a:r>
                      <a:endParaRPr lang="en-US" altLang="zh-CN" sz="1200" b="1" i="0">
                        <a:solidFill>
                          <a:srgbClr val="C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13%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45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9%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08915"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3.0~50%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1" i="0">
                          <a:solidFill>
                            <a:srgbClr val="C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42%</a:t>
                      </a:r>
                      <a:endParaRPr lang="en-US" altLang="zh-CN" sz="1200" b="1" i="0">
                        <a:solidFill>
                          <a:srgbClr val="C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29%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71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12%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09550"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4.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不变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24%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22%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203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32%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08915"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5.-50~0%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19%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24%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353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32%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09550"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6.-100~-50%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23%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28%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84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8%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3" name="表格 2"/>
          <p:cNvGraphicFramePr/>
          <p:nvPr>
            <p:custDataLst>
              <p:tags r:id="rId2"/>
            </p:custDataLst>
          </p:nvPr>
        </p:nvGraphicFramePr>
        <p:xfrm>
          <a:off x="6468110" y="4439920"/>
          <a:ext cx="4349115" cy="1678305"/>
        </p:xfrm>
        <a:graphic>
          <a:graphicData uri="http://schemas.openxmlformats.org/drawingml/2006/table">
            <a:tbl>
              <a:tblPr/>
              <a:tblGrid>
                <a:gridCol w="1019175"/>
                <a:gridCol w="899160"/>
                <a:gridCol w="709295"/>
                <a:gridCol w="861060"/>
                <a:gridCol w="860425"/>
              </a:tblGrid>
              <a:tr h="375285">
                <a:tc>
                  <a:txBody>
                    <a:bodyPr/>
                    <a:p>
                      <a:pPr algn="ctr" fontAlgn="ctr"/>
                      <a:r>
                        <a:rPr lang="en-US" altLang="zh-CN" sz="12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CPA</a:t>
                      </a:r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出价迁移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安全过件率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CPS</a:t>
                      </a:r>
                      <a:endParaRPr lang="en-US" altLang="zh-CN" sz="1200" b="1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申完量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交易占比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7170"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1.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大于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100%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22%</a:t>
                      </a:r>
                      <a:endParaRPr lang="en-US" altLang="zh-CN" sz="1200" b="0" i="0">
                        <a:solidFill>
                          <a:schemeClr val="bg1">
                            <a:lumMod val="75000"/>
                          </a:schemeClr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16%</a:t>
                      </a:r>
                      <a:endParaRPr lang="en-US" altLang="zh-CN" sz="1200" b="0" i="0">
                        <a:solidFill>
                          <a:schemeClr val="bg1">
                            <a:lumMod val="75000"/>
                          </a:schemeClr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9</a:t>
                      </a:r>
                      <a:endParaRPr lang="en-US" altLang="zh-CN" sz="1200" b="0" i="0">
                        <a:solidFill>
                          <a:schemeClr val="bg1">
                            <a:lumMod val="75000"/>
                          </a:schemeClr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1%</a:t>
                      </a:r>
                      <a:endParaRPr lang="en-US" altLang="zh-CN" sz="1200" b="0" i="0">
                        <a:solidFill>
                          <a:schemeClr val="bg1">
                            <a:lumMod val="75000"/>
                          </a:schemeClr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217170"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2.50~100%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10%</a:t>
                      </a:r>
                      <a:endParaRPr lang="en-US" altLang="zh-CN" sz="1200" b="0" i="0">
                        <a:solidFill>
                          <a:schemeClr val="bg1">
                            <a:lumMod val="75000"/>
                          </a:schemeClr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215%</a:t>
                      </a:r>
                      <a:endParaRPr lang="en-US" altLang="zh-CN" sz="1200" b="0" i="0">
                        <a:solidFill>
                          <a:schemeClr val="bg1">
                            <a:lumMod val="75000"/>
                          </a:schemeClr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10</a:t>
                      </a:r>
                      <a:endParaRPr lang="en-US" altLang="zh-CN" sz="1200" b="0" i="0">
                        <a:solidFill>
                          <a:schemeClr val="bg1">
                            <a:lumMod val="75000"/>
                          </a:schemeClr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0%</a:t>
                      </a:r>
                      <a:endParaRPr lang="en-US" altLang="zh-CN" sz="1200" b="0" i="0">
                        <a:solidFill>
                          <a:schemeClr val="bg1">
                            <a:lumMod val="75000"/>
                          </a:schemeClr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17170"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3.0~50%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1" i="0">
                          <a:solidFill>
                            <a:srgbClr val="C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53%</a:t>
                      </a:r>
                      <a:endParaRPr lang="en-US" altLang="zh-CN" sz="1200" b="1" i="0">
                        <a:solidFill>
                          <a:srgbClr val="C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18%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43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18%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17170"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4.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不变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34%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14%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68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28%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17170"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5.-50~0%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27%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18%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158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40%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17170"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6.-100~-50%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24%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14%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63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13%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709295" y="1323340"/>
            <a:ext cx="5287645" cy="11893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l">
              <a:lnSpc>
                <a:spcPct val="150000"/>
              </a:lnSpc>
              <a:buFont typeface="Wingdings" panose="05000000000000000000" charset="0"/>
              <a:buNone/>
              <a:defRPr/>
            </a:pPr>
            <a:r>
              <a:rPr lang="zh-CN" altLang="en-US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①竞争力排序</a:t>
            </a:r>
            <a:r>
              <a:rPr lang="zh-CN" altLang="en-US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加强</a:t>
            </a:r>
            <a:endParaRPr lang="zh-CN" altLang="en-US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Noto Sans SC"/>
            </a:endParaRPr>
          </a:p>
          <a:p>
            <a:pPr marL="742950" lvl="1" indent="-285750" algn="l">
              <a:lnSpc>
                <a:spcPct val="140000"/>
              </a:lnSpc>
              <a:buFont typeface="Arial" panose="020B0604020202090204" pitchFamily="34" charset="0"/>
              <a:buChar char="•"/>
              <a:defRPr/>
            </a:pPr>
            <a:r>
              <a:rPr lang="zh-CN" altLang="en-US" sz="1400">
                <a:latin typeface="华文楷体" panose="02010600040101010101" charset="-122"/>
                <a:ea typeface="华文楷体" panose="02010600040101010101" charset="-122"/>
                <a:sym typeface="+mn-ea"/>
              </a:rPr>
              <a:t>由于</a:t>
            </a:r>
            <a:r>
              <a:rPr lang="en-US" altLang="zh-CN" sz="1400">
                <a:latin typeface="华文楷体" panose="02010600040101010101" charset="-122"/>
                <a:ea typeface="华文楷体" panose="02010600040101010101" charset="-122"/>
                <a:sym typeface="+mn-ea"/>
              </a:rPr>
              <a:t>preA</a:t>
            </a:r>
            <a:r>
              <a:rPr lang="zh-CN" altLang="en-US" sz="1400">
                <a:latin typeface="华文楷体" panose="02010600040101010101" charset="-122"/>
                <a:ea typeface="华文楷体" panose="02010600040101010101" charset="-122"/>
                <a:sym typeface="+mn-ea"/>
              </a:rPr>
              <a:t>模型的安全过件率</a:t>
            </a:r>
            <a:r>
              <a:rPr lang="en-US" altLang="zh-CN" sz="1400">
                <a:latin typeface="华文楷体" panose="02010600040101010101" charset="-122"/>
                <a:ea typeface="华文楷体" panose="02010600040101010101" charset="-122"/>
                <a:sym typeface="+mn-ea"/>
              </a:rPr>
              <a:t>lift</a:t>
            </a:r>
            <a:r>
              <a:rPr lang="zh-CN" altLang="en-US" sz="1400">
                <a:latin typeface="华文楷体" panose="02010600040101010101" charset="-122"/>
                <a:ea typeface="华文楷体" panose="02010600040101010101" charset="-122"/>
                <a:sym typeface="+mn-ea"/>
              </a:rPr>
              <a:t>加强，</a:t>
            </a:r>
            <a:endParaRPr lang="zh-CN" altLang="en-US" sz="1400">
              <a:latin typeface="华文楷体" panose="02010600040101010101" charset="-122"/>
              <a:ea typeface="华文楷体" panose="02010600040101010101" charset="-122"/>
              <a:sym typeface="+mn-ea"/>
            </a:endParaRPr>
          </a:p>
          <a:p>
            <a:pPr marL="742950" lvl="1" indent="-285750" algn="l">
              <a:lnSpc>
                <a:spcPct val="140000"/>
              </a:lnSpc>
              <a:buFont typeface="Arial" panose="020B0604020202090204" pitchFamily="34" charset="0"/>
              <a:buChar char="•"/>
              <a:defRPr/>
            </a:pPr>
            <a:r>
              <a:rPr lang="zh-CN" altLang="en-US" sz="1400">
                <a:latin typeface="华文楷体" panose="02010600040101010101" charset="-122"/>
                <a:ea typeface="华文楷体" panose="02010600040101010101" charset="-122"/>
                <a:sym typeface="+mn-ea"/>
              </a:rPr>
              <a:t>因此单维出价方式</a:t>
            </a:r>
            <a:r>
              <a:rPr lang="en-US" altLang="zh-CN" sz="1400">
                <a:latin typeface="华文楷体" panose="02010600040101010101" charset="-122"/>
                <a:ea typeface="华文楷体" panose="02010600040101010101" charset="-122"/>
                <a:sym typeface="+mn-ea"/>
              </a:rPr>
              <a:t>by</a:t>
            </a:r>
            <a:r>
              <a:rPr lang="zh-CN" altLang="en-US" sz="1400">
                <a:latin typeface="华文楷体" panose="02010600040101010101" charset="-122"/>
                <a:ea typeface="华文楷体" panose="02010600040101010101" charset="-122"/>
                <a:sym typeface="+mn-ea"/>
              </a:rPr>
              <a:t>质量维度的</a:t>
            </a:r>
            <a:r>
              <a:rPr lang="zh-CN" altLang="en-US" sz="1400" b="1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rPr>
              <a:t>竞争力排序加强</a:t>
            </a:r>
            <a:endParaRPr lang="zh-CN" altLang="en-US" sz="1400" b="1">
              <a:solidFill>
                <a:srgbClr val="C0000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797675" y="1289050"/>
            <a:ext cx="4221480" cy="11995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l">
              <a:lnSpc>
                <a:spcPct val="150000"/>
              </a:lnSpc>
              <a:buFont typeface="Wingdings" panose="05000000000000000000" charset="0"/>
              <a:buNone/>
              <a:defRPr/>
            </a:pPr>
            <a:r>
              <a:rPr lang="zh-CN" altLang="en-US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②出价系数迁移符合</a:t>
            </a:r>
            <a:r>
              <a:rPr lang="zh-CN" altLang="en-US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预期</a:t>
            </a:r>
            <a:endParaRPr lang="zh-CN" altLang="en-US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Noto Sans SC"/>
            </a:endParaRPr>
          </a:p>
          <a:p>
            <a:pPr marL="742950" lvl="1" indent="-285750" algn="l">
              <a:lnSpc>
                <a:spcPct val="150000"/>
              </a:lnSpc>
              <a:buFont typeface="Arial" panose="020B0604020202090204" pitchFamily="34" charset="0"/>
              <a:buChar char="•"/>
              <a:defRPr/>
            </a:pPr>
            <a:r>
              <a:rPr lang="zh-CN" altLang="en-US" sz="1400">
                <a:latin typeface="华文楷体" panose="02010600040101010101" charset="-122"/>
                <a:ea typeface="华文楷体" panose="02010600040101010101" charset="-122"/>
                <a:sym typeface="+mn-ea"/>
              </a:rPr>
              <a:t>提价的为成本低质量高的用户</a:t>
            </a:r>
            <a:endParaRPr lang="zh-CN" altLang="en-US" sz="1400">
              <a:latin typeface="华文楷体" panose="02010600040101010101" charset="-122"/>
              <a:ea typeface="华文楷体" panose="02010600040101010101" charset="-122"/>
              <a:sym typeface="+mn-ea"/>
            </a:endParaRPr>
          </a:p>
          <a:p>
            <a:pPr marL="742950" lvl="1" indent="-285750" algn="l">
              <a:lnSpc>
                <a:spcPct val="150000"/>
              </a:lnSpc>
              <a:buFont typeface="Arial" panose="020B0604020202090204" pitchFamily="34" charset="0"/>
              <a:buChar char="•"/>
              <a:defRPr/>
            </a:pPr>
            <a:r>
              <a:rPr lang="zh-CN" altLang="en-US" sz="1400">
                <a:latin typeface="华文楷体" panose="02010600040101010101" charset="-122"/>
                <a:ea typeface="华文楷体" panose="02010600040101010101" charset="-122"/>
                <a:sym typeface="+mn-ea"/>
              </a:rPr>
              <a:t>降价的为成本高质量低的用户</a:t>
            </a:r>
            <a:endParaRPr lang="zh-CN" altLang="en-US" sz="1400">
              <a:latin typeface="华文楷体" panose="02010600040101010101" charset="-122"/>
              <a:ea typeface="华文楷体" panose="02010600040101010101" charset="-122"/>
            </a:endParaRPr>
          </a:p>
          <a:p>
            <a:pPr marL="742950" lvl="1" indent="-285750" algn="l">
              <a:lnSpc>
                <a:spcPct val="170000"/>
              </a:lnSpc>
              <a:buFont typeface="Arial" panose="020B0604020202090204" pitchFamily="34" charset="0"/>
              <a:buChar char="•"/>
              <a:defRPr/>
            </a:pPr>
            <a:endParaRPr lang="zh-CN" altLang="en-US" sz="1400" b="1">
              <a:solidFill>
                <a:srgbClr val="C0000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rcRect r="33211" b="-289"/>
          <a:stretch>
            <a:fillRect/>
          </a:stretch>
        </p:blipFill>
        <p:spPr>
          <a:xfrm>
            <a:off x="803275" y="2988945"/>
            <a:ext cx="4639310" cy="25723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/>
          <p:nvPr>
            <p:ph type="title"/>
          </p:nvPr>
        </p:nvSpPr>
        <p:spPr/>
        <p:txBody>
          <a:bodyPr/>
          <a:p>
            <a:r>
              <a:rPr kumimoji="1" lang="zh-CN" altLang="en-US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四</a:t>
            </a:r>
            <a:r>
              <a:rPr kumimoji="1" lang="en-US" altLang="zh-CN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.RTAV9</a:t>
            </a:r>
            <a:r>
              <a:rPr kumimoji="1" lang="zh-CN" altLang="en-US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迭代—</a:t>
            </a:r>
            <a:r>
              <a:rPr kumimoji="1" lang="zh-CN" altLang="en-US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出价策略</a:t>
            </a:r>
            <a:endParaRPr kumimoji="1" lang="zh-CN" altLang="en-US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graphicFrame>
        <p:nvGraphicFramePr>
          <p:cNvPr id="30" name="表格 29"/>
          <p:cNvGraphicFramePr/>
          <p:nvPr>
            <p:custDataLst>
              <p:tags r:id="rId3"/>
            </p:custDataLst>
          </p:nvPr>
        </p:nvGraphicFramePr>
        <p:xfrm>
          <a:off x="1054100" y="1885950"/>
          <a:ext cx="4038600" cy="823595"/>
        </p:xfrm>
        <a:graphic>
          <a:graphicData uri="http://schemas.openxmlformats.org/drawingml/2006/table">
            <a:tbl>
              <a:tblPr/>
              <a:tblGrid>
                <a:gridCol w="1364615"/>
                <a:gridCol w="1419225"/>
                <a:gridCol w="1254760"/>
              </a:tblGrid>
              <a:tr h="210185">
                <a:tc>
                  <a:txBody>
                    <a:bodyPr/>
                    <a:p>
                      <a:pPr algn="ctr" fontAlgn="ctr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系数出价预估效果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安全过件率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CPS</a:t>
                      </a:r>
                      <a:endParaRPr lang="en-US" altLang="zh-CN" sz="1200" b="1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0185">
                <a:tc>
                  <a:txBody>
                    <a:bodyPr/>
                    <a:p>
                      <a:pPr algn="ctr" fontAlgn="ctr"/>
                      <a:r>
                        <a:rPr lang="en-US" altLang="zh-CN" sz="12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v9</a:t>
                      </a:r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实验组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23%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17.50%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209550">
                <a:tc>
                  <a:txBody>
                    <a:bodyPr/>
                    <a:p>
                      <a:pPr algn="ctr" fontAlgn="ctr"/>
                      <a:r>
                        <a:rPr lang="en-US" altLang="zh-CN" sz="12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v8</a:t>
                      </a:r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实验组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17%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21.20%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3675"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Δ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C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6%</a:t>
                      </a:r>
                      <a:endParaRPr lang="en-US" altLang="zh-CN" sz="1100" b="1" i="0">
                        <a:solidFill>
                          <a:srgbClr val="C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C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-4%</a:t>
                      </a:r>
                      <a:endParaRPr lang="en-US" altLang="zh-CN" sz="1100" b="1" i="0">
                        <a:solidFill>
                          <a:srgbClr val="C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31" name="表格 30"/>
          <p:cNvGraphicFramePr/>
          <p:nvPr>
            <p:custDataLst>
              <p:tags r:id="rId4"/>
            </p:custDataLst>
          </p:nvPr>
        </p:nvGraphicFramePr>
        <p:xfrm>
          <a:off x="6438900" y="1870710"/>
          <a:ext cx="4032885" cy="830580"/>
        </p:xfrm>
        <a:graphic>
          <a:graphicData uri="http://schemas.openxmlformats.org/drawingml/2006/table">
            <a:tbl>
              <a:tblPr/>
              <a:tblGrid>
                <a:gridCol w="1362710"/>
                <a:gridCol w="1417320"/>
                <a:gridCol w="1252855"/>
              </a:tblGrid>
              <a:tr h="207645">
                <a:tc>
                  <a:txBody>
                    <a:bodyPr/>
                    <a:p>
                      <a:pPr algn="ctr" fontAlgn="ctr"/>
                      <a:r>
                        <a:rPr lang="en-US" altLang="zh-CN" sz="12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CPA</a:t>
                      </a:r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出价预估效果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安全过件率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CPS</a:t>
                      </a:r>
                      <a:endParaRPr lang="en-US" altLang="zh-CN" sz="1200" b="1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7645">
                <a:tc>
                  <a:txBody>
                    <a:bodyPr/>
                    <a:p>
                      <a:pPr algn="ctr" fontAlgn="ctr"/>
                      <a:r>
                        <a:rPr lang="en-US" altLang="zh-CN" sz="12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v9</a:t>
                      </a:r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实验组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29%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18.90%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207645">
                <a:tc>
                  <a:txBody>
                    <a:bodyPr/>
                    <a:p>
                      <a:pPr algn="ctr" fontAlgn="ctr"/>
                      <a:r>
                        <a:rPr lang="en-US" altLang="zh-CN" sz="1200" b="1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sym typeface="+mn-ea"/>
                        </a:rPr>
                        <a:t>v8</a:t>
                      </a:r>
                      <a:r>
                        <a:rPr lang="zh-CN" altLang="en-US" sz="1200" b="1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sym typeface="+mn-ea"/>
                        </a:rPr>
                        <a:t>实验组</a:t>
                      </a:r>
                      <a:endParaRPr lang="zh-CN" altLang="en-US" sz="1200" b="1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  <a:sym typeface="+mn-ea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25%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20.60%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7645"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Δ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C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4%</a:t>
                      </a:r>
                      <a:endParaRPr lang="en-US" altLang="zh-CN" sz="1100" b="1" i="0">
                        <a:solidFill>
                          <a:srgbClr val="C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C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-2%</a:t>
                      </a:r>
                      <a:endParaRPr lang="en-US" altLang="zh-CN" sz="1100" b="1" i="0">
                        <a:solidFill>
                          <a:srgbClr val="C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2" name="文本框 31"/>
          <p:cNvSpPr txBox="1"/>
          <p:nvPr/>
        </p:nvSpPr>
        <p:spPr>
          <a:xfrm>
            <a:off x="782320" y="815975"/>
            <a:ext cx="10085070" cy="875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 algn="l">
              <a:lnSpc>
                <a:spcPct val="150000"/>
              </a:lnSpc>
              <a:buFont typeface="Wingdings" panose="05000000000000000000" charset="0"/>
              <a:buChar char="Ø"/>
              <a:defRPr/>
            </a:pPr>
            <a:r>
              <a:rPr lang="zh-CN" altLang="en-US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上线前效果预估：两种出价方式</a:t>
            </a:r>
            <a:r>
              <a:rPr lang="zh-CN" altLang="en-US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实验组安全过件率均上涨</a:t>
            </a:r>
            <a:r>
              <a:rPr lang="en-US" altLang="zh-CN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5%</a:t>
            </a:r>
            <a:r>
              <a:rPr lang="zh-CN" altLang="en-US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左右，同时</a:t>
            </a:r>
            <a:r>
              <a:rPr lang="en-US" altLang="zh-CN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cps</a:t>
            </a:r>
            <a:r>
              <a:rPr lang="zh-CN" altLang="en-US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维持</a:t>
            </a:r>
            <a:r>
              <a:rPr lang="zh-CN" altLang="en-US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不变</a:t>
            </a:r>
            <a:endParaRPr lang="zh-CN" altLang="en-US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Noto Sans SC"/>
            </a:endParaRPr>
          </a:p>
          <a:p>
            <a:pPr marL="742950" lvl="1" indent="-285750" algn="l">
              <a:lnSpc>
                <a:spcPct val="150000"/>
              </a:lnSpc>
              <a:buFont typeface="Arial" panose="020B0604020202090204" pitchFamily="34" charset="0"/>
              <a:buChar char="•"/>
              <a:defRPr/>
            </a:pPr>
            <a:r>
              <a:rPr lang="zh-CN" altLang="en-US" sz="16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减去排除策略的增益，预估</a:t>
            </a:r>
            <a:r>
              <a:rPr lang="zh-CN" altLang="en-US" sz="1600" b="1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出价策略带来</a:t>
            </a:r>
            <a:r>
              <a:rPr lang="en-US" altLang="zh-CN" sz="1600" b="1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2%</a:t>
            </a:r>
            <a:r>
              <a:rPr lang="zh-CN" altLang="en-US" sz="1600" b="1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左右安全过件率增益</a:t>
            </a:r>
            <a:endParaRPr lang="zh-CN" altLang="en-US" sz="1600" b="1">
              <a:solidFill>
                <a:srgbClr val="C0000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Noto Sans SC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728980" y="2713990"/>
            <a:ext cx="10256520" cy="9017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285750" indent="-285750" algn="l">
              <a:lnSpc>
                <a:spcPct val="150000"/>
              </a:lnSpc>
              <a:buFont typeface="Wingdings" panose="05000000000000000000" charset="0"/>
              <a:buChar char="Ø"/>
              <a:defRPr/>
            </a:pPr>
            <a:r>
              <a:rPr lang="zh-CN" altLang="en-US" sz="16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上线后和现状</a:t>
            </a:r>
            <a:r>
              <a:rPr lang="en-US" altLang="zh-CN" sz="16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v8</a:t>
            </a:r>
            <a:r>
              <a:rPr lang="zh-CN" altLang="en-US" sz="16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实验组的实际对比：</a:t>
            </a:r>
            <a:r>
              <a:rPr lang="zh-CN" altLang="en-US" sz="1200" i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（由于</a:t>
            </a:r>
            <a:r>
              <a:rPr lang="en-US" altLang="zh-CN" sz="1200" i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v8</a:t>
            </a:r>
            <a:r>
              <a:rPr lang="zh-CN" altLang="en-US" sz="1200" i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出价策略和</a:t>
            </a:r>
            <a:r>
              <a:rPr lang="en-US" altLang="zh-CN" sz="1200" i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v9</a:t>
            </a:r>
            <a:r>
              <a:rPr lang="zh-CN" altLang="en-US" sz="1200" i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出价策略同时在线，因此可以直接对比）</a:t>
            </a:r>
            <a:endParaRPr lang="zh-CN" altLang="en-US" sz="1200" i="1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Noto Sans SC"/>
            </a:endParaRPr>
          </a:p>
          <a:p>
            <a:pPr marL="800100" lvl="1" indent="-342900" algn="l">
              <a:lnSpc>
                <a:spcPct val="150000"/>
              </a:lnSpc>
              <a:buFont typeface="Arial" panose="020B0604020202090204" pitchFamily="34" charset="0"/>
              <a:buChar char="•"/>
              <a:defRPr/>
            </a:pPr>
            <a:r>
              <a:rPr lang="zh-CN" altLang="en-US" sz="14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两种出价方式实验组安全过件率均上涨</a:t>
            </a:r>
            <a:r>
              <a:rPr lang="en-US" altLang="zh-CN" sz="14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4%</a:t>
            </a:r>
            <a:r>
              <a:rPr lang="zh-CN" altLang="en-US" sz="14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左右</a:t>
            </a:r>
            <a:r>
              <a:rPr lang="zh-CN" altLang="en-US" sz="14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，减去排除策略增益后</a:t>
            </a:r>
            <a:r>
              <a:rPr lang="zh-CN" altLang="en-US" sz="1400" b="1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出价策略贡献</a:t>
            </a:r>
            <a:r>
              <a:rPr lang="en-US" altLang="zh-CN" sz="1400" b="1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1%Δ</a:t>
            </a:r>
            <a:r>
              <a:rPr lang="zh-CN" altLang="en-US" sz="14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；</a:t>
            </a:r>
            <a:r>
              <a:rPr lang="en-US" altLang="zh-CN" sz="1400" i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cps</a:t>
            </a:r>
            <a:r>
              <a:rPr lang="zh-CN" altLang="en-US" sz="1400" i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样本较少持续观测中</a:t>
            </a:r>
            <a:endParaRPr lang="zh-CN" altLang="en-US" sz="1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Noto Sans SC"/>
            </a:endParaRPr>
          </a:p>
          <a:p>
            <a:pPr marL="742950" lvl="1" indent="-285750" algn="l">
              <a:lnSpc>
                <a:spcPct val="200000"/>
              </a:lnSpc>
              <a:buFont typeface="Arial" panose="020B0604020202090204" pitchFamily="34" charset="0"/>
              <a:buChar char="•"/>
              <a:defRPr/>
            </a:pPr>
            <a:endParaRPr lang="zh-CN" altLang="en-US" sz="1400" b="1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Noto Sans SC"/>
            </a:endParaRPr>
          </a:p>
        </p:txBody>
      </p:sp>
      <p:graphicFrame>
        <p:nvGraphicFramePr>
          <p:cNvPr id="34" name="图表 33"/>
          <p:cNvGraphicFramePr/>
          <p:nvPr/>
        </p:nvGraphicFramePr>
        <p:xfrm>
          <a:off x="1054100" y="3582670"/>
          <a:ext cx="5156835" cy="28073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cxnSp>
        <p:nvCxnSpPr>
          <p:cNvPr id="35" name="直接箭头连接符 34"/>
          <p:cNvCxnSpPr>
            <a:endCxn id="36" idx="2"/>
          </p:cNvCxnSpPr>
          <p:nvPr/>
        </p:nvCxnSpPr>
        <p:spPr>
          <a:xfrm flipV="1">
            <a:off x="2306955" y="4255135"/>
            <a:ext cx="446405" cy="209550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1801495" y="3948430"/>
            <a:ext cx="19030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安全过件率</a:t>
            </a:r>
            <a:r>
              <a:rPr lang="en-US" altLang="zh-CN" sz="1400" b="1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+4%</a:t>
            </a:r>
            <a:endParaRPr lang="en-US" altLang="zh-CN" sz="1400" b="1">
              <a:solidFill>
                <a:srgbClr val="C0000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cxnSp>
        <p:nvCxnSpPr>
          <p:cNvPr id="37" name="直接箭头连接符 36"/>
          <p:cNvCxnSpPr/>
          <p:nvPr/>
        </p:nvCxnSpPr>
        <p:spPr>
          <a:xfrm>
            <a:off x="4572635" y="4591685"/>
            <a:ext cx="520065" cy="204470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4381500" y="4284980"/>
            <a:ext cx="9029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CPS -2%</a:t>
            </a:r>
            <a:endParaRPr lang="en-US" altLang="zh-CN" sz="1400" b="1">
              <a:solidFill>
                <a:srgbClr val="C0000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6912610" y="3978275"/>
            <a:ext cx="15982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安全过件率</a:t>
            </a:r>
            <a:r>
              <a:rPr lang="en-US" altLang="zh-CN" sz="1400" b="1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+3%</a:t>
            </a:r>
            <a:endParaRPr lang="en-US" altLang="zh-CN" sz="1400" b="1">
              <a:solidFill>
                <a:srgbClr val="C0000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9568815" y="4464685"/>
            <a:ext cx="9029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CPS +5%</a:t>
            </a:r>
            <a:endParaRPr lang="en-US" altLang="zh-CN" sz="1400" b="1">
              <a:solidFill>
                <a:srgbClr val="C0000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graphicFrame>
        <p:nvGraphicFramePr>
          <p:cNvPr id="41" name="图表 40"/>
          <p:cNvGraphicFramePr/>
          <p:nvPr/>
        </p:nvGraphicFramePr>
        <p:xfrm>
          <a:off x="6261100" y="3583305"/>
          <a:ext cx="4860290" cy="2806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2" name="矩形 41"/>
          <p:cNvSpPr/>
          <p:nvPr/>
        </p:nvSpPr>
        <p:spPr>
          <a:xfrm>
            <a:off x="177800" y="6388100"/>
            <a:ext cx="10005695" cy="275590"/>
          </a:xfrm>
          <a:prstGeom prst="rect">
            <a:avLst/>
          </a:prstGeom>
          <a:gradFill>
            <a:gsLst>
              <a:gs pos="0">
                <a:srgbClr val="E30000">
                  <a:alpha val="30000"/>
                </a:srgbClr>
              </a:gs>
              <a:gs pos="100000">
                <a:srgbClr val="760303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endParaRPr kumimoji="1" lang="zh-CN" altLang="en-US" sz="120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>
            <p:custDataLst>
              <p:tags r:id="rId1"/>
            </p:custDataLst>
          </p:nvPr>
        </p:nvSpPr>
        <p:spPr>
          <a:xfrm>
            <a:off x="194310" y="6212840"/>
            <a:ext cx="10005695" cy="275590"/>
          </a:xfrm>
          <a:prstGeom prst="rect">
            <a:avLst/>
          </a:prstGeom>
          <a:gradFill>
            <a:gsLst>
              <a:gs pos="0">
                <a:srgbClr val="E30000">
                  <a:alpha val="30000"/>
                </a:srgbClr>
              </a:gs>
              <a:gs pos="100000">
                <a:srgbClr val="760303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endParaRPr lang="zh-CN" altLang="en-US" sz="1200">
              <a:solidFill>
                <a:schemeClr val="bg1"/>
              </a:solidFill>
              <a:latin typeface="华文楷体" panose="02010600040101010101" charset="-122"/>
              <a:ea typeface="华文楷体" panose="02010600040101010101" charset="-122"/>
              <a:sym typeface="+mn-ea"/>
            </a:endParaRPr>
          </a:p>
        </p:txBody>
      </p:sp>
      <p:sp>
        <p:nvSpPr>
          <p:cNvPr id="24" name="标题 18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401955" y="162560"/>
            <a:ext cx="11336020" cy="56134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楷体" panose="02010609060101010101" pitchFamily="49" charset="-122"/>
                <a:ea typeface="楷体" panose="02010609060101010101" pitchFamily="49" charset="-122"/>
                <a:cs typeface="+mj-cs"/>
              </a:defRPr>
            </a:lvl1pPr>
          </a:lstStyle>
          <a:p>
            <a:r>
              <a:rPr lang="zh-CN" altLang="en-US" sz="21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一</a:t>
            </a:r>
            <a:r>
              <a:rPr lang="en-US" altLang="zh-CN" sz="21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.</a:t>
            </a:r>
            <a:r>
              <a:rPr lang="zh-CN" altLang="en-US" sz="21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抖音迭代总览—动作</a:t>
            </a:r>
            <a:r>
              <a:rPr lang="zh-CN" altLang="en-US" sz="21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概述：</a:t>
            </a:r>
            <a:r>
              <a:rPr lang="zh-CN" altLang="en-US" sz="2100" b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完成从“规模优先”向</a:t>
            </a:r>
            <a:r>
              <a:rPr lang="en-US" altLang="zh-CN" sz="2100" b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“</a:t>
            </a:r>
            <a:r>
              <a:rPr lang="zh-CN" altLang="en-US" sz="2100" b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质量优先</a:t>
            </a:r>
            <a:r>
              <a:rPr lang="en-US" altLang="zh-CN" sz="2100" b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”</a:t>
            </a:r>
            <a:r>
              <a:rPr lang="zh-CN" altLang="en-US" sz="2100" b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的</a:t>
            </a:r>
            <a:r>
              <a:rPr lang="zh-CN" altLang="en-US" sz="2100" b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切换</a:t>
            </a:r>
            <a:endParaRPr lang="zh-CN" altLang="en-US" sz="2100" b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graphicFrame>
        <p:nvGraphicFramePr>
          <p:cNvPr id="91" name="表格 90"/>
          <p:cNvGraphicFramePr/>
          <p:nvPr>
            <p:custDataLst>
              <p:tags r:id="rId3"/>
            </p:custDataLst>
          </p:nvPr>
        </p:nvGraphicFramePr>
        <p:xfrm>
          <a:off x="637540" y="1094105"/>
          <a:ext cx="10652760" cy="4840605"/>
        </p:xfrm>
        <a:graphic>
          <a:graphicData uri="http://schemas.openxmlformats.org/drawingml/2006/table">
            <a:tbl>
              <a:tblPr/>
              <a:tblGrid>
                <a:gridCol w="892175"/>
                <a:gridCol w="1951990"/>
                <a:gridCol w="1951990"/>
                <a:gridCol w="1952625"/>
                <a:gridCol w="1951990"/>
                <a:gridCol w="1951990"/>
              </a:tblGrid>
              <a:tr h="735965"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动作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1125</a:t>
                      </a:r>
                      <a:br>
                        <a:rPr lang="en-US" altLang="zh-CN" sz="14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</a:br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RTAV8</a:t>
                      </a:r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上线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1223</a:t>
                      </a:r>
                      <a:br>
                        <a:rPr lang="en-US" altLang="zh-CN" sz="14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</a:br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RTAV8</a:t>
                      </a:r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加排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1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  <a:sym typeface="+mn-ea"/>
                        </a:rPr>
                        <a:t>1226</a:t>
                      </a:r>
                      <a:br>
                        <a:rPr lang="en-US" altLang="zh-CN" sz="14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</a:br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对照组</a:t>
                      </a:r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加排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0106</a:t>
                      </a:r>
                      <a:br>
                        <a:rPr lang="en-US" altLang="zh-CN" sz="14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</a:br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 </a:t>
                      </a:r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收回传</a:t>
                      </a:r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20%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0119</a:t>
                      </a:r>
                      <a:br>
                        <a:rPr lang="en-US" altLang="zh-CN" sz="14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</a:br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 RTAV9</a:t>
                      </a:r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迭代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406525"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调整逻辑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  <a:sym typeface="+mn-ea"/>
                        </a:rPr>
                        <a:t>模型排序提升，</a:t>
                      </a:r>
                      <a:br>
                        <a:rPr lang="zh-CN" altLang="en-US" sz="140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  <a:sym typeface="+mn-ea"/>
                        </a:rPr>
                      </a:br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  <a:sym typeface="+mn-ea"/>
                        </a:rPr>
                        <a:t>进行常规迭代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安全过件率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7~10%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的用户整体转化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低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  <a:sym typeface="+mn-ea"/>
                        </a:rPr>
                        <a:t>排未排客群过件率稳定低，且申完占大盘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  <a:sym typeface="+mn-ea"/>
                        </a:rPr>
                        <a:t>8%</a:t>
                      </a:r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  <a:sym typeface="+mn-ea"/>
                        </a:rPr>
                        <a:t>，影响大盘质量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通过回传更好的用户样本让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媒体学习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模型排序提升，</a:t>
                      </a:r>
                      <a:br>
                        <a:rPr lang="zh-CN" altLang="en-US" sz="14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</a:b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进行常规迭代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014095"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动作简介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  <a:sym typeface="+mn-ea"/>
                        </a:rPr>
                        <a:t>排除比例对齐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  <a:sym typeface="+mn-ea"/>
                        </a:rPr>
                        <a:t>V7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  <a:sym typeface="+mn-ea"/>
                        </a:rPr>
                        <a:t>将排除边界由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  <a:sym typeface="+mn-ea"/>
                        </a:rPr>
                        <a:t>7%</a:t>
                      </a:r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  <a:sym typeface="+mn-ea"/>
                        </a:rPr>
                        <a:t>调整至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  <a:sym typeface="+mn-ea"/>
                        </a:rPr>
                        <a:t>10%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对照组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下线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新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cid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的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账户额度维度收紧回传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条件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排除比例对齐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V8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84020"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上线效果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符合预期</a:t>
                      </a:r>
                      <a:br>
                        <a:rPr lang="zh-CN" altLang="en-US" sz="14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</a:b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质量提升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7%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sz="1400" b="1" i="0">
                          <a:solidFill>
                            <a:srgbClr val="C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不及预期</a:t>
                      </a:r>
                      <a:endParaRPr lang="zh-CN" altLang="en-US" sz="1400" b="1" i="0">
                        <a:solidFill>
                          <a:srgbClr val="C00000"/>
                        </a:solidFill>
                        <a:latin typeface="华文楷体" panose="02010600040101010101" charset="-122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对比上版本变化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不显著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符合预期</a:t>
                      </a:r>
                      <a:br>
                        <a:rPr lang="zh-CN" altLang="en-US" sz="14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</a:b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质量提升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  <a:sym typeface="+mn-ea"/>
                        </a:rPr>
                        <a:t>+4%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待回收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sz="1400" b="1" i="0">
                          <a:solidFill>
                            <a:srgbClr val="C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不及预期</a:t>
                      </a:r>
                      <a:endParaRPr lang="zh-CN" altLang="en-US" sz="1400" b="1" i="0">
                        <a:solidFill>
                          <a:srgbClr val="C00000"/>
                        </a:solidFill>
                        <a:latin typeface="华文楷体" panose="02010600040101010101" charset="-122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指标变化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</a:rPr>
                        <a:t>负向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2" name="直接箭头连接符 1"/>
          <p:cNvCxnSpPr/>
          <p:nvPr/>
        </p:nvCxnSpPr>
        <p:spPr>
          <a:xfrm>
            <a:off x="848995" y="1783715"/>
            <a:ext cx="10440670" cy="75565"/>
          </a:xfrm>
          <a:prstGeom prst="straightConnector1">
            <a:avLst/>
          </a:prstGeom>
          <a:ln w="25400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/>
          <p:cNvGraphicFramePr/>
          <p:nvPr/>
        </p:nvGraphicFramePr>
        <p:xfrm>
          <a:off x="518160" y="1576070"/>
          <a:ext cx="10934700" cy="48094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" name="标题 18"/>
          <p:cNvSpPr>
            <a:spLocks noGrp="1"/>
          </p:cNvSpPr>
          <p:nvPr/>
        </p:nvSpPr>
        <p:spPr>
          <a:xfrm>
            <a:off x="401955" y="162560"/>
            <a:ext cx="11550015" cy="56134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楷体" panose="02010609060101010101" pitchFamily="49" charset="-122"/>
                <a:ea typeface="楷体" panose="02010609060101010101" pitchFamily="49" charset="-122"/>
                <a:cs typeface="+mj-cs"/>
              </a:defRPr>
            </a:lvl1pPr>
          </a:lstStyle>
          <a:p>
            <a:r>
              <a:rPr lang="zh-CN" altLang="en-US" sz="21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一</a:t>
            </a:r>
            <a:r>
              <a:rPr lang="en-US" altLang="zh-CN" sz="21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.</a:t>
            </a:r>
            <a:r>
              <a:rPr lang="zh-CN" altLang="en-US" sz="21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抖音迭代总览—结果</a:t>
            </a:r>
            <a:r>
              <a:rPr lang="zh-CN" altLang="en-US" sz="21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表现</a:t>
            </a:r>
            <a:endParaRPr lang="zh-CN" altLang="en-US" sz="2100" b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20" name="矩形 19"/>
          <p:cNvSpPr/>
          <p:nvPr>
            <p:custDataLst>
              <p:tags r:id="rId2"/>
            </p:custDataLst>
          </p:nvPr>
        </p:nvSpPr>
        <p:spPr>
          <a:xfrm>
            <a:off x="194310" y="6379845"/>
            <a:ext cx="10005695" cy="275590"/>
          </a:xfrm>
          <a:prstGeom prst="rect">
            <a:avLst/>
          </a:prstGeom>
          <a:gradFill>
            <a:gsLst>
              <a:gs pos="0">
                <a:srgbClr val="E30000">
                  <a:alpha val="30000"/>
                </a:srgbClr>
              </a:gs>
              <a:gs pos="100000">
                <a:srgbClr val="760303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endParaRPr lang="zh-CN" altLang="en-US" sz="1200">
              <a:solidFill>
                <a:schemeClr val="bg1"/>
              </a:solidFill>
              <a:latin typeface="华文楷体" panose="02010600040101010101" charset="-122"/>
              <a:ea typeface="华文楷体" panose="02010600040101010101" charset="-122"/>
              <a:sym typeface="+mn-ea"/>
            </a:endParaRPr>
          </a:p>
        </p:txBody>
      </p:sp>
      <p:cxnSp>
        <p:nvCxnSpPr>
          <p:cNvPr id="23" name="直接连接符 22"/>
          <p:cNvCxnSpPr/>
          <p:nvPr/>
        </p:nvCxnSpPr>
        <p:spPr>
          <a:xfrm>
            <a:off x="7727315" y="3486785"/>
            <a:ext cx="0" cy="1241425"/>
          </a:xfrm>
          <a:prstGeom prst="line">
            <a:avLst/>
          </a:prstGeom>
          <a:ln w="6350" cap="flat" cmpd="sng" algn="ctr">
            <a:solidFill>
              <a:srgbClr val="C00000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5363210" y="2816860"/>
            <a:ext cx="0" cy="1708785"/>
          </a:xfrm>
          <a:prstGeom prst="line">
            <a:avLst/>
          </a:prstGeom>
          <a:ln w="6350" cap="flat" cmpd="sng" algn="ctr">
            <a:solidFill>
              <a:srgbClr val="C00000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9504680" y="2343785"/>
            <a:ext cx="1637665" cy="27559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algn="l"/>
            <a:r>
              <a:rPr kumimoji="1" lang="en-US" altLang="zh-CN" sz="1200" b="1" dirty="0" smtClean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0119 RTAV9</a:t>
            </a:r>
            <a:r>
              <a:rPr kumimoji="1" lang="zh-CN" altLang="en-US" sz="1200" b="1" dirty="0" smtClean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迭代</a:t>
            </a:r>
            <a:endParaRPr kumimoji="1" lang="zh-CN" altLang="en-US" sz="1200" b="1" dirty="0" smtClean="0">
              <a:solidFill>
                <a:srgbClr val="C0000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670425" y="2436495"/>
            <a:ext cx="1384935" cy="27559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algn="l"/>
            <a:r>
              <a:rPr kumimoji="1" lang="en-US" altLang="zh-CN" sz="1200" b="1" dirty="0" smtClean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1125 RTA V8</a:t>
            </a:r>
            <a:r>
              <a:rPr kumimoji="1" lang="zh-CN" altLang="en-US" sz="1200" b="1" dirty="0" smtClean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上线</a:t>
            </a:r>
            <a:endParaRPr kumimoji="1" lang="zh-CN" altLang="en-US" sz="1200" b="1" dirty="0" smtClean="0">
              <a:solidFill>
                <a:srgbClr val="C0000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401955" y="890270"/>
            <a:ext cx="11215370" cy="36830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algn="l"/>
            <a:r>
              <a:rPr lang="zh-CN" altLang="en-US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动作调整前后，大盘质量有</a:t>
            </a:r>
            <a:r>
              <a:rPr lang="zh-CN" altLang="en-US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提升，但有部分无动作节点质量</a:t>
            </a:r>
            <a:r>
              <a:rPr lang="zh-CN" altLang="en-US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下降</a:t>
            </a:r>
            <a:endParaRPr lang="zh-CN" altLang="en-US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786880" y="3026410"/>
            <a:ext cx="1589405" cy="502920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p>
            <a:pPr algn="l"/>
            <a:r>
              <a:rPr kumimoji="1" lang="en-US" altLang="zh-CN" sz="1200" b="1" dirty="0" smtClean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1223 RTA V8</a:t>
            </a:r>
            <a:r>
              <a:rPr kumimoji="1" lang="zh-CN" altLang="en-US" sz="1200" b="1" dirty="0" smtClean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加排</a:t>
            </a:r>
            <a:endParaRPr kumimoji="1" lang="en-US" altLang="zh-CN" sz="1200" b="1" dirty="0" smtClean="0">
              <a:solidFill>
                <a:srgbClr val="C0000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algn="l"/>
            <a:r>
              <a:rPr kumimoji="1" lang="en-US" altLang="zh-CN" sz="1200" b="1" dirty="0" smtClean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1226 </a:t>
            </a:r>
            <a:r>
              <a:rPr kumimoji="1" lang="zh-CN" altLang="en-US" sz="1200" b="1" dirty="0" smtClean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对照组加</a:t>
            </a:r>
            <a:r>
              <a:rPr kumimoji="1" lang="zh-CN" altLang="en-US" sz="1200" b="1" dirty="0" smtClean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排</a:t>
            </a:r>
            <a:endParaRPr kumimoji="1" lang="zh-CN" altLang="en-US" sz="1200" b="1" dirty="0" smtClean="0">
              <a:solidFill>
                <a:srgbClr val="C0000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10200005" y="2754630"/>
            <a:ext cx="0" cy="1973580"/>
          </a:xfrm>
          <a:prstGeom prst="line">
            <a:avLst/>
          </a:prstGeom>
          <a:ln w="6350" cap="flat" cmpd="sng" algn="ctr">
            <a:solidFill>
              <a:srgbClr val="C00000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8376285" y="2846705"/>
            <a:ext cx="0" cy="1881505"/>
          </a:xfrm>
          <a:prstGeom prst="line">
            <a:avLst/>
          </a:prstGeom>
          <a:ln w="6350" cap="flat" cmpd="sng" algn="ctr">
            <a:solidFill>
              <a:srgbClr val="C00000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8056880" y="2343785"/>
            <a:ext cx="1626235" cy="46037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algn="l"/>
            <a:r>
              <a:rPr kumimoji="1" lang="en-US" altLang="zh-CN" sz="1200" b="1" dirty="0" smtClean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1230</a:t>
            </a:r>
            <a:r>
              <a:rPr kumimoji="1" lang="zh-CN" altLang="en-US" sz="1200" b="1" dirty="0" smtClean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精准排除包上线</a:t>
            </a:r>
            <a:endParaRPr kumimoji="1" lang="en-US" altLang="zh-CN" sz="1200" b="1" dirty="0" smtClean="0">
              <a:solidFill>
                <a:srgbClr val="C0000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algn="l"/>
            <a:r>
              <a:rPr kumimoji="1" lang="en-US" altLang="zh-CN" sz="1200" b="1" dirty="0" smtClean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0104</a:t>
            </a:r>
            <a:r>
              <a:rPr kumimoji="1" lang="zh-CN" altLang="en-US" sz="1200" b="1" dirty="0" smtClean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精准排除包</a:t>
            </a:r>
            <a:r>
              <a:rPr kumimoji="1" lang="zh-CN" altLang="en-US" sz="1200" b="1" dirty="0" smtClean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推全</a:t>
            </a:r>
            <a:endParaRPr kumimoji="1" lang="zh-CN" altLang="en-US" sz="1200" b="1" dirty="0" smtClean="0">
              <a:solidFill>
                <a:srgbClr val="C0000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9024620" y="3486785"/>
            <a:ext cx="0" cy="1038860"/>
          </a:xfrm>
          <a:prstGeom prst="line">
            <a:avLst/>
          </a:prstGeom>
          <a:ln w="6350" cap="flat" cmpd="sng" algn="ctr">
            <a:solidFill>
              <a:srgbClr val="C00000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8685530" y="3026410"/>
            <a:ext cx="824865" cy="46037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algn="l"/>
            <a:r>
              <a:rPr kumimoji="1" lang="en-US" altLang="zh-CN" sz="1200" b="1" dirty="0" smtClean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010</a:t>
            </a:r>
            <a:r>
              <a:rPr kumimoji="1" lang="en-US" sz="1200" b="1" dirty="0" smtClean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6</a:t>
            </a:r>
            <a:r>
              <a:rPr kumimoji="1" lang="zh-CN" altLang="en-US" sz="1200" b="1" dirty="0" smtClean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回传实验</a:t>
            </a:r>
            <a:endParaRPr kumimoji="1" lang="zh-CN" altLang="en-US" sz="1200" b="1" dirty="0" smtClean="0">
              <a:solidFill>
                <a:srgbClr val="C0000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/>
          <p:nvPr>
            <p:ph type="title"/>
          </p:nvPr>
        </p:nvSpPr>
        <p:spPr/>
        <p:txBody>
          <a:bodyPr/>
          <a:p>
            <a:r>
              <a:rPr kumimoji="1" lang="zh-CN" altLang="en-US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二</a:t>
            </a:r>
            <a:r>
              <a:rPr kumimoji="1" lang="en-US" altLang="zh-CN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.</a:t>
            </a:r>
            <a:r>
              <a:rPr kumimoji="1" lang="zh-CN" altLang="en-US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抖音</a:t>
            </a:r>
            <a:r>
              <a:rPr kumimoji="1" lang="en-US" altLang="zh-CN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RTA</a:t>
            </a:r>
            <a:r>
              <a:rPr kumimoji="1" lang="zh-CN" altLang="en-US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迭代—迭代前准备：</a:t>
            </a:r>
            <a:r>
              <a:rPr kumimoji="1" lang="zh-CN" altLang="en-US" b="0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模型能力的提升</a:t>
            </a:r>
            <a:endParaRPr kumimoji="1" lang="zh-CN" altLang="en-US" b="0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77800" y="6388100"/>
            <a:ext cx="10005695" cy="275590"/>
          </a:xfrm>
          <a:prstGeom prst="rect">
            <a:avLst/>
          </a:prstGeom>
          <a:gradFill>
            <a:gsLst>
              <a:gs pos="0">
                <a:srgbClr val="E30000">
                  <a:alpha val="30000"/>
                </a:srgbClr>
              </a:gs>
              <a:gs pos="100000">
                <a:srgbClr val="760303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endParaRPr kumimoji="1" lang="zh-CN" altLang="en-US" sz="120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05765" y="913765"/>
            <a:ext cx="9777730" cy="5359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285750" indent="-285750" algn="l">
              <a:lnSpc>
                <a:spcPct val="150000"/>
              </a:lnSpc>
              <a:buFont typeface="Wingdings" panose="05000000000000000000" charset="0"/>
              <a:buChar char="Ø"/>
              <a:defRPr/>
            </a:pPr>
            <a:r>
              <a:rPr lang="zh-CN" altLang="en-US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和腾讯渠道结果一致：</a:t>
            </a:r>
            <a:r>
              <a:rPr lang="en-US" altLang="zh-CN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V9 preA</a:t>
            </a:r>
            <a:r>
              <a:rPr lang="zh-CN" altLang="en-US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模型和端到端模型对抖音</a:t>
            </a:r>
            <a:r>
              <a:rPr lang="zh-CN" altLang="en-US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渠道用户的质量和意愿识别</a:t>
            </a:r>
            <a:r>
              <a:rPr lang="zh-CN" altLang="en-US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能力提升</a:t>
            </a:r>
            <a:endParaRPr lang="zh-CN" altLang="en-US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Noto Sans SC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54710" y="1517015"/>
            <a:ext cx="7437755" cy="9309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90204" pitchFamily="34" charset="0"/>
              <a:buNone/>
            </a:pPr>
            <a:r>
              <a:rPr lang="zh-CN" altLang="en-US" sz="1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①</a:t>
            </a:r>
            <a:r>
              <a:rPr lang="en-US" altLang="zh-CN" sz="1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preA</a:t>
            </a:r>
            <a:r>
              <a:rPr lang="zh-CN" altLang="en-US" sz="1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模型在曝光分布对齐的情况下：</a:t>
            </a:r>
            <a:endParaRPr lang="zh-CN" altLang="en-US" sz="1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marL="742950" lvl="1" indent="-285750">
              <a:lnSpc>
                <a:spcPct val="140000"/>
              </a:lnSpc>
              <a:buFont typeface="Arial" panose="020B0604020202090204" pitchFamily="34" charset="0"/>
              <a:buChar char="•"/>
            </a:pPr>
            <a:r>
              <a:rPr lang="zh-CN" altLang="en-US" sz="1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抖音是</a:t>
            </a:r>
            <a:r>
              <a:rPr lang="en-US" altLang="zh-CN" sz="1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ROI</a:t>
            </a:r>
            <a:r>
              <a:rPr lang="zh-CN" altLang="en-US" sz="1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出价，因此</a:t>
            </a:r>
            <a:r>
              <a:rPr lang="en-US" altLang="zh-CN" sz="1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RTA</a:t>
            </a:r>
            <a:r>
              <a:rPr lang="zh-CN" altLang="en-US" sz="1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策略主要是用</a:t>
            </a:r>
            <a:r>
              <a:rPr lang="en-US" altLang="zh-CN" sz="1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preA</a:t>
            </a:r>
            <a:r>
              <a:rPr lang="zh-CN" altLang="en-US" sz="1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模型做差用户排除</a:t>
            </a:r>
            <a:endParaRPr lang="zh-CN" altLang="en-US" sz="1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因此比较关注模型尾部的识别效果：</a:t>
            </a:r>
            <a:r>
              <a:rPr lang="en-US" altLang="zh-CN" sz="1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V9</a:t>
            </a:r>
            <a:r>
              <a:rPr lang="zh-CN" altLang="en-US" sz="1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明显好于</a:t>
            </a:r>
            <a:r>
              <a:rPr lang="en-US" altLang="zh-CN" sz="1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V8</a:t>
            </a:r>
            <a:endParaRPr lang="en-US" altLang="zh-CN" sz="1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graphicFrame>
        <p:nvGraphicFramePr>
          <p:cNvPr id="14" name="表格 13"/>
          <p:cNvGraphicFramePr/>
          <p:nvPr>
            <p:custDataLst>
              <p:tags r:id="rId3"/>
            </p:custDataLst>
          </p:nvPr>
        </p:nvGraphicFramePr>
        <p:xfrm>
          <a:off x="854710" y="6057265"/>
          <a:ext cx="4376420" cy="219075"/>
        </p:xfrm>
        <a:graphic>
          <a:graphicData uri="http://schemas.openxmlformats.org/drawingml/2006/table">
            <a:tbl>
              <a:tblPr/>
              <a:tblGrid>
                <a:gridCol w="4376420"/>
              </a:tblGrid>
              <a:tr h="219075">
                <a:tc>
                  <a:txBody>
                    <a:bodyPr/>
                    <a:p>
                      <a:pPr algn="l" fontAlgn="ctr"/>
                      <a:r>
                        <a:rPr lang="en-US" altLang="zh-CN" sz="1200" b="0" i="1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2025</a:t>
                      </a:r>
                      <a:r>
                        <a:rPr lang="zh-CN" altLang="en-US" sz="1200" b="0" i="1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年</a:t>
                      </a:r>
                      <a:r>
                        <a:rPr lang="en-US" altLang="zh-CN" sz="1200" b="0" i="1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12</a:t>
                      </a:r>
                      <a:r>
                        <a:rPr lang="zh-CN" altLang="en-US" sz="1200" b="0" i="1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月</a:t>
                      </a:r>
                      <a:r>
                        <a:rPr lang="en-US" altLang="zh-CN" sz="1200" b="0" i="1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12</a:t>
                      </a:r>
                      <a:r>
                        <a:rPr lang="zh-CN" altLang="en-US" sz="1200" b="0" i="1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日 </a:t>
                      </a:r>
                      <a:r>
                        <a:rPr lang="en-US" altLang="zh-CN" sz="1200" b="0" i="1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- 2025</a:t>
                      </a:r>
                      <a:r>
                        <a:rPr lang="zh-CN" altLang="en-US" sz="1200" b="0" i="1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年</a:t>
                      </a:r>
                      <a:r>
                        <a:rPr lang="en-US" altLang="zh-CN" sz="1200" b="0" i="1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12</a:t>
                      </a:r>
                      <a:r>
                        <a:rPr lang="zh-CN" altLang="en-US" sz="1200" b="0" i="1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月</a:t>
                      </a:r>
                      <a:r>
                        <a:rPr lang="en-US" altLang="zh-CN" sz="1200" b="0" i="1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25</a:t>
                      </a:r>
                      <a:r>
                        <a:rPr lang="zh-CN" altLang="en-US" sz="1200" b="0" i="1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日</a:t>
                      </a:r>
                      <a:r>
                        <a:rPr lang="zh-CN" altLang="en-US" sz="1200" b="0" i="1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抖音对照组数据</a:t>
                      </a:r>
                      <a:endParaRPr lang="zh-CN" altLang="en-US" sz="1200" b="0" i="1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" name="图表 3"/>
          <p:cNvGraphicFramePr/>
          <p:nvPr/>
        </p:nvGraphicFramePr>
        <p:xfrm>
          <a:off x="6109970" y="2652395"/>
          <a:ext cx="4860290" cy="30270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8" name="图表 7"/>
          <p:cNvGraphicFramePr/>
          <p:nvPr/>
        </p:nvGraphicFramePr>
        <p:xfrm>
          <a:off x="854710" y="2665730"/>
          <a:ext cx="4860290" cy="2941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/>
          <p:nvPr>
            <p:ph type="title"/>
          </p:nvPr>
        </p:nvSpPr>
        <p:spPr/>
        <p:txBody>
          <a:bodyPr/>
          <a:p>
            <a:r>
              <a:rPr kumimoji="1" lang="zh-CN" altLang="en-US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二</a:t>
            </a:r>
            <a:r>
              <a:rPr kumimoji="1" lang="en-US" altLang="zh-CN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.</a:t>
            </a:r>
            <a:r>
              <a:rPr kumimoji="1" lang="zh-CN" altLang="en-US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抖音</a:t>
            </a:r>
            <a:r>
              <a:rPr kumimoji="1" lang="en-US" altLang="zh-CN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RTA</a:t>
            </a:r>
            <a:r>
              <a:rPr kumimoji="1" lang="zh-CN" altLang="en-US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迭代—</a:t>
            </a:r>
            <a:r>
              <a:rPr kumimoji="1" lang="zh-CN" altLang="en-US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排除策略</a:t>
            </a:r>
            <a:endParaRPr kumimoji="1" lang="zh-CN" altLang="en-US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77800" y="6388100"/>
            <a:ext cx="10005695" cy="275590"/>
          </a:xfrm>
          <a:prstGeom prst="rect">
            <a:avLst/>
          </a:prstGeom>
          <a:gradFill>
            <a:gsLst>
              <a:gs pos="0">
                <a:srgbClr val="E30000">
                  <a:alpha val="30000"/>
                </a:srgbClr>
              </a:gs>
              <a:gs pos="100000">
                <a:srgbClr val="760303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endParaRPr kumimoji="1" lang="zh-CN" altLang="en-US" sz="120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97865" y="858520"/>
            <a:ext cx="5756910" cy="506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 algn="l">
              <a:lnSpc>
                <a:spcPct val="150000"/>
              </a:lnSpc>
              <a:buFont typeface="Wingdings" panose="05000000000000000000" charset="0"/>
              <a:buChar char="Ø"/>
              <a:defRPr/>
            </a:pPr>
            <a:r>
              <a:rPr lang="zh-CN" altLang="en-US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排除</a:t>
            </a:r>
            <a:r>
              <a:rPr lang="zh-CN" altLang="en-US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策略预估</a:t>
            </a:r>
            <a:r>
              <a:rPr lang="zh-CN" altLang="en-US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效果</a:t>
            </a:r>
            <a:endParaRPr lang="zh-CN" altLang="en-US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Noto Sans SC"/>
            </a:endParaRPr>
          </a:p>
        </p:txBody>
      </p:sp>
      <p:graphicFrame>
        <p:nvGraphicFramePr>
          <p:cNvPr id="20" name="表格 19"/>
          <p:cNvGraphicFramePr/>
          <p:nvPr>
            <p:custDataLst>
              <p:tags r:id="rId3"/>
            </p:custDataLst>
          </p:nvPr>
        </p:nvGraphicFramePr>
        <p:xfrm>
          <a:off x="959485" y="1452245"/>
          <a:ext cx="5386070" cy="1086485"/>
        </p:xfrm>
        <a:graphic>
          <a:graphicData uri="http://schemas.openxmlformats.org/drawingml/2006/table">
            <a:tbl>
              <a:tblPr/>
              <a:tblGrid>
                <a:gridCol w="1132840"/>
                <a:gridCol w="1134110"/>
                <a:gridCol w="1133475"/>
                <a:gridCol w="1985645"/>
              </a:tblGrid>
              <a:tr h="243205">
                <a:tc>
                  <a:txBody>
                    <a:bodyPr/>
                    <a:p>
                      <a:pPr algn="ctr" fontAlgn="ctr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预估效果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排除请求占比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排除交易占比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排除后安全过件率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1300">
                <a:tc>
                  <a:txBody>
                    <a:bodyPr/>
                    <a:p>
                      <a:pPr algn="ctr" fontAlgn="ctr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现状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42.3%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18.8%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19.0%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192405">
                <a:tc>
                  <a:txBody>
                    <a:bodyPr/>
                    <a:p>
                      <a:pPr algn="ctr" fontAlgn="ctr"/>
                      <a:r>
                        <a:rPr lang="en-US" altLang="zh-CN" sz="12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v9</a:t>
                      </a:r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排除策略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45.4%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20.9%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23.4%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7165"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Δ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1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100" b="0" i="0">
                        <a:solidFill>
                          <a:srgbClr val="0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C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</a:rPr>
                        <a:t>4.4%</a:t>
                      </a:r>
                      <a:endParaRPr lang="en-US" altLang="zh-CN" sz="1100" b="1" i="0">
                        <a:solidFill>
                          <a:srgbClr val="C00000"/>
                        </a:solidFill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2" name="文本框 21"/>
          <p:cNvSpPr txBox="1"/>
          <p:nvPr/>
        </p:nvSpPr>
        <p:spPr>
          <a:xfrm>
            <a:off x="697865" y="2548890"/>
            <a:ext cx="5063490" cy="12439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285750" indent="-285750" algn="l">
              <a:lnSpc>
                <a:spcPct val="150000"/>
              </a:lnSpc>
              <a:buFont typeface="Wingdings" panose="05000000000000000000" charset="0"/>
              <a:buChar char="Ø"/>
              <a:defRPr/>
            </a:pPr>
            <a:r>
              <a:rPr lang="zh-CN" altLang="en-US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上线后实际</a:t>
            </a:r>
            <a:r>
              <a:rPr lang="en-US" altLang="zh-CN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before-after</a:t>
            </a:r>
            <a:r>
              <a:rPr lang="zh-CN" altLang="en-US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对比</a:t>
            </a:r>
            <a:endParaRPr lang="zh-CN" altLang="en-US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Noto Sans SC"/>
            </a:endParaRPr>
          </a:p>
          <a:p>
            <a:pPr marL="742950" lvl="1" indent="-285750" algn="l">
              <a:lnSpc>
                <a:spcPct val="140000"/>
              </a:lnSpc>
              <a:buFont typeface="Arial" panose="020B0604020202090204" pitchFamily="34" charset="0"/>
              <a:buChar char="•"/>
              <a:defRPr/>
            </a:pPr>
            <a:r>
              <a:rPr lang="zh-CN" altLang="en-US" sz="14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大盘安全过件率在策略上线前后</a:t>
            </a:r>
            <a:r>
              <a:rPr lang="zh-CN" altLang="en-US" sz="1400" b="1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基本无提升</a:t>
            </a:r>
            <a:endParaRPr lang="zh-CN" altLang="en-US" sz="1400" b="1">
              <a:solidFill>
                <a:srgbClr val="C0000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Noto Sans SC"/>
            </a:endParaRPr>
          </a:p>
          <a:p>
            <a:pPr marL="742950" lvl="1" indent="-285750" algn="l">
              <a:lnSpc>
                <a:spcPct val="150000"/>
              </a:lnSpc>
              <a:buFont typeface="Arial" panose="020B0604020202090204" pitchFamily="34" charset="0"/>
              <a:buChar char="•"/>
              <a:defRPr/>
            </a:pPr>
            <a:r>
              <a:rPr lang="zh-CN" altLang="en-US" sz="14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细拆</a:t>
            </a:r>
            <a:r>
              <a:rPr lang="en-US" altLang="zh-CN" sz="14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RTAv8</a:t>
            </a:r>
            <a:r>
              <a:rPr lang="zh-CN" altLang="en-US" sz="14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和</a:t>
            </a:r>
            <a:r>
              <a:rPr lang="en-US" altLang="zh-CN" sz="14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v9</a:t>
            </a:r>
            <a:r>
              <a:rPr lang="zh-CN" altLang="en-US" sz="14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分桶也无质量提升</a:t>
            </a:r>
            <a:endParaRPr lang="zh-CN" altLang="en-US" sz="1400" b="1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marL="742950" lvl="1" indent="-285750" algn="l">
              <a:lnSpc>
                <a:spcPct val="200000"/>
              </a:lnSpc>
              <a:buFont typeface="Arial" panose="020B0604020202090204" pitchFamily="34" charset="0"/>
              <a:buChar char="•"/>
              <a:defRPr/>
            </a:pPr>
            <a:endParaRPr lang="zh-CN" altLang="en-US" sz="1400" b="1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Noto Sans SC"/>
            </a:endParaRPr>
          </a:p>
          <a:p>
            <a:pPr marL="742950" lvl="1" indent="-285750" algn="l">
              <a:lnSpc>
                <a:spcPct val="200000"/>
              </a:lnSpc>
              <a:buFont typeface="Arial" panose="020B0604020202090204" pitchFamily="34" charset="0"/>
              <a:buChar char="•"/>
              <a:defRPr/>
            </a:pPr>
            <a:endParaRPr lang="zh-CN" altLang="en-US" sz="1400" b="1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Noto Sans SC"/>
            </a:endParaRPr>
          </a:p>
        </p:txBody>
      </p:sp>
      <p:sp>
        <p:nvSpPr>
          <p:cNvPr id="37" name="右箭头 36"/>
          <p:cNvSpPr/>
          <p:nvPr/>
        </p:nvSpPr>
        <p:spPr>
          <a:xfrm>
            <a:off x="6830060" y="1621155"/>
            <a:ext cx="548640" cy="358140"/>
          </a:xfrm>
          <a:prstGeom prst="rightArrow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/>
        </p:nvSpPr>
        <p:spPr>
          <a:xfrm>
            <a:off x="7863205" y="1280795"/>
            <a:ext cx="3284220" cy="9036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90204" pitchFamily="34" charset="0"/>
              <a:buNone/>
            </a:pPr>
            <a:r>
              <a:rPr lang="zh-CN" altLang="en-US" sz="16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考虑策略灰度，预估抖音大盘</a:t>
            </a:r>
            <a:endParaRPr lang="zh-CN" altLang="en-US" sz="16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marL="285750" indent="-285750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 sz="1600" b="1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安全过件率上涨</a:t>
            </a:r>
            <a:r>
              <a:rPr lang="en-US" altLang="zh-CN" sz="1600" b="1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2.6%</a:t>
            </a:r>
            <a:endParaRPr lang="zh-CN" altLang="en-US" sz="1600" b="1">
              <a:solidFill>
                <a:srgbClr val="C0000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 sz="16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规模</a:t>
            </a:r>
            <a:r>
              <a:rPr lang="zh-CN" altLang="en-US" sz="160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基本不变</a:t>
            </a:r>
            <a:endParaRPr lang="zh-CN" altLang="en-US" sz="160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graphicFrame>
        <p:nvGraphicFramePr>
          <p:cNvPr id="40" name="图表 39"/>
          <p:cNvGraphicFramePr/>
          <p:nvPr/>
        </p:nvGraphicFramePr>
        <p:xfrm>
          <a:off x="697865" y="3792855"/>
          <a:ext cx="4401820" cy="2550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1" name="上箭头 40"/>
          <p:cNvSpPr/>
          <p:nvPr/>
        </p:nvSpPr>
        <p:spPr>
          <a:xfrm>
            <a:off x="2251710" y="5231765"/>
            <a:ext cx="114300" cy="385445"/>
          </a:xfrm>
          <a:prstGeom prst="up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>
            <p:custDataLst>
              <p:tags r:id="rId4"/>
            </p:custDataLst>
          </p:nvPr>
        </p:nvSpPr>
        <p:spPr>
          <a:xfrm>
            <a:off x="4182745" y="5173980"/>
            <a:ext cx="1115060" cy="4191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19</a:t>
            </a:r>
            <a:r>
              <a:rPr lang="zh-CN" altLang="en-US" sz="100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号</a:t>
            </a:r>
            <a:endParaRPr lang="zh-CN" altLang="en-US" sz="1000">
              <a:solidFill>
                <a:srgbClr val="C0000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altLang="zh-CN" sz="100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v9</a:t>
            </a:r>
            <a:r>
              <a:rPr lang="zh-CN" altLang="en-US" sz="100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策略上线</a:t>
            </a:r>
            <a:endParaRPr lang="zh-CN" altLang="en-US" sz="1000">
              <a:solidFill>
                <a:srgbClr val="C0000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2593975" y="4549140"/>
            <a:ext cx="2094230" cy="619760"/>
          </a:xfrm>
          <a:prstGeom prst="rect">
            <a:avLst/>
          </a:prstGeom>
          <a:noFill/>
          <a:ln w="28575" cmpd="sng">
            <a:solidFill>
              <a:srgbClr val="C00000"/>
            </a:solidFill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" name="文本框 45"/>
          <p:cNvSpPr txBox="1"/>
          <p:nvPr/>
        </p:nvSpPr>
        <p:spPr>
          <a:xfrm>
            <a:off x="8108950" y="3613150"/>
            <a:ext cx="4238625" cy="19081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285750" lvl="0" indent="-285750" algn="l">
              <a:lnSpc>
                <a:spcPct val="160000"/>
              </a:lnSpc>
              <a:buFont typeface="Wingdings" panose="05000000000000000000" charset="0"/>
              <a:buChar char="Ø"/>
              <a:defRPr/>
            </a:pPr>
            <a:r>
              <a:rPr lang="zh-CN" altLang="en-US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后续排查</a:t>
            </a:r>
            <a:r>
              <a:rPr lang="zh-CN" altLang="en-US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方向</a:t>
            </a:r>
            <a:endParaRPr lang="zh-CN" altLang="en-US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Noto Sans SC"/>
            </a:endParaRPr>
          </a:p>
          <a:p>
            <a:pPr marL="342900" lvl="0" indent="-342900" algn="l">
              <a:lnSpc>
                <a:spcPct val="160000"/>
              </a:lnSpc>
              <a:buFont typeface="Arial" panose="020B0604020202090204" pitchFamily="34" charset="0"/>
              <a:buAutoNum type="arabicPeriod"/>
              <a:defRPr/>
            </a:pPr>
            <a:r>
              <a:rPr lang="zh-CN" altLang="en-US" sz="14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模型角度：</a:t>
            </a:r>
            <a:r>
              <a:rPr lang="zh-CN" altLang="en-US" sz="12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上线后模型排序仍存在：证明模型无问题</a:t>
            </a:r>
            <a:endParaRPr lang="zh-CN" altLang="en-US" sz="12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Noto Sans SC"/>
            </a:endParaRPr>
          </a:p>
          <a:p>
            <a:pPr marL="342900" lvl="0" indent="-342900" algn="l">
              <a:lnSpc>
                <a:spcPct val="160000"/>
              </a:lnSpc>
              <a:buFont typeface="Arial" panose="020B0604020202090204" pitchFamily="34" charset="0"/>
              <a:buAutoNum type="arabicPeriod"/>
              <a:defRPr/>
            </a:pPr>
            <a:r>
              <a:rPr lang="zh-CN" altLang="en-US" sz="14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排除策略角度：</a:t>
            </a:r>
            <a:r>
              <a:rPr lang="zh-CN" altLang="en-US" sz="12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和腾讯的排除边界基本对齐</a:t>
            </a:r>
            <a:endParaRPr lang="zh-CN" altLang="en-US" sz="1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Noto Sans SC"/>
            </a:endParaRPr>
          </a:p>
          <a:p>
            <a:pPr marL="342900" lvl="0" indent="-342900" algn="l">
              <a:lnSpc>
                <a:spcPct val="160000"/>
              </a:lnSpc>
              <a:buFont typeface="Arial" panose="020B0604020202090204" pitchFamily="34" charset="0"/>
              <a:buAutoNum type="arabicPeriod"/>
              <a:defRPr/>
            </a:pPr>
            <a:r>
              <a:rPr lang="zh-CN" altLang="en-US" sz="14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出价角度：</a:t>
            </a:r>
            <a:r>
              <a:rPr lang="zh-CN" altLang="en-US" sz="12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Noto Sans SC"/>
              </a:rPr>
              <a:t>对比腾讯对照组，抖音优质用户竞得率较低，考虑当前出价竞争力不够</a:t>
            </a:r>
            <a:endParaRPr lang="zh-CN" altLang="en-US" sz="12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Noto Sans SC"/>
            </a:endParaRPr>
          </a:p>
        </p:txBody>
      </p:sp>
      <p:graphicFrame>
        <p:nvGraphicFramePr>
          <p:cNvPr id="4" name="图表 3"/>
          <p:cNvGraphicFramePr/>
          <p:nvPr/>
        </p:nvGraphicFramePr>
        <p:xfrm>
          <a:off x="5444490" y="3613785"/>
          <a:ext cx="2319655" cy="24631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TABLE_ENDDRAG_ORIGIN_RECT" val="909*307"/>
  <p:tag name="TABLE_ENDDRAG_RECT" val="25*200*909*307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TABLE_ENDDRAG_ORIGIN_RECT" val="894*109"/>
  <p:tag name="TABLE_ENDDRAG_RECT" val="24*108*894*109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TABLE_ENDDRAG_ORIGIN_RECT" val="895*93"/>
  <p:tag name="TABLE_ENDDRAG_RECT" val="24*135*895*93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DIAGRAM_VIRTUALLY_FRAME" val="{&quot;height&quot;:100.95,&quot;left&quot;:31.65,&quot;top&quot;:12.8,&quot;width&quot;:892.6}"/>
</p:tagLst>
</file>

<file path=ppt/tags/tag49.xml><?xml version="1.0" encoding="utf-8"?>
<p:tagLst xmlns:p="http://schemas.openxmlformats.org/presentationml/2006/main">
  <p:tag name="TABLE_ENDDRAG_ORIGIN_RECT" val="842*387"/>
  <p:tag name="TABLE_ENDDRAG_RECT" val="50*98*842*387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DIAGRAM_VIRTUALLY_FRAME" val="{&quot;height&quot;:100.95,&quot;left&quot;:31.65,&quot;top&quot;:12.8,&quot;width&quot;:892.6}"/>
</p:tagLst>
</file>

<file path=ppt/tags/tag53.xml><?xml version="1.0" encoding="utf-8"?>
<p:tagLst xmlns:p="http://schemas.openxmlformats.org/presentationml/2006/main">
  <p:tag name="KSO_WM_DIAGRAM_VIRTUALLY_FRAME" val="{&quot;height&quot;:100.95,&quot;left&quot;:31.65,&quot;top&quot;:12.8,&quot;width&quot;:892.6}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DIAGRAM_VIRTUALLY_FRAME" val="{&quot;height&quot;:290.25,&quot;left&quot;:42,&quot;top&quot;:148.6,&quot;width&quot;:849.8}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DIAGRAM_VIRTUALLY_FRAME" val="{&quot;height&quot;:100.95,&quot;left&quot;:31.65,&quot;top&quot;:12.8,&quot;width&quot;:892.6}"/>
</p:tagLst>
</file>

<file path=ppt/tags/tag58.xml><?xml version="1.0" encoding="utf-8"?>
<p:tagLst xmlns:p="http://schemas.openxmlformats.org/presentationml/2006/main">
  <p:tag name="KSO_WM_DIAGRAM_VIRTUALLY_FRAME" val="{&quot;height&quot;:290.25,&quot;left&quot;:42,&quot;top&quot;:148.6,&quot;width&quot;:849.8}"/>
</p:tagLst>
</file>

<file path=ppt/tags/tag59.xml><?xml version="1.0" encoding="utf-8"?>
<p:tagLst xmlns:p="http://schemas.openxmlformats.org/presentationml/2006/main">
  <p:tag name="KSO_WM_DIAGRAM_VIRTUALLY_FRAME" val="{&quot;height&quot;:290.25,&quot;left&quot;:42,&quot;top&quot;:148.6,&quot;width&quot;:849.8}"/>
</p:tagLst>
</file>

<file path=ppt/tags/tag60.xml><?xml version="1.0" encoding="utf-8"?>
<p:tagLst xmlns:p="http://schemas.openxmlformats.org/presentationml/2006/main">
  <p:tag name="KSO_WM_DIAGRAM_VIRTUALLY_FRAME" val="{&quot;height&quot;:290.25,&quot;left&quot;:42,&quot;top&quot;:148.6,&quot;width&quot;:849.8}"/>
</p:tagLst>
</file>

<file path=ppt/tags/tag61.xml><?xml version="1.0" encoding="utf-8"?>
<p:tagLst xmlns:p="http://schemas.openxmlformats.org/presentationml/2006/main">
  <p:tag name="KSO_WM_DIAGRAM_VIRTUALLY_FRAME" val="{&quot;height&quot;:290.25,&quot;left&quot;:42,&quot;top&quot;:148.6,&quot;width&quot;:849.8}"/>
</p:tagLst>
</file>

<file path=ppt/tags/tag62.xml><?xml version="1.0" encoding="utf-8"?>
<p:tagLst xmlns:p="http://schemas.openxmlformats.org/presentationml/2006/main">
  <p:tag name="KSO_WM_DIAGRAM_VIRTUALLY_FRAME" val="{&quot;height&quot;:290.25,&quot;left&quot;:42,&quot;top&quot;:148.6,&quot;width&quot;:849.8}"/>
</p:tagLst>
</file>

<file path=ppt/tags/tag63.xml><?xml version="1.0" encoding="utf-8"?>
<p:tagLst xmlns:p="http://schemas.openxmlformats.org/presentationml/2006/main">
  <p:tag name="KSO_WM_DIAGRAM_VIRTUALLY_FRAME" val="{&quot;height&quot;:290.25,&quot;left&quot;:42,&quot;top&quot;:148.6,&quot;width&quot;:849.8}"/>
</p:tagLst>
</file>

<file path=ppt/tags/tag64.xml><?xml version="1.0" encoding="utf-8"?>
<p:tagLst xmlns:p="http://schemas.openxmlformats.org/presentationml/2006/main">
  <p:tag name="KSO_WM_DIAGRAM_VIRTUALLY_FRAME" val="{&quot;height&quot;:290.25,&quot;left&quot;:42,&quot;top&quot;:148.6,&quot;width&quot;:849.8}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DIAGRAM_VIRTUALLY_FRAME" val="{&quot;height&quot;:100.95,&quot;left&quot;:31.65,&quot;top&quot;:12.8,&quot;width&quot;:892.6}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DIAGRAM_VIRTUALLY_FRAME" val="{&quot;height&quot;:100.95,&quot;left&quot;:31.65,&quot;top&quot;:12.8,&quot;width&quot;:892.6}"/>
</p:tagLst>
</file>

<file path=ppt/tags/tag69.xml><?xml version="1.0" encoding="utf-8"?>
<p:tagLst xmlns:p="http://schemas.openxmlformats.org/presentationml/2006/main">
  <p:tag name="KSO_WM_DIAGRAM_VIRTUALLY_FRAME" val="{&quot;height&quot;:158.00000000000017,&quot;left&quot;:548.05,&quot;top&quot;:150.4,&quot;width&quot;:367.45}"/>
</p:tagLst>
</file>

<file path=ppt/tags/tag70.xml><?xml version="1.0" encoding="utf-8"?>
<p:tagLst xmlns:p="http://schemas.openxmlformats.org/presentationml/2006/main">
  <p:tag name="KSO_WM_DIAGRAM_VIRTUALLY_FRAME" val="{&quot;height&quot;:158.00000000000017,&quot;left&quot;:548.05,&quot;top&quot;:150.4,&quot;width&quot;:367.45}"/>
</p:tagLst>
</file>

<file path=ppt/tags/tag71.xml><?xml version="1.0" encoding="utf-8"?>
<p:tagLst xmlns:p="http://schemas.openxmlformats.org/presentationml/2006/main">
  <p:tag name="KSO_WM_DIAGRAM_VIRTUALLY_FRAME" val="{&quot;height&quot;:158.00000000000017,&quot;left&quot;:548.05,&quot;top&quot;:150.4,&quot;width&quot;:367.45}"/>
</p:tagLst>
</file>

<file path=ppt/tags/tag72.xml><?xml version="1.0" encoding="utf-8"?>
<p:tagLst xmlns:p="http://schemas.openxmlformats.org/presentationml/2006/main">
  <p:tag name="KSO_WM_DIAGRAM_VIRTUALLY_FRAME" val="{&quot;height&quot;:158.00000000000017,&quot;left&quot;:548.05,&quot;top&quot;:150.4,&quot;width&quot;:367.45}"/>
</p:tagLst>
</file>

<file path=ppt/tags/tag73.xml><?xml version="1.0" encoding="utf-8"?>
<p:tagLst xmlns:p="http://schemas.openxmlformats.org/presentationml/2006/main">
  <p:tag name="KSO_WM_DIAGRAM_VIRTUALLY_FRAME" val="{&quot;height&quot;:158.00000000000017,&quot;left&quot;:548.05,&quot;top&quot;:150.4,&quot;width&quot;:367.45}"/>
</p:tagLst>
</file>

<file path=ppt/tags/tag74.xml><?xml version="1.0" encoding="utf-8"?>
<p:tagLst xmlns:p="http://schemas.openxmlformats.org/presentationml/2006/main">
  <p:tag name="KSO_WM_DIAGRAM_VIRTUALLY_FRAME" val="{&quot;height&quot;:158.00000000000017,&quot;left&quot;:548.05,&quot;top&quot;:150.4,&quot;width&quot;:367.45}"/>
</p:tagLst>
</file>

<file path=ppt/tags/tag75.xml><?xml version="1.0" encoding="utf-8"?>
<p:tagLst xmlns:p="http://schemas.openxmlformats.org/presentationml/2006/main">
  <p:tag name="KSO_WM_DIAGRAM_VIRTUALLY_FRAME" val="{&quot;height&quot;:158.00000000000017,&quot;left&quot;:548.05,&quot;top&quot;:150.4,&quot;width&quot;:367.45}"/>
</p:tagLst>
</file>

<file path=ppt/tags/tag76.xml><?xml version="1.0" encoding="utf-8"?>
<p:tagLst xmlns:p="http://schemas.openxmlformats.org/presentationml/2006/main">
  <p:tag name="KSO_WM_DIAGRAM_VIRTUALLY_FRAME" val="{&quot;height&quot;:158.00000000000017,&quot;left&quot;:548.05,&quot;top&quot;:150.4,&quot;width&quot;:367.45}"/>
</p:tagLst>
</file>

<file path=ppt/tags/tag77.xml><?xml version="1.0" encoding="utf-8"?>
<p:tagLst xmlns:p="http://schemas.openxmlformats.org/presentationml/2006/main">
  <p:tag name="KSO_WM_DIAGRAM_VIRTUALLY_FRAME" val="{&quot;height&quot;:158.00000000000017,&quot;left&quot;:548.05,&quot;top&quot;:150.4,&quot;width&quot;:367.45}"/>
</p:tagLst>
</file>

<file path=ppt/tags/tag78.xml><?xml version="1.0" encoding="utf-8"?>
<p:tagLst xmlns:p="http://schemas.openxmlformats.org/presentationml/2006/main">
  <p:tag name="KSO_WM_DIAGRAM_VIRTUALLY_FRAME" val="{&quot;height&quot;:158.00000000000017,&quot;left&quot;:548.05,&quot;top&quot;:150.4,&quot;width&quot;:367.45}"/>
</p:tagLst>
</file>

<file path=ppt/tags/tag79.xml><?xml version="1.0" encoding="utf-8"?>
<p:tagLst xmlns:p="http://schemas.openxmlformats.org/presentationml/2006/main">
  <p:tag name="KSO_WM_DIAGRAM_VIRTUALLY_FRAME" val="{&quot;height&quot;:150.55000000000018,&quot;left&quot;:548.05,&quot;top&quot;:150.6,&quot;width&quot;:367.45}"/>
</p:tagLst>
</file>

<file path=ppt/tags/tag80.xml><?xml version="1.0" encoding="utf-8"?>
<p:tagLst xmlns:p="http://schemas.openxmlformats.org/presentationml/2006/main">
  <p:tag name="KSO_WM_DIAGRAM_VIRTUALLY_FRAME" val="{&quot;height&quot;:158.00000000000017,&quot;left&quot;:548.05,&quot;top&quot;:150.4,&quot;width&quot;:367.45}"/>
</p:tagLst>
</file>

<file path=ppt/tags/tag81.xml><?xml version="1.0" encoding="utf-8"?>
<p:tagLst xmlns:p="http://schemas.openxmlformats.org/presentationml/2006/main">
  <p:tag name="KSO_WM_DIAGRAM_VIRTUALLY_FRAME" val="{&quot;height&quot;:158.00000000000017,&quot;left&quot;:548.05,&quot;top&quot;:150.4,&quot;width&quot;:367.45}"/>
</p:tagLst>
</file>

<file path=ppt/tags/tag82.xml><?xml version="1.0" encoding="utf-8"?>
<p:tagLst xmlns:p="http://schemas.openxmlformats.org/presentationml/2006/main">
  <p:tag name="KSO_WM_DIAGRAM_VIRTUALLY_FRAME" val="{&quot;height&quot;:158.00000000000017,&quot;left&quot;:548.05,&quot;top&quot;:150.4,&quot;width&quot;:367.45}"/>
</p:tagLst>
</file>

<file path=ppt/tags/tag83.xml><?xml version="1.0" encoding="utf-8"?>
<p:tagLst xmlns:p="http://schemas.openxmlformats.org/presentationml/2006/main">
  <p:tag name="KSO_WM_DIAGRAM_VIRTUALLY_FRAME" val="{&quot;height&quot;:158.00000000000017,&quot;left&quot;:548.05,&quot;top&quot;:150.4,&quot;width&quot;:367.45}"/>
</p:tagLst>
</file>

<file path=ppt/tags/tag84.xml><?xml version="1.0" encoding="utf-8"?>
<p:tagLst xmlns:p="http://schemas.openxmlformats.org/presentationml/2006/main">
  <p:tag name="KSO_WM_DIAGRAM_VIRTUALLY_FRAME" val="{&quot;height&quot;:158.00000000000017,&quot;left&quot;:548.05,&quot;top&quot;:150.4,&quot;width&quot;:367.45}"/>
</p:tagLst>
</file>

<file path=ppt/tags/tag85.xml><?xml version="1.0" encoding="utf-8"?>
<p:tagLst xmlns:p="http://schemas.openxmlformats.org/presentationml/2006/main">
  <p:tag name="KSO_WM_DIAGRAM_VIRTUALLY_FRAME" val="{&quot;height&quot;:158.00000000000017,&quot;left&quot;:548.05,&quot;top&quot;:150.4,&quot;width&quot;:367.45}"/>
</p:tagLst>
</file>

<file path=ppt/tags/tag86.xml><?xml version="1.0" encoding="utf-8"?>
<p:tagLst xmlns:p="http://schemas.openxmlformats.org/presentationml/2006/main">
  <p:tag name="KSO_WM_DIAGRAM_VIRTUALLY_FRAME" val="{&quot;height&quot;:158.00000000000017,&quot;left&quot;:548.05,&quot;top&quot;:150.4,&quot;width&quot;:367.45}"/>
</p:tagLst>
</file>

<file path=ppt/tags/tag87.xml><?xml version="1.0" encoding="utf-8"?>
<p:tagLst xmlns:p="http://schemas.openxmlformats.org/presentationml/2006/main">
  <p:tag name="KSO_WM_DIAGRAM_VIRTUALLY_FRAME" val="{&quot;height&quot;:158.00000000000017,&quot;left&quot;:548.05,&quot;top&quot;:150.4,&quot;width&quot;:367.45}"/>
</p:tagLst>
</file>

<file path=ppt/tags/tag88.xml><?xml version="1.0" encoding="utf-8"?>
<p:tagLst xmlns:p="http://schemas.openxmlformats.org/presentationml/2006/main">
  <p:tag name="KSO_WM_DIAGRAM_VIRTUALLY_FRAME" val="{&quot;height&quot;:158.00000000000017,&quot;left&quot;:548.05,&quot;top&quot;:150.4,&quot;width&quot;:367.45}"/>
</p:tagLst>
</file>

<file path=ppt/tags/tag89.xml><?xml version="1.0" encoding="utf-8"?>
<p:tagLst xmlns:p="http://schemas.openxmlformats.org/presentationml/2006/main">
  <p:tag name="KSO_WM_DIAGRAM_VIRTUALLY_FRAME" val="{&quot;height&quot;:158.00000000000017,&quot;left&quot;:548.05,&quot;top&quot;:150.4,&quot;width&quot;:367.45}"/>
</p:tagLst>
</file>

<file path=ppt/tags/tag90.xml><?xml version="1.0" encoding="utf-8"?>
<p:tagLst xmlns:p="http://schemas.openxmlformats.org/presentationml/2006/main">
  <p:tag name="KSO_WM_DIAGRAM_VIRTUALLY_FRAME" val="{&quot;height&quot;:150.55000000000018,&quot;left&quot;:548.05,&quot;top&quot;:150.6,&quot;width&quot;:367.45}"/>
</p:tagLst>
</file>

<file path=ppt/tags/tag91.xml><?xml version="1.0" encoding="utf-8"?>
<p:tagLst xmlns:p="http://schemas.openxmlformats.org/presentationml/2006/main">
  <p:tag name="KSO_WM_DIAGRAM_VIRTUALLY_FRAME" val="{&quot;height&quot;:158.00000000000017,&quot;left&quot;:548.05,&quot;top&quot;:150.4,&quot;width&quot;:367.45}"/>
</p:tagLst>
</file>

<file path=ppt/tags/tag92.xml><?xml version="1.0" encoding="utf-8"?>
<p:tagLst xmlns:p="http://schemas.openxmlformats.org/presentationml/2006/main">
  <p:tag name="TABLE_ENDDRAG_ORIGIN_RECT" val="344*43"/>
  <p:tag name="TABLE_ENDDRAG_RECT" val="91*459*344*43"/>
</p:tagLst>
</file>

<file path=ppt/tags/tag93.xml><?xml version="1.0" encoding="utf-8"?>
<p:tagLst xmlns:p="http://schemas.openxmlformats.org/presentationml/2006/main">
  <p:tag name="TABLE_ENDDRAG_ORIGIN_RECT" val="488*76"/>
  <p:tag name="TABLE_ENDDRAG_RECT" val="81*109*488*76"/>
</p:tagLst>
</file>

<file path=ppt/tags/tag94.xml><?xml version="1.0" encoding="utf-8"?>
<p:tagLst xmlns:p="http://schemas.openxmlformats.org/presentationml/2006/main">
  <p:tag name="TABLE_ENDDRAG_ORIGIN_RECT" val="342*127"/>
  <p:tag name="TABLE_ENDDRAG_RECT" val="61*189*342*127"/>
</p:tagLst>
</file>

<file path=ppt/tags/tag95.xml><?xml version="1.0" encoding="utf-8"?>
<p:tagLst xmlns:p="http://schemas.openxmlformats.org/presentationml/2006/main">
  <p:tag name="TABLE_ENDDRAG_ORIGIN_RECT" val="342*119"/>
  <p:tag name="TABLE_ENDDRAG_RECT" val="61*349*342*119"/>
</p:tagLst>
</file>

<file path=ppt/tags/tag96.xml><?xml version="1.0" encoding="utf-8"?>
<p:tagLst xmlns:p="http://schemas.openxmlformats.org/presentationml/2006/main">
  <p:tag name="TABLE_ENDDRAG_ORIGIN_RECT" val="318*64"/>
  <p:tag name="TABLE_ENDDRAG_RECT" val="83*113*318*64"/>
</p:tagLst>
</file>

<file path=ppt/tags/tag97.xml><?xml version="1.0" encoding="utf-8"?>
<p:tagLst xmlns:p="http://schemas.openxmlformats.org/presentationml/2006/main">
  <p:tag name="TABLE_ENDDRAG_ORIGIN_RECT" val="317*65"/>
  <p:tag name="TABLE_ENDDRAG_RECT" val="83*113*317*65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DIAGRAM_VIRTUALLY_FRAME" val="{&quot;height&quot;:100.95,&quot;left&quot;:31.65,&quot;top&quot;:12.8,&quot;width&quot;:892.6}"/>
</p:tagLst>
</file>

<file path=ppt/tags/tag100.xml><?xml version="1.0" encoding="utf-8"?>
<p:tagLst xmlns:p="http://schemas.openxmlformats.org/presentationml/2006/main">
  <p:tag name="TABLE_ENDDRAG_ORIGIN_RECT" val="838*381"/>
  <p:tag name="TABLE_ENDDRAG_RECT" val="50*98*838*381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TABLE_ENDDRAG_ORIGIN_RECT" val="344*43"/>
  <p:tag name="TABLE_ENDDRAG_RECT" val="91*459*344*43"/>
</p:tagLst>
</file>

<file path=ppt/tags/tag103.xml><?xml version="1.0" encoding="utf-8"?>
<p:tagLst xmlns:p="http://schemas.openxmlformats.org/presentationml/2006/main">
  <p:tag name="TABLE_ENDDRAG_ORIGIN_RECT" val="424*84"/>
  <p:tag name="TABLE_ENDDRAG_RECT" val="75*118*424*84"/>
</p:tagLst>
</file>

<file path=ppt/tags/tag104.xml><?xml version="1.0" encoding="utf-8"?>
<p:tagLst xmlns:p="http://schemas.openxmlformats.org/presentationml/2006/main">
  <p:tag name="KSO_WM_DIAGRAM_VIRTUALLY_FRAME" val="{&quot;height&quot;:225.55,&quot;left&quot;:54.95,&quot;top&quot;:283.5,&quot;width&quot;:815.5}"/>
</p:tagLst>
</file>

<file path=ppt/tags/tag105.xml><?xml version="1.0" encoding="utf-8"?>
<p:tagLst xmlns:p="http://schemas.openxmlformats.org/presentationml/2006/main">
  <p:tag name="resource_record_key" val="{&quot;70&quot;:[3327932,3327930]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 anchor="t" anchorCtr="0">
        <a:noAutofit/>
      </a:bodyPr>
      <a:lstStyle>
        <a:defPPr algn="l">
          <a:defRPr kumimoji="1" sz="1600" dirty="0" smtClean="0">
            <a:latin typeface="楷体" panose="02010609060101010101" pitchFamily="49" charset="-122"/>
            <a:ea typeface="楷体" panose="02010609060101010101" pitchFamily="49" charset="-122"/>
            <a:cs typeface="AvantGarde LT Book" panose="02000603030000020004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5872</Words>
  <Application>WPS 演示</Application>
  <PresentationFormat>宽屏</PresentationFormat>
  <Paragraphs>950</Paragraphs>
  <Slides>39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28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68" baseType="lpstr">
      <vt:lpstr>Arial</vt:lpstr>
      <vt:lpstr>宋体</vt:lpstr>
      <vt:lpstr>Wingdings</vt:lpstr>
      <vt:lpstr>楷体</vt:lpstr>
      <vt:lpstr>汉仪楷体KW</vt:lpstr>
      <vt:lpstr>AvantGarde LT Book</vt:lpstr>
      <vt:lpstr>苹方-简</vt:lpstr>
      <vt:lpstr>Source Han Sans CN Bold</vt:lpstr>
      <vt:lpstr>冬青黑体简体中文</vt:lpstr>
      <vt:lpstr>Source Han Sans CN Normal</vt:lpstr>
      <vt:lpstr>AvantGarde Book</vt:lpstr>
      <vt:lpstr>华文楷体</vt:lpstr>
      <vt:lpstr>冬青黑体简体中文 W6</vt:lpstr>
      <vt:lpstr>微软雅黑</vt:lpstr>
      <vt:lpstr>汉仪旗黑</vt:lpstr>
      <vt:lpstr>宋体</vt:lpstr>
      <vt:lpstr>Arial Unicode MS</vt:lpstr>
      <vt:lpstr>等线</vt:lpstr>
      <vt:lpstr>汉仪中等线KW</vt:lpstr>
      <vt:lpstr>STKaiti</vt:lpstr>
      <vt:lpstr>Wingdings</vt:lpstr>
      <vt:lpstr>Noto Sans SC</vt:lpstr>
      <vt:lpstr>Thonburi</vt:lpstr>
      <vt:lpstr>Calibri</vt:lpstr>
      <vt:lpstr>Helvetica Neue</vt:lpstr>
      <vt:lpstr>汉仪书宋二KW</vt:lpstr>
      <vt:lpstr>Noto Sans SC</vt:lpstr>
      <vt:lpstr>楷体</vt:lpstr>
      <vt:lpstr>Office 主题​​</vt:lpstr>
      <vt:lpstr>首借月会 -- 获客部分</vt:lpstr>
      <vt:lpstr>PowerPoint 演示文稿</vt:lpstr>
      <vt:lpstr>业务总览</vt:lpstr>
      <vt:lpstr>1月目标达成：CPS达成目标，质量提升，受免费量拖累大盘过件率离目标仍有差距</vt:lpstr>
      <vt:lpstr>2月目标设定：提质量，大盘安全过件率由7.9%提升至9.3%</vt:lpstr>
      <vt:lpstr>获客指标地图：由“转化环节视角”切换为“分渠道视角”，聚焦各渠道表现及核心问题</vt:lpstr>
      <vt:lpstr>获客规模指标：1-7评级首借交易 By客群</vt:lpstr>
      <vt:lpstr>获客规模指标：花费 By渠道</vt:lpstr>
      <vt:lpstr>获客效率指标：1-7评级CPS</vt:lpstr>
      <vt:lpstr>PowerPoint 演示文稿</vt:lpstr>
      <vt:lpstr>腾讯总览：质量成本达成良好；稳定质量，探索成本继续压降的可能性</vt:lpstr>
      <vt:lpstr>腾讯转化—请求及参竞</vt:lpstr>
      <vt:lpstr>腾讯转化—竞得率</vt:lpstr>
      <vt:lpstr>腾讯转化—曝光至授信</vt:lpstr>
      <vt:lpstr>抖音总览：规模不足、指标波动较大；短期适当放开排除、提出价方式提升规模</vt:lpstr>
      <vt:lpstr>抖音转化—请求及参竞</vt:lpstr>
      <vt:lpstr>腾讯转化—竞得率</vt:lpstr>
      <vt:lpstr>抖音转化—曝光至授信</vt:lpstr>
      <vt:lpstr>精准总览：质量提升显著风险表现有待观测，成本仍需压降</vt:lpstr>
      <vt:lpstr>精准转化-撞库至可营销</vt:lpstr>
      <vt:lpstr>精准转化-可营销至授信</vt:lpstr>
      <vt:lpstr>PowerPoint 演示文稿</vt:lpstr>
      <vt:lpstr>目录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四.RTAV9迭代—迭代前准备：框架优化</vt:lpstr>
      <vt:lpstr>四.RTAV9迭代—迭代前准备：模型能力提升显著</vt:lpstr>
      <vt:lpstr>四.RTAV9迭代—排除策略</vt:lpstr>
      <vt:lpstr>四.RTAV9迭代—出价策略</vt:lpstr>
      <vt:lpstr>四.RTAV9迭代—出价策略</vt:lpstr>
      <vt:lpstr>PowerPoint 演示文稿</vt:lpstr>
      <vt:lpstr>PowerPoint 演示文稿</vt:lpstr>
      <vt:lpstr>二.抖音RTA迭代—迭代前准备：模型能力的提升</vt:lpstr>
      <vt:lpstr>二.抖音RTA迭代—排除策略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贷前月会 -- 风险部分</dc:title>
  <dc:creator>Microsoft Office User</dc:creator>
  <cp:lastModifiedBy>XC-Young</cp:lastModifiedBy>
  <cp:revision>1046</cp:revision>
  <dcterms:created xsi:type="dcterms:W3CDTF">2026-02-03T06:49:37Z</dcterms:created>
  <dcterms:modified xsi:type="dcterms:W3CDTF">2026-02-03T06:49:37Z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2052-12.1.22553.22553</vt:lpwstr>
  </property>
  <property fmtid="{D5CDD505-2E9C-101B-9397-08002B2CF9AE}" pid="3" name="ICV">
    <vt:lpwstr>418B99DE701543BD42365A69515BDE84_43</vt:lpwstr>
  </property>
</Properties>
</file>