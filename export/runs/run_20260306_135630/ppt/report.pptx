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获客规模指标：1-7评级首借交易 By客群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2月1-7评级首借交易（24h口径）总额4.80亿元，环比1月减少1.6亿，下降25.1%；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各客群交易全线收缩，当月首登M0减少0.8亿（降21%）为主要拖累项，非初审降幅最大（降52%），API回流趋近于零。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自2025年9月高峰（13.3亿）以来已连续5个月下滑。</a:t>
            </a:r>
          </a:p>
        </p:txBody>
      </p:sp>
      <p:pic>
        <p:nvPicPr>
          <p:cNvPr id="5" name="Picture 4" descr="chart_trade_by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088000"/>
            <a:ext cx="11520000" cy="44299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获客规模指标：花费 By渠道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2月业务口径花费总额2603.4万元，环比1月减少1325.8万，变化33.7%；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主要变化：腾讯减少545.1万（降33%）。</a:t>
            </a:r>
          </a:p>
        </p:txBody>
      </p:sp>
      <p:pic>
        <p:nvPicPr>
          <p:cNvPr id="5" name="Picture 4" descr="chart_spend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088000"/>
            <a:ext cx="11520000" cy="44299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获客效率指标：1-7评级CPS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2月1-7全首借CPS为5.97%，环比下降0.65个百分点；1-7 T0CPS为14.62%，环比下降3.03个百分点。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当前CPS较2025年5月高点（9.37%）有所回落。</a:t>
            </a:r>
          </a:p>
        </p:txBody>
      </p:sp>
      <p:pic>
        <p:nvPicPr>
          <p:cNvPr id="5" name="Picture 4" descr="chart_cps_all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088000"/>
            <a:ext cx="11520000" cy="44243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获客质量指标：首登T0 1-3组过件率、1-7组平均授信额度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2月1-7 T0平均授信额度22859元，环比1月上升1391元。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1-3 T0过件率7.41%，环比下降0.50个百分点；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投放渠道过件率16.34%（环比0.28pp），免费渠道1.91%（环比0.25pp）。</a:t>
            </a:r>
          </a:p>
        </p:txBody>
      </p:sp>
      <p:pic>
        <p:nvPicPr>
          <p:cNvPr id="5" name="Picture 4" descr="chart_quality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088000"/>
            <a:ext cx="11520000" cy="44353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腾讯总览：质量成本达成良好;稳定质量,持续提升用户质量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腾讯总览: 质量成本达成良好;稳定质量,持续提升用户质量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数据表现: 成本由24.3%下降至18.8%,日耗下降14万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未来方向: 稳定质量,花费达标(50万日耗)下,通过扣回传、RTA尾部降价方式持续提升用户质量</a:t>
            </a:r>
          </a:p>
        </p:txBody>
      </p:sp>
      <p:pic>
        <p:nvPicPr>
          <p:cNvPr id="5" name="Picture 4" descr="chart_channel_overview_tencent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channel_overview_tencent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腾讯转化—请求及参竞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2月日请求量71.0亿,环比1月下降12.5亿(变化15.0%)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参竞率54.2%,环比下降13.2个百分点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近3个月请求量持续下降</a:t>
            </a:r>
          </a:p>
        </p:txBody>
      </p:sp>
      <p:pic>
        <p:nvPicPr>
          <p:cNvPr id="5" name="Picture 4" descr="chart_tencent_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088000"/>
            <a:ext cx="11520000" cy="44296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腾讯转化—竞得率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2月整体竞得率0.46%,环比1月上升0.10个百分点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近3个月竞得率持续上升</a:t>
            </a:r>
          </a:p>
        </p:txBody>
      </p:sp>
      <p:pic>
        <p:nvPicPr>
          <p:cNvPr id="5" name="Picture 4" descr="chart_tencent_win_rate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tencent_win_rate_grou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腾讯转化—曝光至授信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2月曝光-授信率1.61‰,环比1月下降0.34个千分点</a:t>
            </a:r>
          </a:p>
        </p:txBody>
      </p:sp>
      <p:pic>
        <p:nvPicPr>
          <p:cNvPr id="5" name="Picture 4" descr="chart_tencent_conversion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tencent_conversion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抖音总览：规模不足、指标波动较大;短期适当放开排除、提出价方式提升规模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抖音总览: 规模不足、指标波动较大;短期适当放开排除、提出价方式提升规模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数据表现: 成本由28.3%下降至24.5%,日耗下降3万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当前问题: 当前规模较低、成本及质量波动较大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未来方向: 短期适当放开排除、提升出价方式提升规模,同时优化用户质量</a:t>
            </a:r>
          </a:p>
        </p:txBody>
      </p:sp>
      <p:pic>
        <p:nvPicPr>
          <p:cNvPr id="5" name="Picture 4" descr="chart_channel_overview_douyi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channel_overview_douyin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抖音转化—请求及参竞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2月日请求量47.4亿,环比1月下降6.5亿(变化12.1%)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参竞率60.4%,环比下降3.2个百分点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近3个月请求量持续下降</a:t>
            </a:r>
          </a:p>
        </p:txBody>
      </p:sp>
      <p:pic>
        <p:nvPicPr>
          <p:cNvPr id="5" name="Picture 4" descr="chart_douyin_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088000"/>
            <a:ext cx="11520000" cy="44296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抖音转化—竞得率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2月整体竞得率0.28%,环比1月上升0.03个百分点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近3个月竞得率持续上升</a:t>
            </a:r>
          </a:p>
        </p:txBody>
      </p:sp>
      <p:pic>
        <p:nvPicPr>
          <p:cNvPr id="5" name="Picture 4" descr="chart_douyin_win_rate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douyin_win_rate_grou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抖音转化—曝光至授信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2月曝光-授信率2.46‰,环比1月下降0.42个千分点</a:t>
            </a:r>
          </a:p>
        </p:txBody>
      </p:sp>
      <p:pic>
        <p:nvPicPr>
          <p:cNvPr id="5" name="Picture 4" descr="chart_douyin_conversion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douyin_conversion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精准总览：质量提升显著,持续优化用户质量结构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精准营销总览: 质量提升显著,持续优化用户质量结构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数据表现: 成本由18.9%下降至13.2%,日耗下降11万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当前问题: 随质量提升,后端转化有待持续观测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未来方向: 通过增加排除继续提升质量到20%,优化用户质量结构</a:t>
            </a:r>
          </a:p>
        </p:txBody>
      </p:sp>
      <p:pic>
        <p:nvPicPr>
          <p:cNvPr id="5" name="Picture 4" descr="chart_channel_overview_jingzhu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channel_overview_jingzhun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精准转化-撞库至可营销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4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2月数据表现: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- 日均撞库量（亿）: 7.67 (环比下降2.64)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- 日均可营销量（亿）: 2.14 (环比上升0.68)</a:t>
            </a:r>
          </a:p>
          <a:p>
            <a:pPr>
              <a:lnSpc>
                <a:spcPts val="2400"/>
              </a:lnSpc>
              <a:spcAft>
                <a:spcPts val="400"/>
              </a:spcAft>
              <a:defRPr sz="1400">
                <a:solidFill>
                  <a:srgbClr val="333333"/>
                </a:solidFill>
                <a:latin typeface="STKaiti"/>
              </a:defRPr>
            </a:pPr>
            <a:r>
              <a:t>- 可营销率: 27.89% (环比上升13.74pp)</a:t>
            </a:r>
          </a:p>
        </p:txBody>
      </p:sp>
      <p:pic>
        <p:nvPicPr>
          <p:cNvPr id="5" name="Picture 4" descr="chart_jingzhun_attack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088000"/>
            <a:ext cx="11520000" cy="44366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08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STKaiti"/>
              </a:defRPr>
            </a:pPr>
            <a:r>
              <a:t>精准转化-可营销至授信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882000"/>
            <a:ext cx="1080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62000"/>
            <a:ext cx="104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数据表现: 2月千次可营销-授信率0.08%（环比1月下降0.13pp）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分环节转化: 首登-授信率22.82%（环比上升3.15pp）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当前问题: 千次可营销-授信率明显回落</a:t>
            </a:r>
          </a:p>
          <a:p>
            <a:pPr>
              <a:lnSpc>
                <a:spcPts val="1600"/>
              </a:lnSpc>
              <a:spcAft>
                <a:spcPts val="150"/>
              </a:spcAft>
              <a:defRPr sz="1100">
                <a:solidFill>
                  <a:srgbClr val="333333"/>
                </a:solidFill>
                <a:latin typeface="STKaiti"/>
              </a:defRPr>
            </a:pPr>
            <a:r>
              <a:t>结论: 优先修复可营销到授信链路，保障前端增长能转化为授信增量</a:t>
            </a:r>
          </a:p>
        </p:txBody>
      </p:sp>
      <p:pic>
        <p:nvPicPr>
          <p:cNvPr id="5" name="Picture 4" descr="chart_jingzhun_conversion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2412000"/>
            <a:ext cx="5616000" cy="3924000"/>
          </a:xfrm>
          <a:prstGeom prst="rect">
            <a:avLst/>
          </a:prstGeom>
        </p:spPr>
      </p:pic>
      <p:pic>
        <p:nvPicPr>
          <p:cNvPr id="6" name="Picture 5" descr="chart_jingzhun_conversion_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00" y="2412000"/>
            <a:ext cx="5616000" cy="39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